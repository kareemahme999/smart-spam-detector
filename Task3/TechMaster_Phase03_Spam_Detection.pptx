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518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Phase 03 of TechMaster Academy. Today we're kicking off ML Fundamentals and Optimization with a brand new hands-on project: an Optimized Spam Detection System. This is your first real Machine Learning build, so we'll move step by step, starting from the basics of how machines learn, all the way through training, evaluating, and improving a real classifier. By the end of this project you will have built a working model that can tell spam emails apart from genuine ones.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for today's session. We'll begin with the fundamentals of Machine Learning, then move through training, evaluation, and accuracy improvement using our spam detection example throughout. After that we'll cover the project itself: the client brief, requirements, structure, features, real-world context, the dataset you'll use, the expected output, and finally what you need to submit. Thirteen topics in total, all connected through one running example so the concepts stick together instead of feeling scattered.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is how we teach computers to find patterns in data instead of following hard-coded rules. Look at this flow: we start with raw emails, clean and preprocess the text, extract useful features, train a model on that data, use it to predict spam or ham, evaluate how well it performed, optimize it, and land on a final model. Every project we build in this phase follows this exact pipeline. Keep this diagram in mind, because every later slide zooms into one of these steps using our spam detection example.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technical pillars behind this project. First, model training and classification, where we teach a supervised model to tell spam from ham. Second, model evaluation and feature tuning, where we measure performance and refine the input features. Third, accuracy improvement and comparison, where we tune hyperparameters and compare models to squeeze out better results. And finally, best practices: keeping the dataset clean, the classes balanced, and avoiding overfitting so the model generalizes well. We'll revisit each of these in detail over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training starts by separating our data into features, the input signals like word frequency or message length, and labels, the correct answer of spam or ham. We feed the training dataset into the model so it can learn patterns that separate the two classes. That's what classification means here: sorting each email into one of two categories. Once trained, the model has learned these patterns well enough to predict the label of emails it has never seen before. This workflow, from raw emails to a spam or ham prediction, is the backbone of our entire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a model isn't enough — we need to measure how good it really is. We start with a train/test split so we evaluate on emails the model has never seen. From there we look at accuracy, precision, recall, and F1 score, each telling a different part of the story about false positives and false negatives. On the feature side, feature selection and feature engineering help us choose and shape the inputs that matter most. The goal is always the same: a model that generalizes well to unseen emails, not one that just memorizes the training 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have a working model, the next step is making it better. We compare multiple models side by side to see which algorithm handles spam detection best. Hyperparameter tuning lets us fine-tune each model's settings, while cross validation gives us a more reliable estimate of performance by testing across multiple data splits. We also actively work to reduce overfitting so the model doesn't just memorize training examples. The end goal isn't chasing the highest possible accuracy number, it's building a model that generalizes well to new, unseen emails.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brings together everything we've discussed so far. The goal is simple to state but rich in practice: build an optimized Machine Learning model that automatically classifies emails as spam or ham. We'll use Python with Pandas, NumPy, Scikit-Learn, and Matplotlib, working from a CSV dataset. More importantly, this project builds the reasoning and structuring skills that every later phase of the program depends on, so treat it as a foundation, not just a one-off assignment.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good project starts with a clear brief. Here, our client is an Email Service Provider, the project is a Spam Detection System, and the goal is to automatically classify incoming emails as spam or ham with high accuracy, ultimately improving the user's inbox experience. This is exactly the kind of scenario Machine Learning engineers handle in the real world: a business problem translated into a classification task. Keep this framing in mind as we move into the technical requirements next.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exactly what's expected in this project, split into two parts. Core Features cover the full pipeline: loading and exploring the dataset, cleaning the text, preprocessing, extracting features, training multiple models, evaluating performance, improving accuracy, and saving the best model. Deliverables are what you actually submit: the Python source code, the saved model, an evaluation report, a GitHub repository, and a README file. Treat this slide as your checklist while you work through the project.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recommended workflow for the whole project, laid out step by step. Start with the raw dataset, run exploratory data analysis, clean the text, preprocess it, and extract features — that's the top row. Then the flow continues downward into training multiple models, evaluating them, improving accuracy, and finally arriving at your final model, shown in purple. Following this order keeps your project organized and makes it much easier to debug when something doesn't look right.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finished system will actually do. It predicts whether an email is spam, classifies incoming messages automatically, and reports model accuracy so you can see how well it performs. It also shows a confusion matrix to break down correct and incorrect predictions, compares multiple models against each other, and produces a performance report summarizing everything. Together these six features turn a trained model into a usable, understandable spam detection system.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detection isn't just an academic exercise, it's running behind the scenes at massive scale. Gmail, Microsoft Outlook, and Yahoo Mail all rely on Machine Learning models like the one you're building. Corporate email systems use it to protect entire organizations, cybersecurity teams depend on it to catch phishing attempts, and AI email filtering keeps improving as more data comes in. Ultimately, this kind of system protects users from unwanted emails, phishing attacks, and malicious content every single 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project we'll use the SMS Spam Collection Dataset, sourced from the UCI Machine Learning Repository, with a Kaggle mirror also available if that's easier to access. It's a simple but effective dataset with just two main columns: the label, telling us spam or ham, and the message, the raw text content itself. You can scan the QR code or use the link on screen to open it directly. Take time to explore the dataset yourself before writing any training code — understanding your data always comes first.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mockup of what your final system might look like, styled as a simple Streamlit app. A student types or pastes a message into the input box and clicks Predict. The app then returns a clear result — here it's flagged as spam — along with the spam and ham probabilities as easy-to-read bars. Below that, the dashboard shows a confusion matrix, an overall accuracy score, and a model comparison chart highlighting the best-performing model. This is the level of polish we're aiming for in your final submission.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close out today's session, here's exactly what you need to submit. First, the complete Python project, meaning all your source code, notebooks, and scripts. Second, the saved Machine Learning model file so it can be reloaded and tested independently. Third, upload everything to a GitHub repository, whether public or shared with the instructors. And finally, add a README describing your goal, dataset, and approach, along with screenshots showing your app in action. Follow this checklist and your submission will be complete and easy to review.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wraps up our Phase 03 kickoff. You now have the full picture: what Machine Learning is, how to train and evaluate a classifier, how to improve it, and exactly what your Optimized Spam Detection System project needs to include. Take your time working through the pipeline we walked through today, lean on the requirements checklist, and don't hesitate to reach out if you get stuck. Good luck, and happy learning — let's train smarter models and build better AI together.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1F44"/>
        </a:solidFill>
        <a:effectLst/>
      </p:bgPr>
    </p:bg>
    <p:spTree>
      <p:nvGrpSpPr>
        <p:cNvPr id="1" name=""/>
        <p:cNvGrpSpPr/>
        <p:nvPr/>
      </p:nvGrpSpPr>
      <p:grpSpPr>
        <a:xfrm>
          <a:off x="0" y="0"/>
          <a:ext cx="0" cy="0"/>
          <a:chOff x="0" y="0"/>
          <a:chExt cx="0" cy="0"/>
        </a:xfrm>
      </p:grpSpPr>
      <p:sp>
        <p:nvSpPr>
          <p:cNvPr id="2" name="Text 0"/>
          <p:cNvSpPr/>
          <p:nvPr/>
        </p:nvSpPr>
        <p:spPr>
          <a:xfrm>
            <a:off x="640080" y="822960"/>
            <a:ext cx="5486400" cy="320040"/>
          </a:xfrm>
          <a:prstGeom prst="rect">
            <a:avLst/>
          </a:prstGeom>
          <a:noFill/>
          <a:ln/>
        </p:spPr>
        <p:txBody>
          <a:bodyPr wrap="square" lIns="0" tIns="0" rIns="0" bIns="0" rtlCol="0" anchor="ctr"/>
          <a:lstStyle/>
          <a:p>
            <a:pPr marL="0" indent="0">
              <a:buNone/>
            </a:pPr>
            <a:r>
              <a:rPr lang="en-US" sz="1300" b="1" kern="0" spc="200" dirty="0">
                <a:solidFill>
                  <a:srgbClr val="F0A030"/>
                </a:solidFill>
                <a:latin typeface="Poppins" pitchFamily="34" charset="0"/>
                <a:ea typeface="Poppins" pitchFamily="34" charset="-122"/>
                <a:cs typeface="Poppins" pitchFamily="34" charset="-120"/>
              </a:rPr>
              <a:t>TECHMASTER ACADEMY</a:t>
            </a:r>
            <a:endParaRPr lang="en-US" sz="1300" dirty="0"/>
          </a:p>
        </p:txBody>
      </p:sp>
      <p:sp>
        <p:nvSpPr>
          <p:cNvPr id="3" name="Shape 1"/>
          <p:cNvSpPr/>
          <p:nvPr/>
        </p:nvSpPr>
        <p:spPr>
          <a:xfrm>
            <a:off x="640080" y="1234440"/>
            <a:ext cx="1554480" cy="457200"/>
          </a:xfrm>
          <a:prstGeom prst="roundRect">
            <a:avLst>
              <a:gd name="adj" fmla="val 20000"/>
            </a:avLst>
          </a:prstGeom>
          <a:solidFill>
            <a:srgbClr val="6C5CE7"/>
          </a:solidFill>
          <a:ln/>
        </p:spPr>
        <p:txBody>
          <a:bodyPr/>
          <a:lstStyle/>
          <a:p>
            <a:endParaRPr lang="en-US"/>
          </a:p>
        </p:txBody>
      </p:sp>
      <p:sp>
        <p:nvSpPr>
          <p:cNvPr id="4" name="Text 2"/>
          <p:cNvSpPr/>
          <p:nvPr/>
        </p:nvSpPr>
        <p:spPr>
          <a:xfrm>
            <a:off x="640080" y="1234440"/>
            <a:ext cx="15544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PHASE 03</a:t>
            </a:r>
            <a:endParaRPr lang="en-US" sz="1400" dirty="0"/>
          </a:p>
        </p:txBody>
      </p:sp>
      <p:sp>
        <p:nvSpPr>
          <p:cNvPr id="5" name="Text 3"/>
          <p:cNvSpPr/>
          <p:nvPr/>
        </p:nvSpPr>
        <p:spPr>
          <a:xfrm>
            <a:off x="621792" y="1965960"/>
            <a:ext cx="8686800" cy="1737360"/>
          </a:xfrm>
          <a:prstGeom prst="rect">
            <a:avLst/>
          </a:prstGeom>
          <a:noFill/>
          <a:ln/>
        </p:spPr>
        <p:txBody>
          <a:bodyPr wrap="square" lIns="0" tIns="0" rIns="0" bIns="0" rtlCol="0" anchor="t"/>
          <a:lstStyle/>
          <a:p>
            <a:pPr marL="0" indent="0">
              <a:lnSpc>
                <a:spcPts val="5200"/>
              </a:lnSpc>
              <a:buNone/>
            </a:pPr>
            <a:r>
              <a:rPr lang="en-US" sz="4800" b="1" dirty="0">
                <a:solidFill>
                  <a:srgbClr val="FFFFFF"/>
                </a:solidFill>
                <a:latin typeface="Lora" pitchFamily="34" charset="0"/>
                <a:ea typeface="Lora" pitchFamily="34" charset="-122"/>
                <a:cs typeface="Lora" pitchFamily="34" charset="-120"/>
              </a:rPr>
              <a:t>ML Fundamentals &amp;
</a:t>
            </a:r>
            <a:r>
              <a:rPr lang="en-US" sz="4800" b="1" dirty="0">
                <a:solidFill>
                  <a:srgbClr val="F0A030"/>
                </a:solidFill>
                <a:latin typeface="Lora" pitchFamily="34" charset="0"/>
                <a:ea typeface="Lora" pitchFamily="34" charset="-122"/>
                <a:cs typeface="Lora" pitchFamily="34" charset="-120"/>
              </a:rPr>
              <a:t>Optimization</a:t>
            </a:r>
            <a:endParaRPr lang="en-US" sz="4800" dirty="0"/>
          </a:p>
        </p:txBody>
      </p:sp>
      <p:sp>
        <p:nvSpPr>
          <p:cNvPr id="6" name="Text 4"/>
          <p:cNvSpPr/>
          <p:nvPr/>
        </p:nvSpPr>
        <p:spPr>
          <a:xfrm>
            <a:off x="640080" y="3794760"/>
            <a:ext cx="6400800" cy="365760"/>
          </a:xfrm>
          <a:prstGeom prst="rect">
            <a:avLst/>
          </a:prstGeom>
          <a:noFill/>
          <a:ln/>
        </p:spPr>
        <p:txBody>
          <a:bodyPr wrap="square" lIns="0" tIns="0" rIns="0" bIns="0" rtlCol="0" anchor="ctr"/>
          <a:lstStyle/>
          <a:p>
            <a:pPr marL="0" indent="0">
              <a:buNone/>
            </a:pPr>
            <a:r>
              <a:rPr lang="en-US" sz="1600" dirty="0">
                <a:solidFill>
                  <a:srgbClr val="C9C6E6"/>
                </a:solidFill>
                <a:latin typeface="Poppins" pitchFamily="34" charset="0"/>
                <a:ea typeface="Poppins" pitchFamily="34" charset="-122"/>
                <a:cs typeface="Poppins" pitchFamily="34" charset="-120"/>
              </a:rPr>
              <a:t>3RD Session — Project 03</a:t>
            </a:r>
            <a:endParaRPr lang="en-US" sz="1600" dirty="0"/>
          </a:p>
        </p:txBody>
      </p:sp>
      <p:sp>
        <p:nvSpPr>
          <p:cNvPr id="7" name="Shape 5"/>
          <p:cNvSpPr/>
          <p:nvPr/>
        </p:nvSpPr>
        <p:spPr>
          <a:xfrm>
            <a:off x="640080" y="4251960"/>
            <a:ext cx="5120640" cy="960120"/>
          </a:xfrm>
          <a:prstGeom prst="roundRect">
            <a:avLst>
              <a:gd name="adj" fmla="val 9524"/>
            </a:avLst>
          </a:prstGeom>
          <a:solidFill>
            <a:srgbClr val="2E2A57"/>
          </a:solidFill>
          <a:ln/>
        </p:spPr>
        <p:txBody>
          <a:bodyPr/>
          <a:lstStyle/>
          <a:p>
            <a:endParaRPr lang="en-US"/>
          </a:p>
        </p:txBody>
      </p:sp>
      <p:sp>
        <p:nvSpPr>
          <p:cNvPr id="8" name="Shape 6"/>
          <p:cNvSpPr/>
          <p:nvPr/>
        </p:nvSpPr>
        <p:spPr>
          <a:xfrm>
            <a:off x="822960" y="4434840"/>
            <a:ext cx="457200" cy="457200"/>
          </a:xfrm>
          <a:prstGeom prst="roundRect">
            <a:avLst>
              <a:gd name="adj" fmla="val 24000"/>
            </a:avLst>
          </a:prstGeom>
          <a:solidFill>
            <a:srgbClr val="6C5CE7"/>
          </a:solidFill>
          <a:ln/>
        </p:spPr>
        <p:txBody>
          <a:bodyPr/>
          <a:lstStyle/>
          <a:p>
            <a:endParaRPr lang="en-US"/>
          </a:p>
        </p:txBody>
      </p:sp>
      <p:pic>
        <p:nvPicPr>
          <p:cNvPr id="9" name="Image 0" descr="/home/claude/work/icons/MailWarning_white.png"/>
          <p:cNvPicPr>
            <a:picLocks noChangeAspect="1"/>
          </p:cNvPicPr>
          <p:nvPr/>
        </p:nvPicPr>
        <p:blipFill>
          <a:blip r:embed="rId3"/>
          <a:stretch>
            <a:fillRect/>
          </a:stretch>
        </p:blipFill>
        <p:spPr>
          <a:xfrm>
            <a:off x="896112" y="4507992"/>
            <a:ext cx="310896" cy="310896"/>
          </a:xfrm>
          <a:prstGeom prst="rect">
            <a:avLst/>
          </a:prstGeom>
        </p:spPr>
      </p:pic>
      <p:sp>
        <p:nvSpPr>
          <p:cNvPr id="10" name="Text 7"/>
          <p:cNvSpPr/>
          <p:nvPr/>
        </p:nvSpPr>
        <p:spPr>
          <a:xfrm>
            <a:off x="1463040" y="4416552"/>
            <a:ext cx="4023360" cy="274320"/>
          </a:xfrm>
          <a:prstGeom prst="rect">
            <a:avLst/>
          </a:prstGeom>
          <a:noFill/>
          <a:ln/>
        </p:spPr>
        <p:txBody>
          <a:bodyPr wrap="square" lIns="0" tIns="0" rIns="0" bIns="0" rtlCol="0" anchor="ctr"/>
          <a:lstStyle/>
          <a:p>
            <a:pPr marL="0" indent="0">
              <a:buNone/>
            </a:pPr>
            <a:r>
              <a:rPr lang="en-US" sz="1100" b="1" dirty="0">
                <a:solidFill>
                  <a:srgbClr val="F0A030"/>
                </a:solidFill>
                <a:latin typeface="Poppins" pitchFamily="34" charset="0"/>
                <a:ea typeface="Poppins" pitchFamily="34" charset="-122"/>
                <a:cs typeface="Poppins" pitchFamily="34" charset="-120"/>
              </a:rPr>
              <a:t>PROJECT 03</a:t>
            </a:r>
            <a:endParaRPr lang="en-US" sz="1100" dirty="0"/>
          </a:p>
        </p:txBody>
      </p:sp>
      <p:sp>
        <p:nvSpPr>
          <p:cNvPr id="11" name="Text 8"/>
          <p:cNvSpPr/>
          <p:nvPr/>
        </p:nvSpPr>
        <p:spPr>
          <a:xfrm>
            <a:off x="1463040" y="4663440"/>
            <a:ext cx="4023360" cy="457200"/>
          </a:xfrm>
          <a:prstGeom prst="rect">
            <a:avLst/>
          </a:prstGeom>
          <a:noFill/>
          <a:ln/>
        </p:spPr>
        <p:txBody>
          <a:bodyPr wrap="square" lIns="0" tIns="0" rIns="0" bIns="0" rtlCol="0" anchor="ctr"/>
          <a:lstStyle/>
          <a:p>
            <a:pPr marL="0" indent="0">
              <a:buNone/>
            </a:pPr>
            <a:r>
              <a:rPr lang="en-US" sz="1900" b="1" dirty="0">
                <a:solidFill>
                  <a:srgbClr val="FFFFFF"/>
                </a:solidFill>
                <a:latin typeface="Lora" pitchFamily="34" charset="0"/>
                <a:ea typeface="Lora" pitchFamily="34" charset="-122"/>
                <a:cs typeface="Lora" pitchFamily="34" charset="-120"/>
              </a:rPr>
              <a:t>Optimized Spam Detection System</a:t>
            </a:r>
            <a:endParaRPr lang="en-US" sz="1900" dirty="0"/>
          </a:p>
        </p:txBody>
      </p:sp>
      <p:sp>
        <p:nvSpPr>
          <p:cNvPr id="12" name="Text 9"/>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B9B6D6"/>
                </a:solidFill>
                <a:latin typeface="Poppins" pitchFamily="34" charset="0"/>
                <a:ea typeface="Poppins" pitchFamily="34" charset="-122"/>
                <a:cs typeface="Poppins" pitchFamily="34" charset="-120"/>
              </a:rPr>
              <a:t>TechMaster Academy  ·  Phase 03 / Project 03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ListChecks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84048"/>
            <a:ext cx="86868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Session Agenda</a:t>
            </a:r>
            <a:endParaRPr lang="en-US" sz="2600" dirty="0"/>
          </a:p>
        </p:txBody>
      </p:sp>
      <p:sp>
        <p:nvSpPr>
          <p:cNvPr id="5" name="Text 2"/>
          <p:cNvSpPr/>
          <p:nvPr/>
        </p:nvSpPr>
        <p:spPr>
          <a:xfrm>
            <a:off x="1188720" y="841248"/>
            <a:ext cx="86868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What we'll cover in today's kickoff session</a:t>
            </a:r>
            <a:endParaRPr lang="en-US" sz="1300" dirty="0"/>
          </a:p>
        </p:txBody>
      </p:sp>
      <p:sp>
        <p:nvSpPr>
          <p:cNvPr id="6" name="Shape 3"/>
          <p:cNvSpPr/>
          <p:nvPr/>
        </p:nvSpPr>
        <p:spPr>
          <a:xfrm>
            <a:off x="457200" y="1371600"/>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7" name="Text 4"/>
          <p:cNvSpPr/>
          <p:nvPr/>
        </p:nvSpPr>
        <p:spPr>
          <a:xfrm>
            <a:off x="594360" y="1371600"/>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01</a:t>
            </a:r>
            <a:endParaRPr lang="en-US" sz="2000" dirty="0"/>
          </a:p>
        </p:txBody>
      </p:sp>
      <p:sp>
        <p:nvSpPr>
          <p:cNvPr id="8" name="Text 5"/>
          <p:cNvSpPr/>
          <p:nvPr/>
        </p:nvSpPr>
        <p:spPr>
          <a:xfrm>
            <a:off x="1325880" y="1426464"/>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What is Machine Learning?</a:t>
            </a:r>
            <a:endParaRPr lang="en-US" sz="1250" dirty="0"/>
          </a:p>
        </p:txBody>
      </p:sp>
      <p:sp>
        <p:nvSpPr>
          <p:cNvPr id="9" name="Text 6"/>
          <p:cNvSpPr/>
          <p:nvPr/>
        </p:nvSpPr>
        <p:spPr>
          <a:xfrm>
            <a:off x="1325880" y="1682496"/>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Teaching computers to learn from data</a:t>
            </a:r>
            <a:endParaRPr lang="en-US" sz="950" dirty="0"/>
          </a:p>
        </p:txBody>
      </p:sp>
      <p:sp>
        <p:nvSpPr>
          <p:cNvPr id="10" name="Shape 7"/>
          <p:cNvSpPr/>
          <p:nvPr/>
        </p:nvSpPr>
        <p:spPr>
          <a:xfrm>
            <a:off x="457200" y="2029968"/>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1" name="Text 8"/>
          <p:cNvSpPr/>
          <p:nvPr/>
        </p:nvSpPr>
        <p:spPr>
          <a:xfrm>
            <a:off x="594360" y="2029968"/>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02</a:t>
            </a:r>
            <a:endParaRPr lang="en-US" sz="2000" dirty="0"/>
          </a:p>
        </p:txBody>
      </p:sp>
      <p:sp>
        <p:nvSpPr>
          <p:cNvPr id="12" name="Text 9"/>
          <p:cNvSpPr/>
          <p:nvPr/>
        </p:nvSpPr>
        <p:spPr>
          <a:xfrm>
            <a:off x="1325880" y="2084832"/>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Model Training &amp; Classification</a:t>
            </a:r>
            <a:endParaRPr lang="en-US" sz="1250" dirty="0"/>
          </a:p>
        </p:txBody>
      </p:sp>
      <p:sp>
        <p:nvSpPr>
          <p:cNvPr id="13" name="Text 10"/>
          <p:cNvSpPr/>
          <p:nvPr/>
        </p:nvSpPr>
        <p:spPr>
          <a:xfrm>
            <a:off x="1325880" y="2340864"/>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Building the spam classifier</a:t>
            </a:r>
            <a:endParaRPr lang="en-US" sz="950" dirty="0"/>
          </a:p>
        </p:txBody>
      </p:sp>
      <p:sp>
        <p:nvSpPr>
          <p:cNvPr id="14" name="Shape 11"/>
          <p:cNvSpPr/>
          <p:nvPr/>
        </p:nvSpPr>
        <p:spPr>
          <a:xfrm>
            <a:off x="457200" y="2688336"/>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5" name="Text 12"/>
          <p:cNvSpPr/>
          <p:nvPr/>
        </p:nvSpPr>
        <p:spPr>
          <a:xfrm>
            <a:off x="594360" y="2688336"/>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03</a:t>
            </a:r>
            <a:endParaRPr lang="en-US" sz="2000" dirty="0"/>
          </a:p>
        </p:txBody>
      </p:sp>
      <p:sp>
        <p:nvSpPr>
          <p:cNvPr id="16" name="Text 13"/>
          <p:cNvSpPr/>
          <p:nvPr/>
        </p:nvSpPr>
        <p:spPr>
          <a:xfrm>
            <a:off x="1325880" y="2743200"/>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Model Evaluation &amp; Feature Tuning</a:t>
            </a:r>
            <a:endParaRPr lang="en-US" sz="1250" dirty="0"/>
          </a:p>
        </p:txBody>
      </p:sp>
      <p:sp>
        <p:nvSpPr>
          <p:cNvPr id="17" name="Text 14"/>
          <p:cNvSpPr/>
          <p:nvPr/>
        </p:nvSpPr>
        <p:spPr>
          <a:xfrm>
            <a:off x="1325880" y="2999232"/>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Measuring how good the model is</a:t>
            </a:r>
            <a:endParaRPr lang="en-US" sz="950" dirty="0"/>
          </a:p>
        </p:txBody>
      </p:sp>
      <p:sp>
        <p:nvSpPr>
          <p:cNvPr id="18" name="Shape 15"/>
          <p:cNvSpPr/>
          <p:nvPr/>
        </p:nvSpPr>
        <p:spPr>
          <a:xfrm>
            <a:off x="457200" y="3346704"/>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9" name="Text 16"/>
          <p:cNvSpPr/>
          <p:nvPr/>
        </p:nvSpPr>
        <p:spPr>
          <a:xfrm>
            <a:off x="594360" y="3346704"/>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04</a:t>
            </a:r>
            <a:endParaRPr lang="en-US" sz="2000" dirty="0"/>
          </a:p>
        </p:txBody>
      </p:sp>
      <p:sp>
        <p:nvSpPr>
          <p:cNvPr id="20" name="Text 17"/>
          <p:cNvSpPr/>
          <p:nvPr/>
        </p:nvSpPr>
        <p:spPr>
          <a:xfrm>
            <a:off x="1325880" y="3401568"/>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Accuracy Improvement &amp; Comparison</a:t>
            </a:r>
            <a:endParaRPr lang="en-US" sz="1250" dirty="0"/>
          </a:p>
        </p:txBody>
      </p:sp>
      <p:sp>
        <p:nvSpPr>
          <p:cNvPr id="21" name="Text 18"/>
          <p:cNvSpPr/>
          <p:nvPr/>
        </p:nvSpPr>
        <p:spPr>
          <a:xfrm>
            <a:off x="1325880" y="3657600"/>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Building a better ML model</a:t>
            </a:r>
            <a:endParaRPr lang="en-US" sz="950" dirty="0"/>
          </a:p>
        </p:txBody>
      </p:sp>
      <p:sp>
        <p:nvSpPr>
          <p:cNvPr id="22" name="Shape 19"/>
          <p:cNvSpPr/>
          <p:nvPr/>
        </p:nvSpPr>
        <p:spPr>
          <a:xfrm>
            <a:off x="457200" y="4005072"/>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23" name="Text 20"/>
          <p:cNvSpPr/>
          <p:nvPr/>
        </p:nvSpPr>
        <p:spPr>
          <a:xfrm>
            <a:off x="594360" y="4005072"/>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05</a:t>
            </a:r>
            <a:endParaRPr lang="en-US" sz="2000" dirty="0"/>
          </a:p>
        </p:txBody>
      </p:sp>
      <p:sp>
        <p:nvSpPr>
          <p:cNvPr id="24" name="Text 21"/>
          <p:cNvSpPr/>
          <p:nvPr/>
        </p:nvSpPr>
        <p:spPr>
          <a:xfrm>
            <a:off x="1325880" y="4059936"/>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Project Overview</a:t>
            </a:r>
            <a:endParaRPr lang="en-US" sz="1250" dirty="0"/>
          </a:p>
        </p:txBody>
      </p:sp>
      <p:sp>
        <p:nvSpPr>
          <p:cNvPr id="25" name="Text 22"/>
          <p:cNvSpPr/>
          <p:nvPr/>
        </p:nvSpPr>
        <p:spPr>
          <a:xfrm>
            <a:off x="1325880" y="4315968"/>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What we're building and why</a:t>
            </a:r>
            <a:endParaRPr lang="en-US" sz="950" dirty="0"/>
          </a:p>
        </p:txBody>
      </p:sp>
      <p:sp>
        <p:nvSpPr>
          <p:cNvPr id="26" name="Shape 23"/>
          <p:cNvSpPr/>
          <p:nvPr/>
        </p:nvSpPr>
        <p:spPr>
          <a:xfrm>
            <a:off x="457200" y="4663440"/>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27" name="Text 24"/>
          <p:cNvSpPr/>
          <p:nvPr/>
        </p:nvSpPr>
        <p:spPr>
          <a:xfrm>
            <a:off x="594360" y="4663440"/>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06</a:t>
            </a:r>
            <a:endParaRPr lang="en-US" sz="2000" dirty="0"/>
          </a:p>
        </p:txBody>
      </p:sp>
      <p:sp>
        <p:nvSpPr>
          <p:cNvPr id="28" name="Text 25"/>
          <p:cNvSpPr/>
          <p:nvPr/>
        </p:nvSpPr>
        <p:spPr>
          <a:xfrm>
            <a:off x="1325880" y="4718304"/>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Client Brief</a:t>
            </a:r>
            <a:endParaRPr lang="en-US" sz="1250" dirty="0"/>
          </a:p>
        </p:txBody>
      </p:sp>
      <p:sp>
        <p:nvSpPr>
          <p:cNvPr id="29" name="Text 26"/>
          <p:cNvSpPr/>
          <p:nvPr/>
        </p:nvSpPr>
        <p:spPr>
          <a:xfrm>
            <a:off x="1325880" y="4974336"/>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The business scenario</a:t>
            </a:r>
            <a:endParaRPr lang="en-US" sz="950" dirty="0"/>
          </a:p>
        </p:txBody>
      </p:sp>
      <p:sp>
        <p:nvSpPr>
          <p:cNvPr id="30" name="Shape 27"/>
          <p:cNvSpPr/>
          <p:nvPr/>
        </p:nvSpPr>
        <p:spPr>
          <a:xfrm>
            <a:off x="457200" y="5321808"/>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31" name="Text 28"/>
          <p:cNvSpPr/>
          <p:nvPr/>
        </p:nvSpPr>
        <p:spPr>
          <a:xfrm>
            <a:off x="594360" y="5321808"/>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07</a:t>
            </a:r>
            <a:endParaRPr lang="en-US" sz="2000" dirty="0"/>
          </a:p>
        </p:txBody>
      </p:sp>
      <p:sp>
        <p:nvSpPr>
          <p:cNvPr id="32" name="Text 29"/>
          <p:cNvSpPr/>
          <p:nvPr/>
        </p:nvSpPr>
        <p:spPr>
          <a:xfrm>
            <a:off x="1325880" y="5376672"/>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Project Requirements</a:t>
            </a:r>
            <a:endParaRPr lang="en-US" sz="1250" dirty="0"/>
          </a:p>
        </p:txBody>
      </p:sp>
      <p:sp>
        <p:nvSpPr>
          <p:cNvPr id="33" name="Text 30"/>
          <p:cNvSpPr/>
          <p:nvPr/>
        </p:nvSpPr>
        <p:spPr>
          <a:xfrm>
            <a:off x="1325880" y="5632704"/>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What students must build</a:t>
            </a:r>
            <a:endParaRPr lang="en-US" sz="950" dirty="0"/>
          </a:p>
        </p:txBody>
      </p:sp>
      <p:sp>
        <p:nvSpPr>
          <p:cNvPr id="34" name="Shape 31"/>
          <p:cNvSpPr/>
          <p:nvPr/>
        </p:nvSpPr>
        <p:spPr>
          <a:xfrm>
            <a:off x="6035040" y="1371600"/>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35" name="Text 32"/>
          <p:cNvSpPr/>
          <p:nvPr/>
        </p:nvSpPr>
        <p:spPr>
          <a:xfrm>
            <a:off x="6172200" y="1371600"/>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08</a:t>
            </a:r>
            <a:endParaRPr lang="en-US" sz="2000" dirty="0"/>
          </a:p>
        </p:txBody>
      </p:sp>
      <p:sp>
        <p:nvSpPr>
          <p:cNvPr id="36" name="Text 33"/>
          <p:cNvSpPr/>
          <p:nvPr/>
        </p:nvSpPr>
        <p:spPr>
          <a:xfrm>
            <a:off x="6903720" y="1426464"/>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Project Structure</a:t>
            </a:r>
            <a:endParaRPr lang="en-US" sz="1250" dirty="0"/>
          </a:p>
        </p:txBody>
      </p:sp>
      <p:sp>
        <p:nvSpPr>
          <p:cNvPr id="37" name="Text 34"/>
          <p:cNvSpPr/>
          <p:nvPr/>
        </p:nvSpPr>
        <p:spPr>
          <a:xfrm>
            <a:off x="6903720" y="1682496"/>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Recommended project workflow</a:t>
            </a:r>
            <a:endParaRPr lang="en-US" sz="950" dirty="0"/>
          </a:p>
        </p:txBody>
      </p:sp>
      <p:sp>
        <p:nvSpPr>
          <p:cNvPr id="38" name="Shape 35"/>
          <p:cNvSpPr/>
          <p:nvPr/>
        </p:nvSpPr>
        <p:spPr>
          <a:xfrm>
            <a:off x="6035040" y="2029968"/>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39" name="Text 36"/>
          <p:cNvSpPr/>
          <p:nvPr/>
        </p:nvSpPr>
        <p:spPr>
          <a:xfrm>
            <a:off x="6172200" y="2029968"/>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09</a:t>
            </a:r>
            <a:endParaRPr lang="en-US" sz="2000" dirty="0"/>
          </a:p>
        </p:txBody>
      </p:sp>
      <p:sp>
        <p:nvSpPr>
          <p:cNvPr id="40" name="Text 37"/>
          <p:cNvSpPr/>
          <p:nvPr/>
        </p:nvSpPr>
        <p:spPr>
          <a:xfrm>
            <a:off x="6903720" y="2084832"/>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System Features</a:t>
            </a:r>
            <a:endParaRPr lang="en-US" sz="1250" dirty="0"/>
          </a:p>
        </p:txBody>
      </p:sp>
      <p:sp>
        <p:nvSpPr>
          <p:cNvPr id="41" name="Text 38"/>
          <p:cNvSpPr/>
          <p:nvPr/>
        </p:nvSpPr>
        <p:spPr>
          <a:xfrm>
            <a:off x="6903720" y="2340864"/>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What the system can do</a:t>
            </a:r>
            <a:endParaRPr lang="en-US" sz="950" dirty="0"/>
          </a:p>
        </p:txBody>
      </p:sp>
      <p:sp>
        <p:nvSpPr>
          <p:cNvPr id="42" name="Shape 39"/>
          <p:cNvSpPr/>
          <p:nvPr/>
        </p:nvSpPr>
        <p:spPr>
          <a:xfrm>
            <a:off x="6035040" y="2688336"/>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43" name="Text 40"/>
          <p:cNvSpPr/>
          <p:nvPr/>
        </p:nvSpPr>
        <p:spPr>
          <a:xfrm>
            <a:off x="6172200" y="2688336"/>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10</a:t>
            </a:r>
            <a:endParaRPr lang="en-US" sz="2000" dirty="0"/>
          </a:p>
        </p:txBody>
      </p:sp>
      <p:sp>
        <p:nvSpPr>
          <p:cNvPr id="44" name="Text 41"/>
          <p:cNvSpPr/>
          <p:nvPr/>
        </p:nvSpPr>
        <p:spPr>
          <a:xfrm>
            <a:off x="6903720" y="2743200"/>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Real-World Applications</a:t>
            </a:r>
            <a:endParaRPr lang="en-US" sz="1250" dirty="0"/>
          </a:p>
        </p:txBody>
      </p:sp>
      <p:sp>
        <p:nvSpPr>
          <p:cNvPr id="45" name="Text 42"/>
          <p:cNvSpPr/>
          <p:nvPr/>
        </p:nvSpPr>
        <p:spPr>
          <a:xfrm>
            <a:off x="6903720" y="2999232"/>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Where spam detection is used</a:t>
            </a:r>
            <a:endParaRPr lang="en-US" sz="950" dirty="0"/>
          </a:p>
        </p:txBody>
      </p:sp>
      <p:sp>
        <p:nvSpPr>
          <p:cNvPr id="46" name="Shape 43"/>
          <p:cNvSpPr/>
          <p:nvPr/>
        </p:nvSpPr>
        <p:spPr>
          <a:xfrm>
            <a:off x="6035040" y="3346704"/>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47" name="Text 44"/>
          <p:cNvSpPr/>
          <p:nvPr/>
        </p:nvSpPr>
        <p:spPr>
          <a:xfrm>
            <a:off x="6172200" y="3346704"/>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11</a:t>
            </a:r>
            <a:endParaRPr lang="en-US" sz="2000" dirty="0"/>
          </a:p>
        </p:txBody>
      </p:sp>
      <p:sp>
        <p:nvSpPr>
          <p:cNvPr id="48" name="Text 45"/>
          <p:cNvSpPr/>
          <p:nvPr/>
        </p:nvSpPr>
        <p:spPr>
          <a:xfrm>
            <a:off x="6903720" y="3401568"/>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Dataset</a:t>
            </a:r>
            <a:endParaRPr lang="en-US" sz="1250" dirty="0"/>
          </a:p>
        </p:txBody>
      </p:sp>
      <p:sp>
        <p:nvSpPr>
          <p:cNvPr id="49" name="Text 46"/>
          <p:cNvSpPr/>
          <p:nvPr/>
        </p:nvSpPr>
        <p:spPr>
          <a:xfrm>
            <a:off x="6903720" y="3657600"/>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Dataset for this project</a:t>
            </a:r>
            <a:endParaRPr lang="en-US" sz="950" dirty="0"/>
          </a:p>
        </p:txBody>
      </p:sp>
      <p:sp>
        <p:nvSpPr>
          <p:cNvPr id="50" name="Shape 47"/>
          <p:cNvSpPr/>
          <p:nvPr/>
        </p:nvSpPr>
        <p:spPr>
          <a:xfrm>
            <a:off x="6035040" y="4005072"/>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51" name="Text 48"/>
          <p:cNvSpPr/>
          <p:nvPr/>
        </p:nvSpPr>
        <p:spPr>
          <a:xfrm>
            <a:off x="6172200" y="4005072"/>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12</a:t>
            </a:r>
            <a:endParaRPr lang="en-US" sz="2000" dirty="0"/>
          </a:p>
        </p:txBody>
      </p:sp>
      <p:sp>
        <p:nvSpPr>
          <p:cNvPr id="52" name="Text 49"/>
          <p:cNvSpPr/>
          <p:nvPr/>
        </p:nvSpPr>
        <p:spPr>
          <a:xfrm>
            <a:off x="6903720" y="4059936"/>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Expected Output</a:t>
            </a:r>
            <a:endParaRPr lang="en-US" sz="1250" dirty="0"/>
          </a:p>
        </p:txBody>
      </p:sp>
      <p:sp>
        <p:nvSpPr>
          <p:cNvPr id="53" name="Text 50"/>
          <p:cNvSpPr/>
          <p:nvPr/>
        </p:nvSpPr>
        <p:spPr>
          <a:xfrm>
            <a:off x="6903720" y="4315968"/>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Example of the final system</a:t>
            </a:r>
            <a:endParaRPr lang="en-US" sz="950" dirty="0"/>
          </a:p>
        </p:txBody>
      </p:sp>
      <p:sp>
        <p:nvSpPr>
          <p:cNvPr id="54" name="Shape 51"/>
          <p:cNvSpPr/>
          <p:nvPr/>
        </p:nvSpPr>
        <p:spPr>
          <a:xfrm>
            <a:off x="6035040" y="4663440"/>
            <a:ext cx="5257800" cy="566928"/>
          </a:xfrm>
          <a:prstGeom prst="roundRect">
            <a:avLst>
              <a:gd name="adj" fmla="val 1290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55" name="Text 52"/>
          <p:cNvSpPr/>
          <p:nvPr/>
        </p:nvSpPr>
        <p:spPr>
          <a:xfrm>
            <a:off x="6172200" y="4663440"/>
            <a:ext cx="685800" cy="566928"/>
          </a:xfrm>
          <a:prstGeom prst="rect">
            <a:avLst/>
          </a:prstGeom>
          <a:noFill/>
          <a:ln/>
        </p:spPr>
        <p:txBody>
          <a:bodyPr wrap="square" lIns="0" tIns="0" rIns="0" bIns="0" rtlCol="0" anchor="ctr"/>
          <a:lstStyle/>
          <a:p>
            <a:pPr marL="0" indent="0" algn="ctr">
              <a:buNone/>
            </a:pPr>
            <a:r>
              <a:rPr lang="en-US" sz="2000" b="1" dirty="0">
                <a:solidFill>
                  <a:srgbClr val="6C5CE7"/>
                </a:solidFill>
                <a:latin typeface="Lora" pitchFamily="34" charset="0"/>
                <a:ea typeface="Lora" pitchFamily="34" charset="-122"/>
                <a:cs typeface="Lora" pitchFamily="34" charset="-120"/>
              </a:rPr>
              <a:t>13</a:t>
            </a:r>
            <a:endParaRPr lang="en-US" sz="2000" dirty="0"/>
          </a:p>
        </p:txBody>
      </p:sp>
      <p:sp>
        <p:nvSpPr>
          <p:cNvPr id="56" name="Text 53"/>
          <p:cNvSpPr/>
          <p:nvPr/>
        </p:nvSpPr>
        <p:spPr>
          <a:xfrm>
            <a:off x="6903720" y="4718304"/>
            <a:ext cx="4251960" cy="292608"/>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Submission Requirements</a:t>
            </a:r>
            <a:endParaRPr lang="en-US" sz="1250" dirty="0"/>
          </a:p>
        </p:txBody>
      </p:sp>
      <p:sp>
        <p:nvSpPr>
          <p:cNvPr id="57" name="Text 54"/>
          <p:cNvSpPr/>
          <p:nvPr/>
        </p:nvSpPr>
        <p:spPr>
          <a:xfrm>
            <a:off x="6903720" y="4974336"/>
            <a:ext cx="4251960" cy="219456"/>
          </a:xfrm>
          <a:prstGeom prst="rect">
            <a:avLst/>
          </a:prstGeom>
          <a:noFill/>
          <a:ln/>
        </p:spPr>
        <p:txBody>
          <a:bodyPr wrap="square" lIns="0" tIns="0" rIns="0" bIns="0" rtlCol="0" anchor="ctr"/>
          <a:lstStyle/>
          <a:p>
            <a:pPr marL="0" indent="0">
              <a:buNone/>
            </a:pPr>
            <a:r>
              <a:rPr lang="en-US" sz="950" dirty="0">
                <a:solidFill>
                  <a:srgbClr val="6D6B78"/>
                </a:solidFill>
                <a:latin typeface="Poppins" pitchFamily="34" charset="0"/>
                <a:ea typeface="Poppins" pitchFamily="34" charset="-122"/>
                <a:cs typeface="Poppins" pitchFamily="34" charset="-120"/>
              </a:rPr>
              <a:t>What and how to submit</a:t>
            </a:r>
            <a:endParaRPr lang="en-US" sz="950" dirty="0"/>
          </a:p>
        </p:txBody>
      </p:sp>
      <p:sp>
        <p:nvSpPr>
          <p:cNvPr id="58" name="Text 55"/>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59" name="Text 56"/>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Lightbulb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What is Machine Learning?</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Teaching computers to learn from data.</a:t>
            </a:r>
            <a:endParaRPr lang="en-US" sz="1300" dirty="0"/>
          </a:p>
        </p:txBody>
      </p:sp>
      <p:sp>
        <p:nvSpPr>
          <p:cNvPr id="6" name="Shape 3"/>
          <p:cNvSpPr/>
          <p:nvPr/>
        </p:nvSpPr>
        <p:spPr>
          <a:xfrm>
            <a:off x="457200" y="1874520"/>
            <a:ext cx="1281646" cy="868680"/>
          </a:xfrm>
          <a:prstGeom prst="roundRect">
            <a:avLst>
              <a:gd name="adj" fmla="val 8421"/>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7" name="Text 4"/>
          <p:cNvSpPr/>
          <p:nvPr/>
        </p:nvSpPr>
        <p:spPr>
          <a:xfrm>
            <a:off x="512064" y="1874520"/>
            <a:ext cx="1171918" cy="868680"/>
          </a:xfrm>
          <a:prstGeom prst="rect">
            <a:avLst/>
          </a:prstGeom>
          <a:noFill/>
          <a:ln/>
        </p:spPr>
        <p:txBody>
          <a:bodyPr wrap="square" lIns="0" tIns="0" rIns="0" bIns="0" rtlCol="0" anchor="ctr"/>
          <a:lstStyle/>
          <a:p>
            <a:pPr marL="0" indent="0" algn="ctr">
              <a:buNone/>
            </a:pPr>
            <a:r>
              <a:rPr lang="en-US" sz="1050" b="1" dirty="0">
                <a:solidFill>
                  <a:srgbClr val="231F44"/>
                </a:solidFill>
                <a:latin typeface="Poppins" pitchFamily="34" charset="0"/>
                <a:ea typeface="Poppins" pitchFamily="34" charset="-122"/>
                <a:cs typeface="Poppins" pitchFamily="34" charset="-120"/>
              </a:rPr>
              <a:t>Raw Emails</a:t>
            </a:r>
            <a:endParaRPr lang="en-US" sz="1050" dirty="0"/>
          </a:p>
        </p:txBody>
      </p:sp>
      <p:sp>
        <p:nvSpPr>
          <p:cNvPr id="8" name="Text 5"/>
          <p:cNvSpPr/>
          <p:nvPr/>
        </p:nvSpPr>
        <p:spPr>
          <a:xfrm>
            <a:off x="1738846" y="1874520"/>
            <a:ext cx="146304" cy="868680"/>
          </a:xfrm>
          <a:prstGeom prst="rect">
            <a:avLst/>
          </a:prstGeom>
          <a:noFill/>
          <a:ln/>
        </p:spPr>
        <p:txBody>
          <a:bodyPr wrap="square" lIns="0" tIns="0" rIns="0" bIns="0" rtlCol="0" anchor="ctr"/>
          <a:lstStyle/>
          <a:p>
            <a:pPr marL="0" indent="0" algn="ctr">
              <a:buNone/>
            </a:pPr>
            <a:r>
              <a:rPr lang="en-US" sz="1300" b="1" dirty="0">
                <a:solidFill>
                  <a:srgbClr val="6C5CE7"/>
                </a:solidFill>
                <a:latin typeface="Poppins" pitchFamily="34" charset="0"/>
                <a:ea typeface="Poppins" pitchFamily="34" charset="-122"/>
                <a:cs typeface="Poppins" pitchFamily="34" charset="-120"/>
              </a:rPr>
              <a:t>→</a:t>
            </a:r>
            <a:endParaRPr lang="en-US" sz="1300" dirty="0"/>
          </a:p>
        </p:txBody>
      </p:sp>
      <p:sp>
        <p:nvSpPr>
          <p:cNvPr id="9" name="Shape 6"/>
          <p:cNvSpPr/>
          <p:nvPr/>
        </p:nvSpPr>
        <p:spPr>
          <a:xfrm>
            <a:off x="1885150" y="1874520"/>
            <a:ext cx="1281646" cy="868680"/>
          </a:xfrm>
          <a:prstGeom prst="roundRect">
            <a:avLst>
              <a:gd name="adj" fmla="val 8421"/>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10" name="Text 7"/>
          <p:cNvSpPr/>
          <p:nvPr/>
        </p:nvSpPr>
        <p:spPr>
          <a:xfrm>
            <a:off x="1940014" y="1874520"/>
            <a:ext cx="1171918" cy="868680"/>
          </a:xfrm>
          <a:prstGeom prst="rect">
            <a:avLst/>
          </a:prstGeom>
          <a:noFill/>
          <a:ln/>
        </p:spPr>
        <p:txBody>
          <a:bodyPr wrap="square" lIns="0" tIns="0" rIns="0" bIns="0" rtlCol="0" anchor="ctr"/>
          <a:lstStyle/>
          <a:p>
            <a:pPr marL="0" indent="0" algn="ctr">
              <a:buNone/>
            </a:pPr>
            <a:r>
              <a:rPr lang="en-US" sz="1050" b="1" dirty="0">
                <a:solidFill>
                  <a:srgbClr val="231F44"/>
                </a:solidFill>
                <a:latin typeface="Poppins" pitchFamily="34" charset="0"/>
                <a:ea typeface="Poppins" pitchFamily="34" charset="-122"/>
                <a:cs typeface="Poppins" pitchFamily="34" charset="-120"/>
              </a:rPr>
              <a:t>Text Preprocessing</a:t>
            </a:r>
            <a:endParaRPr lang="en-US" sz="1050" dirty="0"/>
          </a:p>
        </p:txBody>
      </p:sp>
      <p:sp>
        <p:nvSpPr>
          <p:cNvPr id="11" name="Text 8"/>
          <p:cNvSpPr/>
          <p:nvPr/>
        </p:nvSpPr>
        <p:spPr>
          <a:xfrm>
            <a:off x="3166796" y="1874520"/>
            <a:ext cx="146304" cy="868680"/>
          </a:xfrm>
          <a:prstGeom prst="rect">
            <a:avLst/>
          </a:prstGeom>
          <a:noFill/>
          <a:ln/>
        </p:spPr>
        <p:txBody>
          <a:bodyPr wrap="square" lIns="0" tIns="0" rIns="0" bIns="0" rtlCol="0" anchor="ctr"/>
          <a:lstStyle/>
          <a:p>
            <a:pPr marL="0" indent="0" algn="ctr">
              <a:buNone/>
            </a:pPr>
            <a:r>
              <a:rPr lang="en-US" sz="1300" b="1" dirty="0">
                <a:solidFill>
                  <a:srgbClr val="6C5CE7"/>
                </a:solidFill>
                <a:latin typeface="Poppins" pitchFamily="34" charset="0"/>
                <a:ea typeface="Poppins" pitchFamily="34" charset="-122"/>
                <a:cs typeface="Poppins" pitchFamily="34" charset="-120"/>
              </a:rPr>
              <a:t>→</a:t>
            </a:r>
            <a:endParaRPr lang="en-US" sz="1300" dirty="0"/>
          </a:p>
        </p:txBody>
      </p:sp>
      <p:sp>
        <p:nvSpPr>
          <p:cNvPr id="12" name="Shape 9"/>
          <p:cNvSpPr/>
          <p:nvPr/>
        </p:nvSpPr>
        <p:spPr>
          <a:xfrm>
            <a:off x="3313100" y="1874520"/>
            <a:ext cx="1281646" cy="868680"/>
          </a:xfrm>
          <a:prstGeom prst="roundRect">
            <a:avLst>
              <a:gd name="adj" fmla="val 8421"/>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13" name="Text 10"/>
          <p:cNvSpPr/>
          <p:nvPr/>
        </p:nvSpPr>
        <p:spPr>
          <a:xfrm>
            <a:off x="3367964" y="1874520"/>
            <a:ext cx="1171918" cy="868680"/>
          </a:xfrm>
          <a:prstGeom prst="rect">
            <a:avLst/>
          </a:prstGeom>
          <a:noFill/>
          <a:ln/>
        </p:spPr>
        <p:txBody>
          <a:bodyPr wrap="square" lIns="0" tIns="0" rIns="0" bIns="0" rtlCol="0" anchor="ctr"/>
          <a:lstStyle/>
          <a:p>
            <a:pPr marL="0" indent="0" algn="ctr">
              <a:buNone/>
            </a:pPr>
            <a:r>
              <a:rPr lang="en-US" sz="1050" b="1" dirty="0">
                <a:solidFill>
                  <a:srgbClr val="231F44"/>
                </a:solidFill>
                <a:latin typeface="Poppins" pitchFamily="34" charset="0"/>
                <a:ea typeface="Poppins" pitchFamily="34" charset="-122"/>
                <a:cs typeface="Poppins" pitchFamily="34" charset="-120"/>
              </a:rPr>
              <a:t>Feature Extraction</a:t>
            </a:r>
            <a:endParaRPr lang="en-US" sz="1050" dirty="0"/>
          </a:p>
        </p:txBody>
      </p:sp>
      <p:sp>
        <p:nvSpPr>
          <p:cNvPr id="14" name="Text 11"/>
          <p:cNvSpPr/>
          <p:nvPr/>
        </p:nvSpPr>
        <p:spPr>
          <a:xfrm>
            <a:off x="4594746" y="1874520"/>
            <a:ext cx="146304" cy="868680"/>
          </a:xfrm>
          <a:prstGeom prst="rect">
            <a:avLst/>
          </a:prstGeom>
          <a:noFill/>
          <a:ln/>
        </p:spPr>
        <p:txBody>
          <a:bodyPr wrap="square" lIns="0" tIns="0" rIns="0" bIns="0" rtlCol="0" anchor="ctr"/>
          <a:lstStyle/>
          <a:p>
            <a:pPr marL="0" indent="0" algn="ctr">
              <a:buNone/>
            </a:pPr>
            <a:r>
              <a:rPr lang="en-US" sz="1300" b="1" dirty="0">
                <a:solidFill>
                  <a:srgbClr val="6C5CE7"/>
                </a:solidFill>
                <a:latin typeface="Poppins" pitchFamily="34" charset="0"/>
                <a:ea typeface="Poppins" pitchFamily="34" charset="-122"/>
                <a:cs typeface="Poppins" pitchFamily="34" charset="-120"/>
              </a:rPr>
              <a:t>→</a:t>
            </a:r>
            <a:endParaRPr lang="en-US" sz="1300" dirty="0"/>
          </a:p>
        </p:txBody>
      </p:sp>
      <p:sp>
        <p:nvSpPr>
          <p:cNvPr id="15" name="Shape 12"/>
          <p:cNvSpPr/>
          <p:nvPr/>
        </p:nvSpPr>
        <p:spPr>
          <a:xfrm>
            <a:off x="4741050" y="1874520"/>
            <a:ext cx="1281646" cy="868680"/>
          </a:xfrm>
          <a:prstGeom prst="roundRect">
            <a:avLst>
              <a:gd name="adj" fmla="val 8421"/>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16" name="Text 13"/>
          <p:cNvSpPr/>
          <p:nvPr/>
        </p:nvSpPr>
        <p:spPr>
          <a:xfrm>
            <a:off x="4795914" y="1874520"/>
            <a:ext cx="1171918" cy="868680"/>
          </a:xfrm>
          <a:prstGeom prst="rect">
            <a:avLst/>
          </a:prstGeom>
          <a:noFill/>
          <a:ln/>
        </p:spPr>
        <p:txBody>
          <a:bodyPr wrap="square" lIns="0" tIns="0" rIns="0" bIns="0" rtlCol="0" anchor="ctr"/>
          <a:lstStyle/>
          <a:p>
            <a:pPr marL="0" indent="0" algn="ctr">
              <a:buNone/>
            </a:pPr>
            <a:r>
              <a:rPr lang="en-US" sz="1050" b="1" dirty="0">
                <a:solidFill>
                  <a:srgbClr val="231F44"/>
                </a:solidFill>
                <a:latin typeface="Poppins" pitchFamily="34" charset="0"/>
                <a:ea typeface="Poppins" pitchFamily="34" charset="-122"/>
                <a:cs typeface="Poppins" pitchFamily="34" charset="-120"/>
              </a:rPr>
              <a:t>Model Training</a:t>
            </a:r>
            <a:endParaRPr lang="en-US" sz="1050" dirty="0"/>
          </a:p>
        </p:txBody>
      </p:sp>
      <p:sp>
        <p:nvSpPr>
          <p:cNvPr id="17" name="Text 14"/>
          <p:cNvSpPr/>
          <p:nvPr/>
        </p:nvSpPr>
        <p:spPr>
          <a:xfrm>
            <a:off x="6022696" y="1874520"/>
            <a:ext cx="146304" cy="868680"/>
          </a:xfrm>
          <a:prstGeom prst="rect">
            <a:avLst/>
          </a:prstGeom>
          <a:noFill/>
          <a:ln/>
        </p:spPr>
        <p:txBody>
          <a:bodyPr wrap="square" lIns="0" tIns="0" rIns="0" bIns="0" rtlCol="0" anchor="ctr"/>
          <a:lstStyle/>
          <a:p>
            <a:pPr marL="0" indent="0" algn="ctr">
              <a:buNone/>
            </a:pPr>
            <a:r>
              <a:rPr lang="en-US" sz="1300" b="1" dirty="0">
                <a:solidFill>
                  <a:srgbClr val="6C5CE7"/>
                </a:solidFill>
                <a:latin typeface="Poppins" pitchFamily="34" charset="0"/>
                <a:ea typeface="Poppins" pitchFamily="34" charset="-122"/>
                <a:cs typeface="Poppins" pitchFamily="34" charset="-120"/>
              </a:rPr>
              <a:t>→</a:t>
            </a:r>
            <a:endParaRPr lang="en-US" sz="1300" dirty="0"/>
          </a:p>
        </p:txBody>
      </p:sp>
      <p:sp>
        <p:nvSpPr>
          <p:cNvPr id="18" name="Shape 15"/>
          <p:cNvSpPr/>
          <p:nvPr/>
        </p:nvSpPr>
        <p:spPr>
          <a:xfrm>
            <a:off x="6169000" y="1874520"/>
            <a:ext cx="1281646" cy="868680"/>
          </a:xfrm>
          <a:prstGeom prst="roundRect">
            <a:avLst>
              <a:gd name="adj" fmla="val 8421"/>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19" name="Text 16"/>
          <p:cNvSpPr/>
          <p:nvPr/>
        </p:nvSpPr>
        <p:spPr>
          <a:xfrm>
            <a:off x="6223864" y="1874520"/>
            <a:ext cx="1171918" cy="868680"/>
          </a:xfrm>
          <a:prstGeom prst="rect">
            <a:avLst/>
          </a:prstGeom>
          <a:noFill/>
          <a:ln/>
        </p:spPr>
        <p:txBody>
          <a:bodyPr wrap="square" lIns="0" tIns="0" rIns="0" bIns="0" rtlCol="0" anchor="ctr"/>
          <a:lstStyle/>
          <a:p>
            <a:pPr marL="0" indent="0" algn="ctr">
              <a:buNone/>
            </a:pPr>
            <a:r>
              <a:rPr lang="en-US" sz="1050" b="1" dirty="0">
                <a:solidFill>
                  <a:srgbClr val="231F44"/>
                </a:solidFill>
                <a:latin typeface="Poppins" pitchFamily="34" charset="0"/>
                <a:ea typeface="Poppins" pitchFamily="34" charset="-122"/>
                <a:cs typeface="Poppins" pitchFamily="34" charset="-120"/>
              </a:rPr>
              <a:t>Prediction</a:t>
            </a:r>
            <a:endParaRPr lang="en-US" sz="1050" dirty="0"/>
          </a:p>
        </p:txBody>
      </p:sp>
      <p:sp>
        <p:nvSpPr>
          <p:cNvPr id="20" name="Text 17"/>
          <p:cNvSpPr/>
          <p:nvPr/>
        </p:nvSpPr>
        <p:spPr>
          <a:xfrm>
            <a:off x="7450646" y="1874520"/>
            <a:ext cx="146304" cy="868680"/>
          </a:xfrm>
          <a:prstGeom prst="rect">
            <a:avLst/>
          </a:prstGeom>
          <a:noFill/>
          <a:ln/>
        </p:spPr>
        <p:txBody>
          <a:bodyPr wrap="square" lIns="0" tIns="0" rIns="0" bIns="0" rtlCol="0" anchor="ctr"/>
          <a:lstStyle/>
          <a:p>
            <a:pPr marL="0" indent="0" algn="ctr">
              <a:buNone/>
            </a:pPr>
            <a:r>
              <a:rPr lang="en-US" sz="1300" b="1" dirty="0">
                <a:solidFill>
                  <a:srgbClr val="6C5CE7"/>
                </a:solidFill>
                <a:latin typeface="Poppins" pitchFamily="34" charset="0"/>
                <a:ea typeface="Poppins" pitchFamily="34" charset="-122"/>
                <a:cs typeface="Poppins" pitchFamily="34" charset="-120"/>
              </a:rPr>
              <a:t>→</a:t>
            </a:r>
            <a:endParaRPr lang="en-US" sz="1300" dirty="0"/>
          </a:p>
        </p:txBody>
      </p:sp>
      <p:sp>
        <p:nvSpPr>
          <p:cNvPr id="21" name="Shape 18"/>
          <p:cNvSpPr/>
          <p:nvPr/>
        </p:nvSpPr>
        <p:spPr>
          <a:xfrm>
            <a:off x="7596950" y="1874520"/>
            <a:ext cx="1281646" cy="868680"/>
          </a:xfrm>
          <a:prstGeom prst="roundRect">
            <a:avLst>
              <a:gd name="adj" fmla="val 8421"/>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22" name="Text 19"/>
          <p:cNvSpPr/>
          <p:nvPr/>
        </p:nvSpPr>
        <p:spPr>
          <a:xfrm>
            <a:off x="7651814" y="1874520"/>
            <a:ext cx="1171918" cy="868680"/>
          </a:xfrm>
          <a:prstGeom prst="rect">
            <a:avLst/>
          </a:prstGeom>
          <a:noFill/>
          <a:ln/>
        </p:spPr>
        <p:txBody>
          <a:bodyPr wrap="square" lIns="0" tIns="0" rIns="0" bIns="0" rtlCol="0" anchor="ctr"/>
          <a:lstStyle/>
          <a:p>
            <a:pPr marL="0" indent="0" algn="ctr">
              <a:buNone/>
            </a:pPr>
            <a:r>
              <a:rPr lang="en-US" sz="1050" b="1" dirty="0">
                <a:solidFill>
                  <a:srgbClr val="231F44"/>
                </a:solidFill>
                <a:latin typeface="Poppins" pitchFamily="34" charset="0"/>
                <a:ea typeface="Poppins" pitchFamily="34" charset="-122"/>
                <a:cs typeface="Poppins" pitchFamily="34" charset="-120"/>
              </a:rPr>
              <a:t>Evaluation</a:t>
            </a:r>
            <a:endParaRPr lang="en-US" sz="1050" dirty="0"/>
          </a:p>
        </p:txBody>
      </p:sp>
      <p:sp>
        <p:nvSpPr>
          <p:cNvPr id="23" name="Text 20"/>
          <p:cNvSpPr/>
          <p:nvPr/>
        </p:nvSpPr>
        <p:spPr>
          <a:xfrm>
            <a:off x="8878595" y="1874520"/>
            <a:ext cx="146304" cy="868680"/>
          </a:xfrm>
          <a:prstGeom prst="rect">
            <a:avLst/>
          </a:prstGeom>
          <a:noFill/>
          <a:ln/>
        </p:spPr>
        <p:txBody>
          <a:bodyPr wrap="square" lIns="0" tIns="0" rIns="0" bIns="0" rtlCol="0" anchor="ctr"/>
          <a:lstStyle/>
          <a:p>
            <a:pPr marL="0" indent="0" algn="ctr">
              <a:buNone/>
            </a:pPr>
            <a:r>
              <a:rPr lang="en-US" sz="1300" b="1" dirty="0">
                <a:solidFill>
                  <a:srgbClr val="6C5CE7"/>
                </a:solidFill>
                <a:latin typeface="Poppins" pitchFamily="34" charset="0"/>
                <a:ea typeface="Poppins" pitchFamily="34" charset="-122"/>
                <a:cs typeface="Poppins" pitchFamily="34" charset="-120"/>
              </a:rPr>
              <a:t>→</a:t>
            </a:r>
            <a:endParaRPr lang="en-US" sz="1300" dirty="0"/>
          </a:p>
        </p:txBody>
      </p:sp>
      <p:sp>
        <p:nvSpPr>
          <p:cNvPr id="24" name="Shape 21"/>
          <p:cNvSpPr/>
          <p:nvPr/>
        </p:nvSpPr>
        <p:spPr>
          <a:xfrm>
            <a:off x="9024899" y="1874520"/>
            <a:ext cx="1281646" cy="868680"/>
          </a:xfrm>
          <a:prstGeom prst="roundRect">
            <a:avLst>
              <a:gd name="adj" fmla="val 8421"/>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25" name="Text 22"/>
          <p:cNvSpPr/>
          <p:nvPr/>
        </p:nvSpPr>
        <p:spPr>
          <a:xfrm>
            <a:off x="9079763" y="1874520"/>
            <a:ext cx="1171918" cy="868680"/>
          </a:xfrm>
          <a:prstGeom prst="rect">
            <a:avLst/>
          </a:prstGeom>
          <a:noFill/>
          <a:ln/>
        </p:spPr>
        <p:txBody>
          <a:bodyPr wrap="square" lIns="0" tIns="0" rIns="0" bIns="0" rtlCol="0" anchor="ctr"/>
          <a:lstStyle/>
          <a:p>
            <a:pPr marL="0" indent="0" algn="ctr">
              <a:buNone/>
            </a:pPr>
            <a:r>
              <a:rPr lang="en-US" sz="1050" b="1" dirty="0">
                <a:solidFill>
                  <a:srgbClr val="231F44"/>
                </a:solidFill>
                <a:latin typeface="Poppins" pitchFamily="34" charset="0"/>
                <a:ea typeface="Poppins" pitchFamily="34" charset="-122"/>
                <a:cs typeface="Poppins" pitchFamily="34" charset="-120"/>
              </a:rPr>
              <a:t>Optimization</a:t>
            </a:r>
            <a:endParaRPr lang="en-US" sz="1050" dirty="0"/>
          </a:p>
        </p:txBody>
      </p:sp>
      <p:sp>
        <p:nvSpPr>
          <p:cNvPr id="26" name="Text 23"/>
          <p:cNvSpPr/>
          <p:nvPr/>
        </p:nvSpPr>
        <p:spPr>
          <a:xfrm>
            <a:off x="10306545" y="1874520"/>
            <a:ext cx="146304" cy="868680"/>
          </a:xfrm>
          <a:prstGeom prst="rect">
            <a:avLst/>
          </a:prstGeom>
          <a:noFill/>
          <a:ln/>
        </p:spPr>
        <p:txBody>
          <a:bodyPr wrap="square" lIns="0" tIns="0" rIns="0" bIns="0" rtlCol="0" anchor="ctr"/>
          <a:lstStyle/>
          <a:p>
            <a:pPr marL="0" indent="0" algn="ctr">
              <a:buNone/>
            </a:pPr>
            <a:r>
              <a:rPr lang="en-US" sz="1300" b="1" dirty="0">
                <a:solidFill>
                  <a:srgbClr val="6C5CE7"/>
                </a:solidFill>
                <a:latin typeface="Poppins" pitchFamily="34" charset="0"/>
                <a:ea typeface="Poppins" pitchFamily="34" charset="-122"/>
                <a:cs typeface="Poppins" pitchFamily="34" charset="-120"/>
              </a:rPr>
              <a:t>→</a:t>
            </a:r>
            <a:endParaRPr lang="en-US" sz="1300" dirty="0"/>
          </a:p>
        </p:txBody>
      </p:sp>
      <p:sp>
        <p:nvSpPr>
          <p:cNvPr id="27" name="Shape 24"/>
          <p:cNvSpPr/>
          <p:nvPr/>
        </p:nvSpPr>
        <p:spPr>
          <a:xfrm>
            <a:off x="10452849" y="1874520"/>
            <a:ext cx="1281646" cy="868680"/>
          </a:xfrm>
          <a:prstGeom prst="roundRect">
            <a:avLst>
              <a:gd name="adj" fmla="val 8421"/>
            </a:avLst>
          </a:prstGeom>
          <a:solidFill>
            <a:srgbClr val="6C5CE7"/>
          </a:solidFill>
          <a:ln/>
          <a:effectLst>
            <a:outerShdw blurRad="76200" dist="25400" dir="5400000" algn="bl" rotWithShape="0">
              <a:srgbClr val="9B98B8">
                <a:alpha val="20000"/>
              </a:srgbClr>
            </a:outerShdw>
          </a:effectLst>
        </p:spPr>
        <p:txBody>
          <a:bodyPr/>
          <a:lstStyle/>
          <a:p>
            <a:endParaRPr lang="en-US"/>
          </a:p>
        </p:txBody>
      </p:sp>
      <p:sp>
        <p:nvSpPr>
          <p:cNvPr id="28" name="Text 25"/>
          <p:cNvSpPr/>
          <p:nvPr/>
        </p:nvSpPr>
        <p:spPr>
          <a:xfrm>
            <a:off x="10507713" y="1874520"/>
            <a:ext cx="1171918" cy="868680"/>
          </a:xfrm>
          <a:prstGeom prst="rect">
            <a:avLst/>
          </a:prstGeom>
          <a:noFill/>
          <a:ln/>
        </p:spPr>
        <p:txBody>
          <a:bodyPr wrap="square" lIns="0" tIns="0" rIns="0" bIns="0" rtlCol="0" anchor="ctr"/>
          <a:lstStyle/>
          <a:p>
            <a:pPr marL="0" indent="0" algn="ctr">
              <a:buNone/>
            </a:pPr>
            <a:r>
              <a:rPr lang="en-US" sz="1050" b="1" dirty="0">
                <a:solidFill>
                  <a:srgbClr val="FFFFFF"/>
                </a:solidFill>
                <a:latin typeface="Poppins" pitchFamily="34" charset="0"/>
                <a:ea typeface="Poppins" pitchFamily="34" charset="-122"/>
                <a:cs typeface="Poppins" pitchFamily="34" charset="-120"/>
              </a:rPr>
              <a:t>Final Model</a:t>
            </a:r>
            <a:endParaRPr lang="en-US" sz="1050" dirty="0"/>
          </a:p>
        </p:txBody>
      </p:sp>
      <p:sp>
        <p:nvSpPr>
          <p:cNvPr id="29" name="Shape 26"/>
          <p:cNvSpPr/>
          <p:nvPr/>
        </p:nvSpPr>
        <p:spPr>
          <a:xfrm>
            <a:off x="1280160" y="3246120"/>
            <a:ext cx="9628632" cy="2331720"/>
          </a:xfrm>
          <a:prstGeom prst="roundRect">
            <a:avLst>
              <a:gd name="adj" fmla="val 3922"/>
            </a:avLst>
          </a:prstGeom>
          <a:solidFill>
            <a:srgbClr val="231F44"/>
          </a:solidFill>
          <a:ln/>
          <a:effectLst>
            <a:outerShdw blurRad="101600" dist="25400" dir="5400000" algn="bl" rotWithShape="0">
              <a:srgbClr val="9B98B8">
                <a:alpha val="25000"/>
              </a:srgbClr>
            </a:outerShdw>
          </a:effectLst>
        </p:spPr>
        <p:txBody>
          <a:bodyPr/>
          <a:lstStyle/>
          <a:p>
            <a:endParaRPr lang="en-US"/>
          </a:p>
        </p:txBody>
      </p:sp>
      <p:sp>
        <p:nvSpPr>
          <p:cNvPr id="30" name="Text 27"/>
          <p:cNvSpPr/>
          <p:nvPr/>
        </p:nvSpPr>
        <p:spPr>
          <a:xfrm>
            <a:off x="1737360" y="3246120"/>
            <a:ext cx="8714232" cy="2331720"/>
          </a:xfrm>
          <a:prstGeom prst="rect">
            <a:avLst/>
          </a:prstGeom>
          <a:noFill/>
          <a:ln/>
        </p:spPr>
        <p:txBody>
          <a:bodyPr wrap="square" lIns="0" tIns="0" rIns="0" bIns="0" rtlCol="0" anchor="ctr"/>
          <a:lstStyle/>
          <a:p>
            <a:pPr marL="0" indent="0" algn="ctr">
              <a:buNone/>
            </a:pPr>
            <a:r>
              <a:rPr lang="en-US" sz="1500" dirty="0">
                <a:solidFill>
                  <a:srgbClr val="FFFFFF"/>
                </a:solidFill>
                <a:latin typeface="Lora" pitchFamily="34" charset="0"/>
                <a:ea typeface="Lora" pitchFamily="34" charset="-122"/>
                <a:cs typeface="Lora" pitchFamily="34" charset="-120"/>
              </a:rPr>
              <a:t>Machine Learning allows computers to learn patterns from historical data and make intelligent predictions.</a:t>
            </a:r>
            <a:endParaRPr lang="en-US" sz="1500" dirty="0"/>
          </a:p>
        </p:txBody>
      </p:sp>
      <p:sp>
        <p:nvSpPr>
          <p:cNvPr id="31" name="Text 28"/>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32" name="Text 29"/>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Layers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Technical Focus</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Core skills used in this project</a:t>
            </a:r>
            <a:endParaRPr lang="en-US" sz="1300" dirty="0"/>
          </a:p>
        </p:txBody>
      </p:sp>
      <p:sp>
        <p:nvSpPr>
          <p:cNvPr id="6" name="Shape 3"/>
          <p:cNvSpPr/>
          <p:nvPr/>
        </p:nvSpPr>
        <p:spPr>
          <a:xfrm>
            <a:off x="457200" y="1874520"/>
            <a:ext cx="2668448" cy="3657600"/>
          </a:xfrm>
          <a:prstGeom prst="roundRect">
            <a:avLst>
              <a:gd name="adj" fmla="val 3427"/>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7" name="Shape 4"/>
          <p:cNvSpPr/>
          <p:nvPr/>
        </p:nvSpPr>
        <p:spPr>
          <a:xfrm>
            <a:off x="1535392" y="2148840"/>
            <a:ext cx="512064" cy="512064"/>
          </a:xfrm>
          <a:prstGeom prst="roundRect">
            <a:avLst>
              <a:gd name="adj" fmla="val 50000"/>
            </a:avLst>
          </a:prstGeom>
          <a:solidFill>
            <a:srgbClr val="EDEBF9"/>
          </a:solidFill>
          <a:ln/>
        </p:spPr>
        <p:txBody>
          <a:bodyPr/>
          <a:lstStyle/>
          <a:p>
            <a:endParaRPr lang="en-US"/>
          </a:p>
        </p:txBody>
      </p:sp>
      <p:pic>
        <p:nvPicPr>
          <p:cNvPr id="8" name="Image 1" descr="/home/claude/work/icons/Target_purple.png"/>
          <p:cNvPicPr>
            <a:picLocks noChangeAspect="1"/>
          </p:cNvPicPr>
          <p:nvPr/>
        </p:nvPicPr>
        <p:blipFill>
          <a:blip r:embed="rId4"/>
          <a:stretch>
            <a:fillRect/>
          </a:stretch>
        </p:blipFill>
        <p:spPr>
          <a:xfrm>
            <a:off x="1645120" y="2258568"/>
            <a:ext cx="292608" cy="292608"/>
          </a:xfrm>
          <a:prstGeom prst="rect">
            <a:avLst/>
          </a:prstGeom>
        </p:spPr>
      </p:pic>
      <p:sp>
        <p:nvSpPr>
          <p:cNvPr id="9" name="Text 5"/>
          <p:cNvSpPr/>
          <p:nvPr/>
        </p:nvSpPr>
        <p:spPr>
          <a:xfrm>
            <a:off x="594360" y="2834640"/>
            <a:ext cx="2394128" cy="640080"/>
          </a:xfrm>
          <a:prstGeom prst="rect">
            <a:avLst/>
          </a:prstGeom>
          <a:noFill/>
          <a:ln/>
        </p:spPr>
        <p:txBody>
          <a:bodyPr wrap="square" lIns="0" tIns="0" rIns="0" bIns="0" rtlCol="0" anchor="t"/>
          <a:lstStyle/>
          <a:p>
            <a:pPr marL="0" indent="0" algn="ctr">
              <a:buNone/>
            </a:pPr>
            <a:r>
              <a:rPr lang="en-US" sz="1450" b="1" dirty="0">
                <a:solidFill>
                  <a:srgbClr val="231F44"/>
                </a:solidFill>
                <a:latin typeface="Lora" pitchFamily="34" charset="0"/>
                <a:ea typeface="Lora" pitchFamily="34" charset="-122"/>
                <a:cs typeface="Lora" pitchFamily="34" charset="-120"/>
              </a:rPr>
              <a:t>Model Training &amp;</a:t>
            </a:r>
            <a:endParaRPr lang="en-US" sz="1450" dirty="0"/>
          </a:p>
          <a:p>
            <a:pPr marL="0" indent="0" algn="ctr">
              <a:buNone/>
            </a:pPr>
            <a:r>
              <a:rPr lang="en-US" sz="1450" b="1" dirty="0">
                <a:solidFill>
                  <a:srgbClr val="231F44"/>
                </a:solidFill>
                <a:latin typeface="Lora" pitchFamily="34" charset="0"/>
                <a:ea typeface="Lora" pitchFamily="34" charset="-122"/>
                <a:cs typeface="Lora" pitchFamily="34" charset="-120"/>
              </a:rPr>
              <a:t>Classification</a:t>
            </a:r>
            <a:endParaRPr lang="en-US" sz="1450" dirty="0"/>
          </a:p>
        </p:txBody>
      </p:sp>
      <p:sp>
        <p:nvSpPr>
          <p:cNvPr id="10" name="Text 6"/>
          <p:cNvSpPr/>
          <p:nvPr/>
        </p:nvSpPr>
        <p:spPr>
          <a:xfrm>
            <a:off x="685800" y="35661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Supervised Learning</a:t>
            </a:r>
            <a:endParaRPr lang="en-US" sz="1150" dirty="0"/>
          </a:p>
        </p:txBody>
      </p:sp>
      <p:sp>
        <p:nvSpPr>
          <p:cNvPr id="11" name="Text 7"/>
          <p:cNvSpPr/>
          <p:nvPr/>
        </p:nvSpPr>
        <p:spPr>
          <a:xfrm>
            <a:off x="685800" y="40233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Classification</a:t>
            </a:r>
            <a:endParaRPr lang="en-US" sz="1150" dirty="0"/>
          </a:p>
        </p:txBody>
      </p:sp>
      <p:sp>
        <p:nvSpPr>
          <p:cNvPr id="12" name="Text 8"/>
          <p:cNvSpPr/>
          <p:nvPr/>
        </p:nvSpPr>
        <p:spPr>
          <a:xfrm>
            <a:off x="685800" y="44805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Training Process</a:t>
            </a:r>
            <a:endParaRPr lang="en-US" sz="1150" dirty="0"/>
          </a:p>
        </p:txBody>
      </p:sp>
      <p:sp>
        <p:nvSpPr>
          <p:cNvPr id="13" name="Shape 9"/>
          <p:cNvSpPr/>
          <p:nvPr/>
        </p:nvSpPr>
        <p:spPr>
          <a:xfrm>
            <a:off x="3326816" y="1874520"/>
            <a:ext cx="2668448" cy="3657600"/>
          </a:xfrm>
          <a:prstGeom prst="roundRect">
            <a:avLst>
              <a:gd name="adj" fmla="val 3427"/>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4" name="Shape 10"/>
          <p:cNvSpPr/>
          <p:nvPr/>
        </p:nvSpPr>
        <p:spPr>
          <a:xfrm>
            <a:off x="4405008" y="2148840"/>
            <a:ext cx="512064" cy="512064"/>
          </a:xfrm>
          <a:prstGeom prst="roundRect">
            <a:avLst>
              <a:gd name="adj" fmla="val 50000"/>
            </a:avLst>
          </a:prstGeom>
          <a:solidFill>
            <a:srgbClr val="EDEBF9"/>
          </a:solidFill>
          <a:ln/>
        </p:spPr>
        <p:txBody>
          <a:bodyPr/>
          <a:lstStyle/>
          <a:p>
            <a:endParaRPr lang="en-US"/>
          </a:p>
        </p:txBody>
      </p:sp>
      <p:pic>
        <p:nvPicPr>
          <p:cNvPr id="15" name="Image 2" descr="/home/claude/work/icons/Gauge_purple.png"/>
          <p:cNvPicPr>
            <a:picLocks noChangeAspect="1"/>
          </p:cNvPicPr>
          <p:nvPr/>
        </p:nvPicPr>
        <p:blipFill>
          <a:blip r:embed="rId5"/>
          <a:stretch>
            <a:fillRect/>
          </a:stretch>
        </p:blipFill>
        <p:spPr>
          <a:xfrm>
            <a:off x="4514736" y="2258568"/>
            <a:ext cx="292608" cy="292608"/>
          </a:xfrm>
          <a:prstGeom prst="rect">
            <a:avLst/>
          </a:prstGeom>
        </p:spPr>
      </p:pic>
      <p:sp>
        <p:nvSpPr>
          <p:cNvPr id="16" name="Text 11"/>
          <p:cNvSpPr/>
          <p:nvPr/>
        </p:nvSpPr>
        <p:spPr>
          <a:xfrm>
            <a:off x="3463976" y="2834640"/>
            <a:ext cx="2394128" cy="640080"/>
          </a:xfrm>
          <a:prstGeom prst="rect">
            <a:avLst/>
          </a:prstGeom>
          <a:noFill/>
          <a:ln/>
        </p:spPr>
        <p:txBody>
          <a:bodyPr wrap="square" lIns="0" tIns="0" rIns="0" bIns="0" rtlCol="0" anchor="t"/>
          <a:lstStyle/>
          <a:p>
            <a:pPr marL="0" indent="0" algn="ctr">
              <a:buNone/>
            </a:pPr>
            <a:r>
              <a:rPr lang="en-US" sz="1450" b="1" dirty="0">
                <a:solidFill>
                  <a:srgbClr val="231F44"/>
                </a:solidFill>
                <a:latin typeface="Lora" pitchFamily="34" charset="0"/>
                <a:ea typeface="Lora" pitchFamily="34" charset="-122"/>
                <a:cs typeface="Lora" pitchFamily="34" charset="-120"/>
              </a:rPr>
              <a:t>Model Evaluation &amp;</a:t>
            </a:r>
            <a:endParaRPr lang="en-US" sz="1450" dirty="0"/>
          </a:p>
          <a:p>
            <a:pPr marL="0" indent="0" algn="ctr">
              <a:buNone/>
            </a:pPr>
            <a:r>
              <a:rPr lang="en-US" sz="1450" b="1" dirty="0">
                <a:solidFill>
                  <a:srgbClr val="231F44"/>
                </a:solidFill>
                <a:latin typeface="Lora" pitchFamily="34" charset="0"/>
                <a:ea typeface="Lora" pitchFamily="34" charset="-122"/>
                <a:cs typeface="Lora" pitchFamily="34" charset="-120"/>
              </a:rPr>
              <a:t>Feature Tuning</a:t>
            </a:r>
            <a:endParaRPr lang="en-US" sz="1450" dirty="0"/>
          </a:p>
        </p:txBody>
      </p:sp>
      <p:sp>
        <p:nvSpPr>
          <p:cNvPr id="17" name="Text 12"/>
          <p:cNvSpPr/>
          <p:nvPr/>
        </p:nvSpPr>
        <p:spPr>
          <a:xfrm>
            <a:off x="3555416" y="35661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Train/Test Split</a:t>
            </a:r>
            <a:endParaRPr lang="en-US" sz="1150" dirty="0"/>
          </a:p>
        </p:txBody>
      </p:sp>
      <p:sp>
        <p:nvSpPr>
          <p:cNvPr id="18" name="Text 13"/>
          <p:cNvSpPr/>
          <p:nvPr/>
        </p:nvSpPr>
        <p:spPr>
          <a:xfrm>
            <a:off x="3555416" y="40233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Evaluation Metrics</a:t>
            </a:r>
            <a:endParaRPr lang="en-US" sz="1150" dirty="0"/>
          </a:p>
        </p:txBody>
      </p:sp>
      <p:sp>
        <p:nvSpPr>
          <p:cNvPr id="19" name="Text 14"/>
          <p:cNvSpPr/>
          <p:nvPr/>
        </p:nvSpPr>
        <p:spPr>
          <a:xfrm>
            <a:off x="3555416" y="44805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Feature Selection</a:t>
            </a:r>
            <a:endParaRPr lang="en-US" sz="1150" dirty="0"/>
          </a:p>
        </p:txBody>
      </p:sp>
      <p:sp>
        <p:nvSpPr>
          <p:cNvPr id="20" name="Shape 15"/>
          <p:cNvSpPr/>
          <p:nvPr/>
        </p:nvSpPr>
        <p:spPr>
          <a:xfrm>
            <a:off x="6196432" y="1874520"/>
            <a:ext cx="2668448" cy="3657600"/>
          </a:xfrm>
          <a:prstGeom prst="roundRect">
            <a:avLst>
              <a:gd name="adj" fmla="val 3427"/>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21" name="Shape 16"/>
          <p:cNvSpPr/>
          <p:nvPr/>
        </p:nvSpPr>
        <p:spPr>
          <a:xfrm>
            <a:off x="7274624" y="2148840"/>
            <a:ext cx="512064" cy="512064"/>
          </a:xfrm>
          <a:prstGeom prst="roundRect">
            <a:avLst>
              <a:gd name="adj" fmla="val 50000"/>
            </a:avLst>
          </a:prstGeom>
          <a:solidFill>
            <a:srgbClr val="EDEBF9"/>
          </a:solidFill>
          <a:ln/>
        </p:spPr>
        <p:txBody>
          <a:bodyPr/>
          <a:lstStyle/>
          <a:p>
            <a:endParaRPr lang="en-US"/>
          </a:p>
        </p:txBody>
      </p:sp>
      <p:pic>
        <p:nvPicPr>
          <p:cNvPr id="22" name="Image 3" descr="/home/claude/work/icons/TrendingUp_purple.png"/>
          <p:cNvPicPr>
            <a:picLocks noChangeAspect="1"/>
          </p:cNvPicPr>
          <p:nvPr/>
        </p:nvPicPr>
        <p:blipFill>
          <a:blip r:embed="rId6"/>
          <a:stretch>
            <a:fillRect/>
          </a:stretch>
        </p:blipFill>
        <p:spPr>
          <a:xfrm>
            <a:off x="7384352" y="2258568"/>
            <a:ext cx="292608" cy="292608"/>
          </a:xfrm>
          <a:prstGeom prst="rect">
            <a:avLst/>
          </a:prstGeom>
        </p:spPr>
      </p:pic>
      <p:sp>
        <p:nvSpPr>
          <p:cNvPr id="23" name="Text 17"/>
          <p:cNvSpPr/>
          <p:nvPr/>
        </p:nvSpPr>
        <p:spPr>
          <a:xfrm>
            <a:off x="6333592" y="2834640"/>
            <a:ext cx="2394128" cy="640080"/>
          </a:xfrm>
          <a:prstGeom prst="rect">
            <a:avLst/>
          </a:prstGeom>
          <a:noFill/>
          <a:ln/>
        </p:spPr>
        <p:txBody>
          <a:bodyPr wrap="square" lIns="0" tIns="0" rIns="0" bIns="0" rtlCol="0" anchor="t"/>
          <a:lstStyle/>
          <a:p>
            <a:pPr marL="0" indent="0" algn="ctr">
              <a:buNone/>
            </a:pPr>
            <a:r>
              <a:rPr lang="en-US" sz="1450" b="1" dirty="0">
                <a:solidFill>
                  <a:srgbClr val="231F44"/>
                </a:solidFill>
                <a:latin typeface="Lora" pitchFamily="34" charset="0"/>
                <a:ea typeface="Lora" pitchFamily="34" charset="-122"/>
                <a:cs typeface="Lora" pitchFamily="34" charset="-120"/>
              </a:rPr>
              <a:t>Accuracy Improvement</a:t>
            </a:r>
            <a:endParaRPr lang="en-US" sz="1450" dirty="0"/>
          </a:p>
          <a:p>
            <a:pPr marL="0" indent="0" algn="ctr">
              <a:buNone/>
            </a:pPr>
            <a:r>
              <a:rPr lang="en-US" sz="1450" b="1" dirty="0">
                <a:solidFill>
                  <a:srgbClr val="231F44"/>
                </a:solidFill>
                <a:latin typeface="Lora" pitchFamily="34" charset="0"/>
                <a:ea typeface="Lora" pitchFamily="34" charset="-122"/>
                <a:cs typeface="Lora" pitchFamily="34" charset="-120"/>
              </a:rPr>
              <a:t>&amp; Comparison</a:t>
            </a:r>
            <a:endParaRPr lang="en-US" sz="1450" dirty="0"/>
          </a:p>
        </p:txBody>
      </p:sp>
      <p:sp>
        <p:nvSpPr>
          <p:cNvPr id="24" name="Text 18"/>
          <p:cNvSpPr/>
          <p:nvPr/>
        </p:nvSpPr>
        <p:spPr>
          <a:xfrm>
            <a:off x="6425032" y="35661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Hyperparameter Tuning</a:t>
            </a:r>
            <a:endParaRPr lang="en-US" sz="1150" dirty="0"/>
          </a:p>
        </p:txBody>
      </p:sp>
      <p:sp>
        <p:nvSpPr>
          <p:cNvPr id="25" name="Text 19"/>
          <p:cNvSpPr/>
          <p:nvPr/>
        </p:nvSpPr>
        <p:spPr>
          <a:xfrm>
            <a:off x="6425032" y="40233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Model Comparison</a:t>
            </a:r>
            <a:endParaRPr lang="en-US" sz="1150" dirty="0"/>
          </a:p>
        </p:txBody>
      </p:sp>
      <p:sp>
        <p:nvSpPr>
          <p:cNvPr id="26" name="Text 20"/>
          <p:cNvSpPr/>
          <p:nvPr/>
        </p:nvSpPr>
        <p:spPr>
          <a:xfrm>
            <a:off x="6425032" y="44805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Performance Optimization</a:t>
            </a:r>
            <a:endParaRPr lang="en-US" sz="1150" dirty="0"/>
          </a:p>
        </p:txBody>
      </p:sp>
      <p:sp>
        <p:nvSpPr>
          <p:cNvPr id="27" name="Shape 21"/>
          <p:cNvSpPr/>
          <p:nvPr/>
        </p:nvSpPr>
        <p:spPr>
          <a:xfrm>
            <a:off x="9066047" y="1874520"/>
            <a:ext cx="2668448" cy="3657600"/>
          </a:xfrm>
          <a:prstGeom prst="roundRect">
            <a:avLst>
              <a:gd name="adj" fmla="val 3427"/>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28" name="Shape 22"/>
          <p:cNvSpPr/>
          <p:nvPr/>
        </p:nvSpPr>
        <p:spPr>
          <a:xfrm>
            <a:off x="10144239" y="2148840"/>
            <a:ext cx="512064" cy="512064"/>
          </a:xfrm>
          <a:prstGeom prst="roundRect">
            <a:avLst>
              <a:gd name="adj" fmla="val 50000"/>
            </a:avLst>
          </a:prstGeom>
          <a:solidFill>
            <a:srgbClr val="EDEBF9"/>
          </a:solidFill>
          <a:ln/>
        </p:spPr>
        <p:txBody>
          <a:bodyPr/>
          <a:lstStyle/>
          <a:p>
            <a:endParaRPr lang="en-US"/>
          </a:p>
        </p:txBody>
      </p:sp>
      <p:pic>
        <p:nvPicPr>
          <p:cNvPr id="29" name="Image 4" descr="/home/claude/work/icons/ShieldCheck_purple.png"/>
          <p:cNvPicPr>
            <a:picLocks noChangeAspect="1"/>
          </p:cNvPicPr>
          <p:nvPr/>
        </p:nvPicPr>
        <p:blipFill>
          <a:blip r:embed="rId7"/>
          <a:stretch>
            <a:fillRect/>
          </a:stretch>
        </p:blipFill>
        <p:spPr>
          <a:xfrm>
            <a:off x="10253967" y="2258568"/>
            <a:ext cx="292608" cy="292608"/>
          </a:xfrm>
          <a:prstGeom prst="rect">
            <a:avLst/>
          </a:prstGeom>
        </p:spPr>
      </p:pic>
      <p:sp>
        <p:nvSpPr>
          <p:cNvPr id="30" name="Text 23"/>
          <p:cNvSpPr/>
          <p:nvPr/>
        </p:nvSpPr>
        <p:spPr>
          <a:xfrm>
            <a:off x="9203207" y="2834640"/>
            <a:ext cx="2394128" cy="640080"/>
          </a:xfrm>
          <a:prstGeom prst="rect">
            <a:avLst/>
          </a:prstGeom>
          <a:noFill/>
          <a:ln/>
        </p:spPr>
        <p:txBody>
          <a:bodyPr wrap="square" lIns="0" tIns="0" rIns="0" bIns="0" rtlCol="0" anchor="t"/>
          <a:lstStyle/>
          <a:p>
            <a:pPr marL="0" indent="0" algn="ctr">
              <a:buNone/>
            </a:pPr>
            <a:r>
              <a:rPr lang="en-US" sz="1450" b="1" dirty="0">
                <a:solidFill>
                  <a:srgbClr val="231F44"/>
                </a:solidFill>
                <a:latin typeface="Lora" pitchFamily="34" charset="0"/>
                <a:ea typeface="Lora" pitchFamily="34" charset="-122"/>
                <a:cs typeface="Lora" pitchFamily="34" charset="-120"/>
              </a:rPr>
              <a:t>Best Practices</a:t>
            </a:r>
            <a:endParaRPr lang="en-US" sz="1450" dirty="0"/>
          </a:p>
        </p:txBody>
      </p:sp>
      <p:sp>
        <p:nvSpPr>
          <p:cNvPr id="31" name="Text 24"/>
          <p:cNvSpPr/>
          <p:nvPr/>
        </p:nvSpPr>
        <p:spPr>
          <a:xfrm>
            <a:off x="9294647" y="35661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Clean Dataset</a:t>
            </a:r>
            <a:endParaRPr lang="en-US" sz="1150" dirty="0"/>
          </a:p>
        </p:txBody>
      </p:sp>
      <p:sp>
        <p:nvSpPr>
          <p:cNvPr id="32" name="Text 25"/>
          <p:cNvSpPr/>
          <p:nvPr/>
        </p:nvSpPr>
        <p:spPr>
          <a:xfrm>
            <a:off x="9294647" y="40233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Balanced Classes</a:t>
            </a:r>
            <a:endParaRPr lang="en-US" sz="1150" dirty="0"/>
          </a:p>
        </p:txBody>
      </p:sp>
      <p:sp>
        <p:nvSpPr>
          <p:cNvPr id="33" name="Text 26"/>
          <p:cNvSpPr/>
          <p:nvPr/>
        </p:nvSpPr>
        <p:spPr>
          <a:xfrm>
            <a:off x="9294647" y="4480560"/>
            <a:ext cx="2211248" cy="411480"/>
          </a:xfrm>
          <a:prstGeom prst="rect">
            <a:avLst/>
          </a:prstGeom>
          <a:noFill/>
          <a:ln/>
        </p:spPr>
        <p:txBody>
          <a:bodyPr wrap="square" lIns="0" tIns="0" rIns="0" bIns="0" rtlCol="0" anchor="ctr"/>
          <a:lstStyle/>
          <a:p>
            <a:pPr marL="152400" indent="-152400">
              <a:buSzPct val="100000"/>
              <a:buChar char="•"/>
            </a:pPr>
            <a:r>
              <a:rPr lang="en-US" sz="1150" dirty="0">
                <a:solidFill>
                  <a:srgbClr val="6D6B78"/>
                </a:solidFill>
                <a:latin typeface="Poppins" pitchFamily="34" charset="0"/>
                <a:ea typeface="Poppins" pitchFamily="34" charset="-122"/>
                <a:cs typeface="Poppins" pitchFamily="34" charset="-120"/>
              </a:rPr>
              <a:t>Avoid Overfitting</a:t>
            </a:r>
            <a:endParaRPr lang="en-US" sz="1150" dirty="0"/>
          </a:p>
        </p:txBody>
      </p:sp>
      <p:sp>
        <p:nvSpPr>
          <p:cNvPr id="34" name="Text 27"/>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35" name="Text 28"/>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BrainCircuit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Model Training &amp; Classification</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Teaching the model to distinguish Spam from Ham.</a:t>
            </a:r>
            <a:endParaRPr lang="en-US" sz="1300" dirty="0"/>
          </a:p>
        </p:txBody>
      </p:sp>
      <p:sp>
        <p:nvSpPr>
          <p:cNvPr id="6" name="Shape 3"/>
          <p:cNvSpPr/>
          <p:nvPr/>
        </p:nvSpPr>
        <p:spPr>
          <a:xfrm>
            <a:off x="1188720" y="1883664"/>
            <a:ext cx="292608" cy="292608"/>
          </a:xfrm>
          <a:prstGeom prst="ellipse">
            <a:avLst/>
          </a:prstGeom>
          <a:solidFill>
            <a:srgbClr val="6C5CE7"/>
          </a:solidFill>
          <a:ln/>
        </p:spPr>
        <p:txBody>
          <a:bodyPr/>
          <a:lstStyle/>
          <a:p>
            <a:endParaRPr lang="en-US"/>
          </a:p>
        </p:txBody>
      </p:sp>
      <p:sp>
        <p:nvSpPr>
          <p:cNvPr id="7" name="Text 4"/>
          <p:cNvSpPr/>
          <p:nvPr/>
        </p:nvSpPr>
        <p:spPr>
          <a:xfrm>
            <a:off x="1188720" y="1883664"/>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8" name="Text 5"/>
          <p:cNvSpPr/>
          <p:nvPr/>
        </p:nvSpPr>
        <p:spPr>
          <a:xfrm>
            <a:off x="1645920" y="1828800"/>
            <a:ext cx="9326880" cy="402336"/>
          </a:xfrm>
          <a:prstGeom prst="rect">
            <a:avLst/>
          </a:prstGeom>
          <a:noFill/>
          <a:ln/>
        </p:spPr>
        <p:txBody>
          <a:bodyPr wrap="square" lIns="0" tIns="0" rIns="0" bIns="0" rtlCol="0" anchor="ctr"/>
          <a:lstStyle/>
          <a:p>
            <a:pPr marL="0" indent="0">
              <a:buNone/>
            </a:pPr>
            <a:r>
              <a:rPr lang="en-US" sz="1500" b="1" dirty="0">
                <a:solidFill>
                  <a:srgbClr val="231F44"/>
                </a:solidFill>
                <a:latin typeface="Poppins" pitchFamily="34" charset="0"/>
                <a:ea typeface="Poppins" pitchFamily="34" charset="-122"/>
                <a:cs typeface="Poppins" pitchFamily="34" charset="-120"/>
              </a:rPr>
              <a:t>Features vs Labels</a:t>
            </a:r>
            <a:endParaRPr lang="en-US" sz="1500" dirty="0"/>
          </a:p>
        </p:txBody>
      </p:sp>
      <p:sp>
        <p:nvSpPr>
          <p:cNvPr id="9" name="Shape 6"/>
          <p:cNvSpPr/>
          <p:nvPr/>
        </p:nvSpPr>
        <p:spPr>
          <a:xfrm>
            <a:off x="1188720" y="2450592"/>
            <a:ext cx="292608" cy="292608"/>
          </a:xfrm>
          <a:prstGeom prst="ellipse">
            <a:avLst/>
          </a:prstGeom>
          <a:solidFill>
            <a:srgbClr val="6C5CE7"/>
          </a:solidFill>
          <a:ln/>
        </p:spPr>
        <p:txBody>
          <a:bodyPr/>
          <a:lstStyle/>
          <a:p>
            <a:endParaRPr lang="en-US"/>
          </a:p>
        </p:txBody>
      </p:sp>
      <p:sp>
        <p:nvSpPr>
          <p:cNvPr id="10" name="Text 7"/>
          <p:cNvSpPr/>
          <p:nvPr/>
        </p:nvSpPr>
        <p:spPr>
          <a:xfrm>
            <a:off x="1188720" y="2450592"/>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11" name="Text 8"/>
          <p:cNvSpPr/>
          <p:nvPr/>
        </p:nvSpPr>
        <p:spPr>
          <a:xfrm>
            <a:off x="1645920" y="2395728"/>
            <a:ext cx="9326880" cy="402336"/>
          </a:xfrm>
          <a:prstGeom prst="rect">
            <a:avLst/>
          </a:prstGeom>
          <a:noFill/>
          <a:ln/>
        </p:spPr>
        <p:txBody>
          <a:bodyPr wrap="square" lIns="0" tIns="0" rIns="0" bIns="0" rtlCol="0" anchor="ctr"/>
          <a:lstStyle/>
          <a:p>
            <a:pPr marL="0" indent="0">
              <a:buNone/>
            </a:pPr>
            <a:r>
              <a:rPr lang="en-US" sz="1500" b="1" dirty="0">
                <a:solidFill>
                  <a:srgbClr val="231F44"/>
                </a:solidFill>
                <a:latin typeface="Poppins" pitchFamily="34" charset="0"/>
                <a:ea typeface="Poppins" pitchFamily="34" charset="-122"/>
                <a:cs typeface="Poppins" pitchFamily="34" charset="-120"/>
              </a:rPr>
              <a:t>Training Dataset</a:t>
            </a:r>
            <a:endParaRPr lang="en-US" sz="1500" dirty="0"/>
          </a:p>
        </p:txBody>
      </p:sp>
      <p:sp>
        <p:nvSpPr>
          <p:cNvPr id="12" name="Shape 9"/>
          <p:cNvSpPr/>
          <p:nvPr/>
        </p:nvSpPr>
        <p:spPr>
          <a:xfrm>
            <a:off x="1188720" y="3017520"/>
            <a:ext cx="292608" cy="292608"/>
          </a:xfrm>
          <a:prstGeom prst="ellipse">
            <a:avLst/>
          </a:prstGeom>
          <a:solidFill>
            <a:srgbClr val="6C5CE7"/>
          </a:solidFill>
          <a:ln/>
        </p:spPr>
        <p:txBody>
          <a:bodyPr/>
          <a:lstStyle/>
          <a:p>
            <a:endParaRPr lang="en-US"/>
          </a:p>
        </p:txBody>
      </p:sp>
      <p:sp>
        <p:nvSpPr>
          <p:cNvPr id="13" name="Text 10"/>
          <p:cNvSpPr/>
          <p:nvPr/>
        </p:nvSpPr>
        <p:spPr>
          <a:xfrm>
            <a:off x="1188720" y="3017520"/>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14" name="Text 11"/>
          <p:cNvSpPr/>
          <p:nvPr/>
        </p:nvSpPr>
        <p:spPr>
          <a:xfrm>
            <a:off x="1645920" y="2962656"/>
            <a:ext cx="9326880" cy="402336"/>
          </a:xfrm>
          <a:prstGeom prst="rect">
            <a:avLst/>
          </a:prstGeom>
          <a:noFill/>
          <a:ln/>
        </p:spPr>
        <p:txBody>
          <a:bodyPr wrap="square" lIns="0" tIns="0" rIns="0" bIns="0" rtlCol="0" anchor="ctr"/>
          <a:lstStyle/>
          <a:p>
            <a:pPr marL="0" indent="0">
              <a:buNone/>
            </a:pPr>
            <a:r>
              <a:rPr lang="en-US" sz="1500" b="1" dirty="0">
                <a:solidFill>
                  <a:srgbClr val="231F44"/>
                </a:solidFill>
                <a:latin typeface="Poppins" pitchFamily="34" charset="0"/>
                <a:ea typeface="Poppins" pitchFamily="34" charset="-122"/>
                <a:cs typeface="Poppins" pitchFamily="34" charset="-120"/>
              </a:rPr>
              <a:t>Classification</a:t>
            </a:r>
            <a:endParaRPr lang="en-US" sz="1500" dirty="0"/>
          </a:p>
        </p:txBody>
      </p:sp>
      <p:sp>
        <p:nvSpPr>
          <p:cNvPr id="15" name="Shape 12"/>
          <p:cNvSpPr/>
          <p:nvPr/>
        </p:nvSpPr>
        <p:spPr>
          <a:xfrm>
            <a:off x="1188720" y="3584448"/>
            <a:ext cx="292608" cy="292608"/>
          </a:xfrm>
          <a:prstGeom prst="ellipse">
            <a:avLst/>
          </a:prstGeom>
          <a:solidFill>
            <a:srgbClr val="6C5CE7"/>
          </a:solidFill>
          <a:ln/>
        </p:spPr>
        <p:txBody>
          <a:bodyPr/>
          <a:lstStyle/>
          <a:p>
            <a:endParaRPr lang="en-US"/>
          </a:p>
        </p:txBody>
      </p:sp>
      <p:sp>
        <p:nvSpPr>
          <p:cNvPr id="16" name="Text 13"/>
          <p:cNvSpPr/>
          <p:nvPr/>
        </p:nvSpPr>
        <p:spPr>
          <a:xfrm>
            <a:off x="1188720" y="3584448"/>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17" name="Text 14"/>
          <p:cNvSpPr/>
          <p:nvPr/>
        </p:nvSpPr>
        <p:spPr>
          <a:xfrm>
            <a:off x="1645920" y="3529584"/>
            <a:ext cx="9326880" cy="402336"/>
          </a:xfrm>
          <a:prstGeom prst="rect">
            <a:avLst/>
          </a:prstGeom>
          <a:noFill/>
          <a:ln/>
        </p:spPr>
        <p:txBody>
          <a:bodyPr wrap="square" lIns="0" tIns="0" rIns="0" bIns="0" rtlCol="0" anchor="ctr"/>
          <a:lstStyle/>
          <a:p>
            <a:pPr marL="0" indent="0">
              <a:buNone/>
            </a:pPr>
            <a:r>
              <a:rPr lang="en-US" sz="1500" b="1" dirty="0">
                <a:solidFill>
                  <a:srgbClr val="231F44"/>
                </a:solidFill>
                <a:latin typeface="Poppins" pitchFamily="34" charset="0"/>
                <a:ea typeface="Poppins" pitchFamily="34" charset="-122"/>
                <a:cs typeface="Poppins" pitchFamily="34" charset="-120"/>
              </a:rPr>
              <a:t>Learning Patterns</a:t>
            </a:r>
            <a:endParaRPr lang="en-US" sz="1500" dirty="0"/>
          </a:p>
        </p:txBody>
      </p:sp>
      <p:sp>
        <p:nvSpPr>
          <p:cNvPr id="18" name="Shape 15"/>
          <p:cNvSpPr/>
          <p:nvPr/>
        </p:nvSpPr>
        <p:spPr>
          <a:xfrm>
            <a:off x="1188720" y="4151376"/>
            <a:ext cx="292608" cy="292608"/>
          </a:xfrm>
          <a:prstGeom prst="ellipse">
            <a:avLst/>
          </a:prstGeom>
          <a:solidFill>
            <a:srgbClr val="6C5CE7"/>
          </a:solidFill>
          <a:ln/>
        </p:spPr>
        <p:txBody>
          <a:bodyPr/>
          <a:lstStyle/>
          <a:p>
            <a:endParaRPr lang="en-US"/>
          </a:p>
        </p:txBody>
      </p:sp>
      <p:sp>
        <p:nvSpPr>
          <p:cNvPr id="19" name="Text 16"/>
          <p:cNvSpPr/>
          <p:nvPr/>
        </p:nvSpPr>
        <p:spPr>
          <a:xfrm>
            <a:off x="1188720" y="4151376"/>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20" name="Text 17"/>
          <p:cNvSpPr/>
          <p:nvPr/>
        </p:nvSpPr>
        <p:spPr>
          <a:xfrm>
            <a:off x="1645920" y="4096512"/>
            <a:ext cx="9326880" cy="402336"/>
          </a:xfrm>
          <a:prstGeom prst="rect">
            <a:avLst/>
          </a:prstGeom>
          <a:noFill/>
          <a:ln/>
        </p:spPr>
        <p:txBody>
          <a:bodyPr wrap="square" lIns="0" tIns="0" rIns="0" bIns="0" rtlCol="0" anchor="ctr"/>
          <a:lstStyle/>
          <a:p>
            <a:pPr marL="0" indent="0">
              <a:buNone/>
            </a:pPr>
            <a:r>
              <a:rPr lang="en-US" sz="1500" b="1" dirty="0">
                <a:solidFill>
                  <a:srgbClr val="231F44"/>
                </a:solidFill>
                <a:latin typeface="Poppins" pitchFamily="34" charset="0"/>
                <a:ea typeface="Poppins" pitchFamily="34" charset="-122"/>
                <a:cs typeface="Poppins" pitchFamily="34" charset="-120"/>
              </a:rPr>
              <a:t>Predicting New Emails</a:t>
            </a:r>
            <a:endParaRPr lang="en-US" sz="1500" dirty="0"/>
          </a:p>
        </p:txBody>
      </p:sp>
      <p:sp>
        <p:nvSpPr>
          <p:cNvPr id="21" name="Shape 18"/>
          <p:cNvSpPr/>
          <p:nvPr/>
        </p:nvSpPr>
        <p:spPr>
          <a:xfrm>
            <a:off x="914400" y="5074920"/>
            <a:ext cx="2467280" cy="868680"/>
          </a:xfrm>
          <a:prstGeom prst="roundRect">
            <a:avLst>
              <a:gd name="adj" fmla="val 8421"/>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22" name="Text 19"/>
          <p:cNvSpPr/>
          <p:nvPr/>
        </p:nvSpPr>
        <p:spPr>
          <a:xfrm>
            <a:off x="969264" y="5074920"/>
            <a:ext cx="2357552" cy="868680"/>
          </a:xfrm>
          <a:prstGeom prst="rect">
            <a:avLst/>
          </a:prstGeom>
          <a:noFill/>
          <a:ln/>
        </p:spPr>
        <p:txBody>
          <a:bodyPr wrap="square" lIns="0" tIns="0" rIns="0" bIns="0" rtlCol="0" anchor="ctr"/>
          <a:lstStyle/>
          <a:p>
            <a:pPr marL="0" indent="0" algn="ctr">
              <a:buNone/>
            </a:pPr>
            <a:r>
              <a:rPr lang="en-US" sz="1200" b="1" dirty="0">
                <a:solidFill>
                  <a:srgbClr val="231F44"/>
                </a:solidFill>
                <a:latin typeface="Poppins" pitchFamily="34" charset="0"/>
                <a:ea typeface="Poppins" pitchFamily="34" charset="-122"/>
                <a:cs typeface="Poppins" pitchFamily="34" charset="-120"/>
              </a:rPr>
              <a:t>Emails</a:t>
            </a:r>
            <a:endParaRPr lang="en-US" sz="1200" dirty="0"/>
          </a:p>
        </p:txBody>
      </p:sp>
      <p:sp>
        <p:nvSpPr>
          <p:cNvPr id="23" name="Text 20"/>
          <p:cNvSpPr/>
          <p:nvPr/>
        </p:nvSpPr>
        <p:spPr>
          <a:xfrm>
            <a:off x="3381680" y="5074920"/>
            <a:ext cx="164592" cy="868680"/>
          </a:xfrm>
          <a:prstGeom prst="rect">
            <a:avLst/>
          </a:prstGeom>
          <a:noFill/>
          <a:ln/>
        </p:spPr>
        <p:txBody>
          <a:bodyPr wrap="square" lIns="0" tIns="0" rIns="0" bIns="0" rtlCol="0" anchor="ctr"/>
          <a:lstStyle/>
          <a:p>
            <a:pPr marL="0" indent="0" algn="ctr">
              <a:buNone/>
            </a:pPr>
            <a:r>
              <a:rPr lang="en-US" sz="1500" b="1" dirty="0">
                <a:solidFill>
                  <a:srgbClr val="6C5CE7"/>
                </a:solidFill>
                <a:latin typeface="Poppins" pitchFamily="34" charset="0"/>
                <a:ea typeface="Poppins" pitchFamily="34" charset="-122"/>
                <a:cs typeface="Poppins" pitchFamily="34" charset="-120"/>
              </a:rPr>
              <a:t>→</a:t>
            </a:r>
            <a:endParaRPr lang="en-US" sz="1500" dirty="0"/>
          </a:p>
        </p:txBody>
      </p:sp>
      <p:sp>
        <p:nvSpPr>
          <p:cNvPr id="24" name="Shape 21"/>
          <p:cNvSpPr/>
          <p:nvPr/>
        </p:nvSpPr>
        <p:spPr>
          <a:xfrm>
            <a:off x="3546272" y="5074920"/>
            <a:ext cx="2467280" cy="868680"/>
          </a:xfrm>
          <a:prstGeom prst="roundRect">
            <a:avLst>
              <a:gd name="adj" fmla="val 8421"/>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25" name="Text 22"/>
          <p:cNvSpPr/>
          <p:nvPr/>
        </p:nvSpPr>
        <p:spPr>
          <a:xfrm>
            <a:off x="3601136" y="5074920"/>
            <a:ext cx="2357552" cy="868680"/>
          </a:xfrm>
          <a:prstGeom prst="rect">
            <a:avLst/>
          </a:prstGeom>
          <a:noFill/>
          <a:ln/>
        </p:spPr>
        <p:txBody>
          <a:bodyPr wrap="square" lIns="0" tIns="0" rIns="0" bIns="0" rtlCol="0" anchor="ctr"/>
          <a:lstStyle/>
          <a:p>
            <a:pPr marL="0" indent="0" algn="ctr">
              <a:buNone/>
            </a:pPr>
            <a:r>
              <a:rPr lang="en-US" sz="1200" b="1" dirty="0">
                <a:solidFill>
                  <a:srgbClr val="231F44"/>
                </a:solidFill>
                <a:latin typeface="Poppins" pitchFamily="34" charset="0"/>
                <a:ea typeface="Poppins" pitchFamily="34" charset="-122"/>
                <a:cs typeface="Poppins" pitchFamily="34" charset="-120"/>
              </a:rPr>
              <a:t>Training Dataset</a:t>
            </a:r>
            <a:endParaRPr lang="en-US" sz="1200" dirty="0"/>
          </a:p>
        </p:txBody>
      </p:sp>
      <p:sp>
        <p:nvSpPr>
          <p:cNvPr id="26" name="Text 23"/>
          <p:cNvSpPr/>
          <p:nvPr/>
        </p:nvSpPr>
        <p:spPr>
          <a:xfrm>
            <a:off x="6013552" y="5074920"/>
            <a:ext cx="164592" cy="868680"/>
          </a:xfrm>
          <a:prstGeom prst="rect">
            <a:avLst/>
          </a:prstGeom>
          <a:noFill/>
          <a:ln/>
        </p:spPr>
        <p:txBody>
          <a:bodyPr wrap="square" lIns="0" tIns="0" rIns="0" bIns="0" rtlCol="0" anchor="ctr"/>
          <a:lstStyle/>
          <a:p>
            <a:pPr marL="0" indent="0" algn="ctr">
              <a:buNone/>
            </a:pPr>
            <a:r>
              <a:rPr lang="en-US" sz="1500" b="1" dirty="0">
                <a:solidFill>
                  <a:srgbClr val="6C5CE7"/>
                </a:solidFill>
                <a:latin typeface="Poppins" pitchFamily="34" charset="0"/>
                <a:ea typeface="Poppins" pitchFamily="34" charset="-122"/>
                <a:cs typeface="Poppins" pitchFamily="34" charset="-120"/>
              </a:rPr>
              <a:t>→</a:t>
            </a:r>
            <a:endParaRPr lang="en-US" sz="1500" dirty="0"/>
          </a:p>
        </p:txBody>
      </p:sp>
      <p:sp>
        <p:nvSpPr>
          <p:cNvPr id="27" name="Shape 24"/>
          <p:cNvSpPr/>
          <p:nvPr/>
        </p:nvSpPr>
        <p:spPr>
          <a:xfrm>
            <a:off x="6178144" y="5074920"/>
            <a:ext cx="2467280" cy="868680"/>
          </a:xfrm>
          <a:prstGeom prst="roundRect">
            <a:avLst>
              <a:gd name="adj" fmla="val 8421"/>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28" name="Text 25"/>
          <p:cNvSpPr/>
          <p:nvPr/>
        </p:nvSpPr>
        <p:spPr>
          <a:xfrm>
            <a:off x="6233008" y="5074920"/>
            <a:ext cx="2357552" cy="868680"/>
          </a:xfrm>
          <a:prstGeom prst="rect">
            <a:avLst/>
          </a:prstGeom>
          <a:noFill/>
          <a:ln/>
        </p:spPr>
        <p:txBody>
          <a:bodyPr wrap="square" lIns="0" tIns="0" rIns="0" bIns="0" rtlCol="0" anchor="ctr"/>
          <a:lstStyle/>
          <a:p>
            <a:pPr marL="0" indent="0" algn="ctr">
              <a:buNone/>
            </a:pPr>
            <a:r>
              <a:rPr lang="en-US" sz="1200" b="1" dirty="0">
                <a:solidFill>
                  <a:srgbClr val="231F44"/>
                </a:solidFill>
                <a:latin typeface="Poppins" pitchFamily="34" charset="0"/>
                <a:ea typeface="Poppins" pitchFamily="34" charset="-122"/>
                <a:cs typeface="Poppins" pitchFamily="34" charset="-120"/>
              </a:rPr>
              <a:t>Machine Learning Model</a:t>
            </a:r>
            <a:endParaRPr lang="en-US" sz="1200" dirty="0"/>
          </a:p>
        </p:txBody>
      </p:sp>
      <p:sp>
        <p:nvSpPr>
          <p:cNvPr id="29" name="Text 26"/>
          <p:cNvSpPr/>
          <p:nvPr/>
        </p:nvSpPr>
        <p:spPr>
          <a:xfrm>
            <a:off x="8645423" y="5074920"/>
            <a:ext cx="164592" cy="868680"/>
          </a:xfrm>
          <a:prstGeom prst="rect">
            <a:avLst/>
          </a:prstGeom>
          <a:noFill/>
          <a:ln/>
        </p:spPr>
        <p:txBody>
          <a:bodyPr wrap="square" lIns="0" tIns="0" rIns="0" bIns="0" rtlCol="0" anchor="ctr"/>
          <a:lstStyle/>
          <a:p>
            <a:pPr marL="0" indent="0" algn="ctr">
              <a:buNone/>
            </a:pPr>
            <a:r>
              <a:rPr lang="en-US" sz="1500" b="1" dirty="0">
                <a:solidFill>
                  <a:srgbClr val="6C5CE7"/>
                </a:solidFill>
                <a:latin typeface="Poppins" pitchFamily="34" charset="0"/>
                <a:ea typeface="Poppins" pitchFamily="34" charset="-122"/>
                <a:cs typeface="Poppins" pitchFamily="34" charset="-120"/>
              </a:rPr>
              <a:t>→</a:t>
            </a:r>
            <a:endParaRPr lang="en-US" sz="1500" dirty="0"/>
          </a:p>
        </p:txBody>
      </p:sp>
      <p:sp>
        <p:nvSpPr>
          <p:cNvPr id="30" name="Shape 27"/>
          <p:cNvSpPr/>
          <p:nvPr/>
        </p:nvSpPr>
        <p:spPr>
          <a:xfrm>
            <a:off x="8810015" y="5074920"/>
            <a:ext cx="2467280" cy="868680"/>
          </a:xfrm>
          <a:prstGeom prst="roundRect">
            <a:avLst>
              <a:gd name="adj" fmla="val 8421"/>
            </a:avLst>
          </a:prstGeom>
          <a:solidFill>
            <a:srgbClr val="6C5CE7"/>
          </a:solidFill>
          <a:ln/>
          <a:effectLst>
            <a:outerShdw blurRad="76200" dist="25400" dir="5400000" algn="bl" rotWithShape="0">
              <a:srgbClr val="9B98B8">
                <a:alpha val="20000"/>
              </a:srgbClr>
            </a:outerShdw>
          </a:effectLst>
        </p:spPr>
        <p:txBody>
          <a:bodyPr/>
          <a:lstStyle/>
          <a:p>
            <a:endParaRPr lang="en-US"/>
          </a:p>
        </p:txBody>
      </p:sp>
      <p:sp>
        <p:nvSpPr>
          <p:cNvPr id="31" name="Text 28"/>
          <p:cNvSpPr/>
          <p:nvPr/>
        </p:nvSpPr>
        <p:spPr>
          <a:xfrm>
            <a:off x="8864879" y="5074920"/>
            <a:ext cx="2357552"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Spam / Ham Prediction</a:t>
            </a:r>
            <a:endParaRPr lang="en-US" sz="1200" dirty="0"/>
          </a:p>
        </p:txBody>
      </p:sp>
      <p:sp>
        <p:nvSpPr>
          <p:cNvPr id="32" name="Text 29"/>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33" name="Text 30"/>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Gauge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Model Evaluation &amp; Feature Tuning</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Measuring how good the model is.</a:t>
            </a:r>
            <a:endParaRPr lang="en-US" sz="1300" dirty="0"/>
          </a:p>
        </p:txBody>
      </p:sp>
      <p:sp>
        <p:nvSpPr>
          <p:cNvPr id="6" name="Shape 3"/>
          <p:cNvSpPr/>
          <p:nvPr/>
        </p:nvSpPr>
        <p:spPr>
          <a:xfrm>
            <a:off x="640080" y="1746504"/>
            <a:ext cx="292608" cy="292608"/>
          </a:xfrm>
          <a:prstGeom prst="ellipse">
            <a:avLst/>
          </a:prstGeom>
          <a:solidFill>
            <a:srgbClr val="6C5CE7"/>
          </a:solidFill>
          <a:ln/>
        </p:spPr>
        <p:txBody>
          <a:bodyPr/>
          <a:lstStyle/>
          <a:p>
            <a:endParaRPr lang="en-US"/>
          </a:p>
        </p:txBody>
      </p:sp>
      <p:sp>
        <p:nvSpPr>
          <p:cNvPr id="7" name="Text 4"/>
          <p:cNvSpPr/>
          <p:nvPr/>
        </p:nvSpPr>
        <p:spPr>
          <a:xfrm>
            <a:off x="640080" y="1746504"/>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8" name="Text 5"/>
          <p:cNvSpPr/>
          <p:nvPr/>
        </p:nvSpPr>
        <p:spPr>
          <a:xfrm>
            <a:off x="1097280" y="1691640"/>
            <a:ext cx="4663440" cy="402336"/>
          </a:xfrm>
          <a:prstGeom prst="rect">
            <a:avLst/>
          </a:prstGeom>
          <a:noFill/>
          <a:ln/>
        </p:spPr>
        <p:txBody>
          <a:bodyPr wrap="square" lIns="0" tIns="0" rIns="0" bIns="0" rtlCol="0" anchor="ctr"/>
          <a:lstStyle/>
          <a:p>
            <a:pPr marL="0" indent="0">
              <a:buNone/>
            </a:pPr>
            <a:r>
              <a:rPr lang="en-US" sz="1400" b="1" dirty="0">
                <a:solidFill>
                  <a:srgbClr val="231F44"/>
                </a:solidFill>
                <a:latin typeface="Poppins" pitchFamily="34" charset="0"/>
                <a:ea typeface="Poppins" pitchFamily="34" charset="-122"/>
                <a:cs typeface="Poppins" pitchFamily="34" charset="-120"/>
              </a:rPr>
              <a:t>Train/Test Split</a:t>
            </a:r>
            <a:endParaRPr lang="en-US" sz="1400" dirty="0"/>
          </a:p>
        </p:txBody>
      </p:sp>
      <p:sp>
        <p:nvSpPr>
          <p:cNvPr id="9" name="Shape 6"/>
          <p:cNvSpPr/>
          <p:nvPr/>
        </p:nvSpPr>
        <p:spPr>
          <a:xfrm>
            <a:off x="640080" y="2313432"/>
            <a:ext cx="292608" cy="292608"/>
          </a:xfrm>
          <a:prstGeom prst="ellipse">
            <a:avLst/>
          </a:prstGeom>
          <a:solidFill>
            <a:srgbClr val="6C5CE7"/>
          </a:solidFill>
          <a:ln/>
        </p:spPr>
        <p:txBody>
          <a:bodyPr/>
          <a:lstStyle/>
          <a:p>
            <a:endParaRPr lang="en-US"/>
          </a:p>
        </p:txBody>
      </p:sp>
      <p:sp>
        <p:nvSpPr>
          <p:cNvPr id="10" name="Text 7"/>
          <p:cNvSpPr/>
          <p:nvPr/>
        </p:nvSpPr>
        <p:spPr>
          <a:xfrm>
            <a:off x="640080" y="2313432"/>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11" name="Text 8"/>
          <p:cNvSpPr/>
          <p:nvPr/>
        </p:nvSpPr>
        <p:spPr>
          <a:xfrm>
            <a:off x="1097280" y="2258568"/>
            <a:ext cx="4663440" cy="402336"/>
          </a:xfrm>
          <a:prstGeom prst="rect">
            <a:avLst/>
          </a:prstGeom>
          <a:noFill/>
          <a:ln/>
        </p:spPr>
        <p:txBody>
          <a:bodyPr wrap="square" lIns="0" tIns="0" rIns="0" bIns="0" rtlCol="0" anchor="ctr"/>
          <a:lstStyle/>
          <a:p>
            <a:pPr marL="0" indent="0">
              <a:buNone/>
            </a:pPr>
            <a:r>
              <a:rPr lang="en-US" sz="1400" b="1" dirty="0">
                <a:solidFill>
                  <a:srgbClr val="231F44"/>
                </a:solidFill>
                <a:latin typeface="Poppins" pitchFamily="34" charset="0"/>
                <a:ea typeface="Poppins" pitchFamily="34" charset="-122"/>
                <a:cs typeface="Poppins" pitchFamily="34" charset="-120"/>
              </a:rPr>
              <a:t>Accuracy</a:t>
            </a:r>
            <a:endParaRPr lang="en-US" sz="1400" dirty="0"/>
          </a:p>
        </p:txBody>
      </p:sp>
      <p:sp>
        <p:nvSpPr>
          <p:cNvPr id="12" name="Shape 9"/>
          <p:cNvSpPr/>
          <p:nvPr/>
        </p:nvSpPr>
        <p:spPr>
          <a:xfrm>
            <a:off x="640080" y="2880360"/>
            <a:ext cx="292608" cy="292608"/>
          </a:xfrm>
          <a:prstGeom prst="ellipse">
            <a:avLst/>
          </a:prstGeom>
          <a:solidFill>
            <a:srgbClr val="6C5CE7"/>
          </a:solidFill>
          <a:ln/>
        </p:spPr>
        <p:txBody>
          <a:bodyPr/>
          <a:lstStyle/>
          <a:p>
            <a:endParaRPr lang="en-US"/>
          </a:p>
        </p:txBody>
      </p:sp>
      <p:sp>
        <p:nvSpPr>
          <p:cNvPr id="13" name="Text 10"/>
          <p:cNvSpPr/>
          <p:nvPr/>
        </p:nvSpPr>
        <p:spPr>
          <a:xfrm>
            <a:off x="640080" y="2880360"/>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14" name="Text 11"/>
          <p:cNvSpPr/>
          <p:nvPr/>
        </p:nvSpPr>
        <p:spPr>
          <a:xfrm>
            <a:off x="1097280" y="2825496"/>
            <a:ext cx="4663440" cy="402336"/>
          </a:xfrm>
          <a:prstGeom prst="rect">
            <a:avLst/>
          </a:prstGeom>
          <a:noFill/>
          <a:ln/>
        </p:spPr>
        <p:txBody>
          <a:bodyPr wrap="square" lIns="0" tIns="0" rIns="0" bIns="0" rtlCol="0" anchor="ctr"/>
          <a:lstStyle/>
          <a:p>
            <a:pPr marL="0" indent="0">
              <a:buNone/>
            </a:pPr>
            <a:r>
              <a:rPr lang="en-US" sz="1400" b="1" dirty="0">
                <a:solidFill>
                  <a:srgbClr val="231F44"/>
                </a:solidFill>
                <a:latin typeface="Poppins" pitchFamily="34" charset="0"/>
                <a:ea typeface="Poppins" pitchFamily="34" charset="-122"/>
                <a:cs typeface="Poppins" pitchFamily="34" charset="-120"/>
              </a:rPr>
              <a:t>Precision</a:t>
            </a:r>
            <a:endParaRPr lang="en-US" sz="1400" dirty="0"/>
          </a:p>
        </p:txBody>
      </p:sp>
      <p:sp>
        <p:nvSpPr>
          <p:cNvPr id="15" name="Shape 12"/>
          <p:cNvSpPr/>
          <p:nvPr/>
        </p:nvSpPr>
        <p:spPr>
          <a:xfrm>
            <a:off x="640080" y="3447288"/>
            <a:ext cx="292608" cy="292608"/>
          </a:xfrm>
          <a:prstGeom prst="ellipse">
            <a:avLst/>
          </a:prstGeom>
          <a:solidFill>
            <a:srgbClr val="6C5CE7"/>
          </a:solidFill>
          <a:ln/>
        </p:spPr>
        <p:txBody>
          <a:bodyPr/>
          <a:lstStyle/>
          <a:p>
            <a:endParaRPr lang="en-US"/>
          </a:p>
        </p:txBody>
      </p:sp>
      <p:sp>
        <p:nvSpPr>
          <p:cNvPr id="16" name="Text 13"/>
          <p:cNvSpPr/>
          <p:nvPr/>
        </p:nvSpPr>
        <p:spPr>
          <a:xfrm>
            <a:off x="640080" y="3447288"/>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17" name="Text 14"/>
          <p:cNvSpPr/>
          <p:nvPr/>
        </p:nvSpPr>
        <p:spPr>
          <a:xfrm>
            <a:off x="1097280" y="3392424"/>
            <a:ext cx="4663440" cy="402336"/>
          </a:xfrm>
          <a:prstGeom prst="rect">
            <a:avLst/>
          </a:prstGeom>
          <a:noFill/>
          <a:ln/>
        </p:spPr>
        <p:txBody>
          <a:bodyPr wrap="square" lIns="0" tIns="0" rIns="0" bIns="0" rtlCol="0" anchor="ctr"/>
          <a:lstStyle/>
          <a:p>
            <a:pPr marL="0" indent="0">
              <a:buNone/>
            </a:pPr>
            <a:r>
              <a:rPr lang="en-US" sz="1400" b="1" dirty="0">
                <a:solidFill>
                  <a:srgbClr val="231F44"/>
                </a:solidFill>
                <a:latin typeface="Poppins" pitchFamily="34" charset="0"/>
                <a:ea typeface="Poppins" pitchFamily="34" charset="-122"/>
                <a:cs typeface="Poppins" pitchFamily="34" charset="-120"/>
              </a:rPr>
              <a:t>Recall</a:t>
            </a:r>
            <a:endParaRPr lang="en-US" sz="1400" dirty="0"/>
          </a:p>
        </p:txBody>
      </p:sp>
      <p:sp>
        <p:nvSpPr>
          <p:cNvPr id="18" name="Shape 15"/>
          <p:cNvSpPr/>
          <p:nvPr/>
        </p:nvSpPr>
        <p:spPr>
          <a:xfrm>
            <a:off x="640080" y="4014216"/>
            <a:ext cx="292608" cy="292608"/>
          </a:xfrm>
          <a:prstGeom prst="ellipse">
            <a:avLst/>
          </a:prstGeom>
          <a:solidFill>
            <a:srgbClr val="6C5CE7"/>
          </a:solidFill>
          <a:ln/>
        </p:spPr>
        <p:txBody>
          <a:bodyPr/>
          <a:lstStyle/>
          <a:p>
            <a:endParaRPr lang="en-US"/>
          </a:p>
        </p:txBody>
      </p:sp>
      <p:sp>
        <p:nvSpPr>
          <p:cNvPr id="19" name="Text 16"/>
          <p:cNvSpPr/>
          <p:nvPr/>
        </p:nvSpPr>
        <p:spPr>
          <a:xfrm>
            <a:off x="640080" y="4014216"/>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20" name="Text 17"/>
          <p:cNvSpPr/>
          <p:nvPr/>
        </p:nvSpPr>
        <p:spPr>
          <a:xfrm>
            <a:off x="1097280" y="3959352"/>
            <a:ext cx="4663440" cy="402336"/>
          </a:xfrm>
          <a:prstGeom prst="rect">
            <a:avLst/>
          </a:prstGeom>
          <a:noFill/>
          <a:ln/>
        </p:spPr>
        <p:txBody>
          <a:bodyPr wrap="square" lIns="0" tIns="0" rIns="0" bIns="0" rtlCol="0" anchor="ctr"/>
          <a:lstStyle/>
          <a:p>
            <a:pPr marL="0" indent="0">
              <a:buNone/>
            </a:pPr>
            <a:r>
              <a:rPr lang="en-US" sz="1400" b="1" dirty="0">
                <a:solidFill>
                  <a:srgbClr val="231F44"/>
                </a:solidFill>
                <a:latin typeface="Poppins" pitchFamily="34" charset="0"/>
                <a:ea typeface="Poppins" pitchFamily="34" charset="-122"/>
                <a:cs typeface="Poppins" pitchFamily="34" charset="-120"/>
              </a:rPr>
              <a:t>F1 Score</a:t>
            </a:r>
            <a:endParaRPr lang="en-US" sz="1400" dirty="0"/>
          </a:p>
        </p:txBody>
      </p:sp>
      <p:sp>
        <p:nvSpPr>
          <p:cNvPr id="21" name="Shape 18"/>
          <p:cNvSpPr/>
          <p:nvPr/>
        </p:nvSpPr>
        <p:spPr>
          <a:xfrm>
            <a:off x="6309360" y="1746504"/>
            <a:ext cx="292608" cy="292608"/>
          </a:xfrm>
          <a:prstGeom prst="ellipse">
            <a:avLst/>
          </a:prstGeom>
          <a:solidFill>
            <a:srgbClr val="6C5CE7"/>
          </a:solidFill>
          <a:ln/>
        </p:spPr>
        <p:txBody>
          <a:bodyPr/>
          <a:lstStyle/>
          <a:p>
            <a:endParaRPr lang="en-US"/>
          </a:p>
        </p:txBody>
      </p:sp>
      <p:sp>
        <p:nvSpPr>
          <p:cNvPr id="22" name="Text 19"/>
          <p:cNvSpPr/>
          <p:nvPr/>
        </p:nvSpPr>
        <p:spPr>
          <a:xfrm>
            <a:off x="6309360" y="1746504"/>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23" name="Text 20"/>
          <p:cNvSpPr/>
          <p:nvPr/>
        </p:nvSpPr>
        <p:spPr>
          <a:xfrm>
            <a:off x="6766560" y="1691640"/>
            <a:ext cx="4663440" cy="402336"/>
          </a:xfrm>
          <a:prstGeom prst="rect">
            <a:avLst/>
          </a:prstGeom>
          <a:noFill/>
          <a:ln/>
        </p:spPr>
        <p:txBody>
          <a:bodyPr wrap="square" lIns="0" tIns="0" rIns="0" bIns="0" rtlCol="0" anchor="ctr"/>
          <a:lstStyle/>
          <a:p>
            <a:pPr marL="0" indent="0">
              <a:buNone/>
            </a:pPr>
            <a:r>
              <a:rPr lang="en-US" sz="1400" b="1" dirty="0">
                <a:solidFill>
                  <a:srgbClr val="231F44"/>
                </a:solidFill>
                <a:latin typeface="Poppins" pitchFamily="34" charset="0"/>
                <a:ea typeface="Poppins" pitchFamily="34" charset="-122"/>
                <a:cs typeface="Poppins" pitchFamily="34" charset="-120"/>
              </a:rPr>
              <a:t>Feature Selection</a:t>
            </a:r>
            <a:endParaRPr lang="en-US" sz="1400" dirty="0"/>
          </a:p>
        </p:txBody>
      </p:sp>
      <p:sp>
        <p:nvSpPr>
          <p:cNvPr id="24" name="Shape 21"/>
          <p:cNvSpPr/>
          <p:nvPr/>
        </p:nvSpPr>
        <p:spPr>
          <a:xfrm>
            <a:off x="6309360" y="2313432"/>
            <a:ext cx="292608" cy="292608"/>
          </a:xfrm>
          <a:prstGeom prst="ellipse">
            <a:avLst/>
          </a:prstGeom>
          <a:solidFill>
            <a:srgbClr val="6C5CE7"/>
          </a:solidFill>
          <a:ln/>
        </p:spPr>
        <p:txBody>
          <a:bodyPr/>
          <a:lstStyle/>
          <a:p>
            <a:endParaRPr lang="en-US"/>
          </a:p>
        </p:txBody>
      </p:sp>
      <p:sp>
        <p:nvSpPr>
          <p:cNvPr id="25" name="Text 22"/>
          <p:cNvSpPr/>
          <p:nvPr/>
        </p:nvSpPr>
        <p:spPr>
          <a:xfrm>
            <a:off x="6309360" y="2313432"/>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26" name="Text 23"/>
          <p:cNvSpPr/>
          <p:nvPr/>
        </p:nvSpPr>
        <p:spPr>
          <a:xfrm>
            <a:off x="6766560" y="2258568"/>
            <a:ext cx="4663440" cy="402336"/>
          </a:xfrm>
          <a:prstGeom prst="rect">
            <a:avLst/>
          </a:prstGeom>
          <a:noFill/>
          <a:ln/>
        </p:spPr>
        <p:txBody>
          <a:bodyPr wrap="square" lIns="0" tIns="0" rIns="0" bIns="0" rtlCol="0" anchor="ctr"/>
          <a:lstStyle/>
          <a:p>
            <a:pPr marL="0" indent="0">
              <a:buNone/>
            </a:pPr>
            <a:r>
              <a:rPr lang="en-US" sz="1400" b="1" dirty="0">
                <a:solidFill>
                  <a:srgbClr val="231F44"/>
                </a:solidFill>
                <a:latin typeface="Poppins" pitchFamily="34" charset="0"/>
                <a:ea typeface="Poppins" pitchFamily="34" charset="-122"/>
                <a:cs typeface="Poppins" pitchFamily="34" charset="-120"/>
              </a:rPr>
              <a:t>Feature Engineering</a:t>
            </a:r>
            <a:endParaRPr lang="en-US" sz="1400" dirty="0"/>
          </a:p>
        </p:txBody>
      </p:sp>
      <p:sp>
        <p:nvSpPr>
          <p:cNvPr id="27" name="Text 24"/>
          <p:cNvSpPr/>
          <p:nvPr/>
        </p:nvSpPr>
        <p:spPr>
          <a:xfrm>
            <a:off x="640080" y="1371600"/>
            <a:ext cx="5120640" cy="274320"/>
          </a:xfrm>
          <a:prstGeom prst="rect">
            <a:avLst/>
          </a:prstGeom>
          <a:noFill/>
          <a:ln/>
        </p:spPr>
        <p:txBody>
          <a:bodyPr wrap="square" lIns="0" tIns="0" rIns="0" bIns="0" rtlCol="0" anchor="ctr"/>
          <a:lstStyle/>
          <a:p>
            <a:pPr marL="0" indent="0">
              <a:buNone/>
            </a:pPr>
            <a:r>
              <a:rPr lang="en-US" sz="1050" b="1" kern="0" spc="100" dirty="0">
                <a:solidFill>
                  <a:srgbClr val="6C5CE7"/>
                </a:solidFill>
                <a:latin typeface="Poppins" pitchFamily="34" charset="0"/>
                <a:ea typeface="Poppins" pitchFamily="34" charset="-122"/>
                <a:cs typeface="Poppins" pitchFamily="34" charset="-120"/>
              </a:rPr>
              <a:t>EVALUATION METRICS</a:t>
            </a:r>
            <a:endParaRPr lang="en-US" sz="1050" dirty="0"/>
          </a:p>
        </p:txBody>
      </p:sp>
      <p:sp>
        <p:nvSpPr>
          <p:cNvPr id="28" name="Text 25"/>
          <p:cNvSpPr/>
          <p:nvPr/>
        </p:nvSpPr>
        <p:spPr>
          <a:xfrm>
            <a:off x="6309360" y="1371600"/>
            <a:ext cx="5120640" cy="274320"/>
          </a:xfrm>
          <a:prstGeom prst="rect">
            <a:avLst/>
          </a:prstGeom>
          <a:noFill/>
          <a:ln/>
        </p:spPr>
        <p:txBody>
          <a:bodyPr wrap="square" lIns="0" tIns="0" rIns="0" bIns="0" rtlCol="0" anchor="ctr"/>
          <a:lstStyle/>
          <a:p>
            <a:pPr marL="0" indent="0">
              <a:buNone/>
            </a:pPr>
            <a:r>
              <a:rPr lang="en-US" sz="1050" b="1" kern="0" spc="100" dirty="0">
                <a:solidFill>
                  <a:srgbClr val="6C5CE7"/>
                </a:solidFill>
                <a:latin typeface="Poppins" pitchFamily="34" charset="0"/>
                <a:ea typeface="Poppins" pitchFamily="34" charset="-122"/>
                <a:cs typeface="Poppins" pitchFamily="34" charset="-120"/>
              </a:rPr>
              <a:t>FEATURE TUNING</a:t>
            </a:r>
            <a:endParaRPr lang="en-US" sz="1050" dirty="0"/>
          </a:p>
        </p:txBody>
      </p:sp>
      <p:sp>
        <p:nvSpPr>
          <p:cNvPr id="29" name="Shape 26"/>
          <p:cNvSpPr/>
          <p:nvPr/>
        </p:nvSpPr>
        <p:spPr>
          <a:xfrm>
            <a:off x="6309360" y="2962656"/>
            <a:ext cx="5120640" cy="1563624"/>
          </a:xfrm>
          <a:prstGeom prst="roundRect">
            <a:avLst>
              <a:gd name="adj" fmla="val 5848"/>
            </a:avLst>
          </a:prstGeom>
          <a:solidFill>
            <a:srgbClr val="EDEBF9"/>
          </a:solidFill>
          <a:ln/>
        </p:spPr>
        <p:txBody>
          <a:bodyPr/>
          <a:lstStyle/>
          <a:p>
            <a:endParaRPr lang="en-US"/>
          </a:p>
        </p:txBody>
      </p:sp>
      <p:sp>
        <p:nvSpPr>
          <p:cNvPr id="30" name="Text 27"/>
          <p:cNvSpPr/>
          <p:nvPr/>
        </p:nvSpPr>
        <p:spPr>
          <a:xfrm>
            <a:off x="6537960" y="2962656"/>
            <a:ext cx="4663440" cy="1563624"/>
          </a:xfrm>
          <a:prstGeom prst="rect">
            <a:avLst/>
          </a:prstGeom>
          <a:noFill/>
          <a:ln/>
        </p:spPr>
        <p:txBody>
          <a:bodyPr wrap="square" lIns="0" tIns="0" rIns="0" bIns="0" rtlCol="0" anchor="ctr"/>
          <a:lstStyle/>
          <a:p>
            <a:pPr marL="0" indent="0">
              <a:buNone/>
            </a:pPr>
            <a:r>
              <a:rPr lang="en-US" sz="1250" i="1" dirty="0">
                <a:solidFill>
                  <a:srgbClr val="231F44"/>
                </a:solidFill>
                <a:latin typeface="Poppins" pitchFamily="34" charset="0"/>
                <a:ea typeface="Poppins" pitchFamily="34" charset="-122"/>
                <a:cs typeface="Poppins" pitchFamily="34" charset="-120"/>
              </a:rPr>
              <a:t>Well-chosen features often improve accuracy more than switching to a different algorithm.</a:t>
            </a:r>
            <a:endParaRPr lang="en-US" sz="1250" dirty="0"/>
          </a:p>
        </p:txBody>
      </p:sp>
      <p:sp>
        <p:nvSpPr>
          <p:cNvPr id="31" name="Shape 28"/>
          <p:cNvSpPr/>
          <p:nvPr/>
        </p:nvSpPr>
        <p:spPr>
          <a:xfrm>
            <a:off x="1280160" y="4892040"/>
            <a:ext cx="9628632" cy="1188720"/>
          </a:xfrm>
          <a:prstGeom prst="roundRect">
            <a:avLst>
              <a:gd name="adj" fmla="val 7692"/>
            </a:avLst>
          </a:prstGeom>
          <a:solidFill>
            <a:srgbClr val="231F44"/>
          </a:solidFill>
          <a:ln/>
          <a:effectLst>
            <a:outerShdw blurRad="101600" dist="25400" dir="5400000" algn="bl" rotWithShape="0">
              <a:srgbClr val="9B98B8">
                <a:alpha val="25000"/>
              </a:srgbClr>
            </a:outerShdw>
          </a:effectLst>
        </p:spPr>
        <p:txBody>
          <a:bodyPr/>
          <a:lstStyle/>
          <a:p>
            <a:endParaRPr lang="en-US"/>
          </a:p>
        </p:txBody>
      </p:sp>
      <p:sp>
        <p:nvSpPr>
          <p:cNvPr id="32" name="Text 29"/>
          <p:cNvSpPr/>
          <p:nvPr/>
        </p:nvSpPr>
        <p:spPr>
          <a:xfrm>
            <a:off x="1737360" y="4892040"/>
            <a:ext cx="8714232" cy="1188720"/>
          </a:xfrm>
          <a:prstGeom prst="rect">
            <a:avLst/>
          </a:prstGeom>
          <a:noFill/>
          <a:ln/>
        </p:spPr>
        <p:txBody>
          <a:bodyPr wrap="square" lIns="0" tIns="0" rIns="0" bIns="0" rtlCol="0" anchor="ctr"/>
          <a:lstStyle/>
          <a:p>
            <a:pPr marL="0" indent="0" algn="ctr">
              <a:buNone/>
            </a:pPr>
            <a:r>
              <a:rPr lang="en-US" sz="1500" dirty="0">
                <a:solidFill>
                  <a:srgbClr val="FFFFFF"/>
                </a:solidFill>
                <a:latin typeface="Lora" pitchFamily="34" charset="0"/>
                <a:ea typeface="Lora" pitchFamily="34" charset="-122"/>
                <a:cs typeface="Lora" pitchFamily="34" charset="-120"/>
              </a:rPr>
              <a:t>A reliable model performs well on unseen emails, not only on the training data.</a:t>
            </a:r>
            <a:endParaRPr lang="en-US" sz="1500" dirty="0"/>
          </a:p>
        </p:txBody>
      </p:sp>
      <p:sp>
        <p:nvSpPr>
          <p:cNvPr id="33" name="Text 30"/>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34" name="Text 31"/>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TrendingUp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Accuracy Improvement &amp; Comparison</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Building a better Machine Learning model.</a:t>
            </a:r>
            <a:endParaRPr lang="en-US" sz="1300" dirty="0"/>
          </a:p>
        </p:txBody>
      </p:sp>
      <p:sp>
        <p:nvSpPr>
          <p:cNvPr id="6" name="Shape 3"/>
          <p:cNvSpPr/>
          <p:nvPr/>
        </p:nvSpPr>
        <p:spPr>
          <a:xfrm>
            <a:off x="2651760" y="1883664"/>
            <a:ext cx="292608" cy="292608"/>
          </a:xfrm>
          <a:prstGeom prst="ellipse">
            <a:avLst/>
          </a:prstGeom>
          <a:solidFill>
            <a:srgbClr val="6C5CE7"/>
          </a:solidFill>
          <a:ln/>
        </p:spPr>
        <p:txBody>
          <a:bodyPr/>
          <a:lstStyle/>
          <a:p>
            <a:endParaRPr lang="en-US"/>
          </a:p>
        </p:txBody>
      </p:sp>
      <p:sp>
        <p:nvSpPr>
          <p:cNvPr id="7" name="Text 4"/>
          <p:cNvSpPr/>
          <p:nvPr/>
        </p:nvSpPr>
        <p:spPr>
          <a:xfrm>
            <a:off x="2651760" y="1883664"/>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8" name="Text 5"/>
          <p:cNvSpPr/>
          <p:nvPr/>
        </p:nvSpPr>
        <p:spPr>
          <a:xfrm>
            <a:off x="3108960" y="1828800"/>
            <a:ext cx="6400800" cy="402336"/>
          </a:xfrm>
          <a:prstGeom prst="rect">
            <a:avLst/>
          </a:prstGeom>
          <a:noFill/>
          <a:ln/>
        </p:spPr>
        <p:txBody>
          <a:bodyPr wrap="square" lIns="0" tIns="0" rIns="0" bIns="0" rtlCol="0" anchor="ctr"/>
          <a:lstStyle/>
          <a:p>
            <a:pPr marL="0" indent="0">
              <a:buNone/>
            </a:pPr>
            <a:r>
              <a:rPr lang="en-US" sz="1600" b="1" dirty="0">
                <a:solidFill>
                  <a:srgbClr val="231F44"/>
                </a:solidFill>
                <a:latin typeface="Poppins" pitchFamily="34" charset="0"/>
                <a:ea typeface="Poppins" pitchFamily="34" charset="-122"/>
                <a:cs typeface="Poppins" pitchFamily="34" charset="-120"/>
              </a:rPr>
              <a:t>Compare Multiple Models</a:t>
            </a:r>
            <a:endParaRPr lang="en-US" sz="1600" dirty="0"/>
          </a:p>
        </p:txBody>
      </p:sp>
      <p:sp>
        <p:nvSpPr>
          <p:cNvPr id="9" name="Shape 6"/>
          <p:cNvSpPr/>
          <p:nvPr/>
        </p:nvSpPr>
        <p:spPr>
          <a:xfrm>
            <a:off x="2651760" y="2468880"/>
            <a:ext cx="292608" cy="292608"/>
          </a:xfrm>
          <a:prstGeom prst="ellipse">
            <a:avLst/>
          </a:prstGeom>
          <a:solidFill>
            <a:srgbClr val="6C5CE7"/>
          </a:solidFill>
          <a:ln/>
        </p:spPr>
        <p:txBody>
          <a:bodyPr/>
          <a:lstStyle/>
          <a:p>
            <a:endParaRPr lang="en-US"/>
          </a:p>
        </p:txBody>
      </p:sp>
      <p:sp>
        <p:nvSpPr>
          <p:cNvPr id="10" name="Text 7"/>
          <p:cNvSpPr/>
          <p:nvPr/>
        </p:nvSpPr>
        <p:spPr>
          <a:xfrm>
            <a:off x="2651760" y="2468880"/>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11" name="Text 8"/>
          <p:cNvSpPr/>
          <p:nvPr/>
        </p:nvSpPr>
        <p:spPr>
          <a:xfrm>
            <a:off x="3108960" y="2414016"/>
            <a:ext cx="6400800" cy="402336"/>
          </a:xfrm>
          <a:prstGeom prst="rect">
            <a:avLst/>
          </a:prstGeom>
          <a:noFill/>
          <a:ln/>
        </p:spPr>
        <p:txBody>
          <a:bodyPr wrap="square" lIns="0" tIns="0" rIns="0" bIns="0" rtlCol="0" anchor="ctr"/>
          <a:lstStyle/>
          <a:p>
            <a:pPr marL="0" indent="0">
              <a:buNone/>
            </a:pPr>
            <a:r>
              <a:rPr lang="en-US" sz="1600" b="1" dirty="0">
                <a:solidFill>
                  <a:srgbClr val="231F44"/>
                </a:solidFill>
                <a:latin typeface="Poppins" pitchFamily="34" charset="0"/>
                <a:ea typeface="Poppins" pitchFamily="34" charset="-122"/>
                <a:cs typeface="Poppins" pitchFamily="34" charset="-120"/>
              </a:rPr>
              <a:t>Hyperparameter Tuning</a:t>
            </a:r>
            <a:endParaRPr lang="en-US" sz="1600" dirty="0"/>
          </a:p>
        </p:txBody>
      </p:sp>
      <p:sp>
        <p:nvSpPr>
          <p:cNvPr id="12" name="Shape 9"/>
          <p:cNvSpPr/>
          <p:nvPr/>
        </p:nvSpPr>
        <p:spPr>
          <a:xfrm>
            <a:off x="2651760" y="3054096"/>
            <a:ext cx="292608" cy="292608"/>
          </a:xfrm>
          <a:prstGeom prst="ellipse">
            <a:avLst/>
          </a:prstGeom>
          <a:solidFill>
            <a:srgbClr val="6C5CE7"/>
          </a:solidFill>
          <a:ln/>
        </p:spPr>
        <p:txBody>
          <a:bodyPr/>
          <a:lstStyle/>
          <a:p>
            <a:endParaRPr lang="en-US"/>
          </a:p>
        </p:txBody>
      </p:sp>
      <p:sp>
        <p:nvSpPr>
          <p:cNvPr id="13" name="Text 10"/>
          <p:cNvSpPr/>
          <p:nvPr/>
        </p:nvSpPr>
        <p:spPr>
          <a:xfrm>
            <a:off x="2651760" y="3054096"/>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14" name="Text 11"/>
          <p:cNvSpPr/>
          <p:nvPr/>
        </p:nvSpPr>
        <p:spPr>
          <a:xfrm>
            <a:off x="3108960" y="2999232"/>
            <a:ext cx="6400800" cy="402336"/>
          </a:xfrm>
          <a:prstGeom prst="rect">
            <a:avLst/>
          </a:prstGeom>
          <a:noFill/>
          <a:ln/>
        </p:spPr>
        <p:txBody>
          <a:bodyPr wrap="square" lIns="0" tIns="0" rIns="0" bIns="0" rtlCol="0" anchor="ctr"/>
          <a:lstStyle/>
          <a:p>
            <a:pPr marL="0" indent="0">
              <a:buNone/>
            </a:pPr>
            <a:r>
              <a:rPr lang="en-US" sz="1600" b="1" dirty="0">
                <a:solidFill>
                  <a:srgbClr val="231F44"/>
                </a:solidFill>
                <a:latin typeface="Poppins" pitchFamily="34" charset="0"/>
                <a:ea typeface="Poppins" pitchFamily="34" charset="-122"/>
                <a:cs typeface="Poppins" pitchFamily="34" charset="-120"/>
              </a:rPr>
              <a:t>Cross Validation</a:t>
            </a:r>
            <a:endParaRPr lang="en-US" sz="1600" dirty="0"/>
          </a:p>
        </p:txBody>
      </p:sp>
      <p:sp>
        <p:nvSpPr>
          <p:cNvPr id="15" name="Shape 12"/>
          <p:cNvSpPr/>
          <p:nvPr/>
        </p:nvSpPr>
        <p:spPr>
          <a:xfrm>
            <a:off x="2651760" y="3639312"/>
            <a:ext cx="292608" cy="292608"/>
          </a:xfrm>
          <a:prstGeom prst="ellipse">
            <a:avLst/>
          </a:prstGeom>
          <a:solidFill>
            <a:srgbClr val="6C5CE7"/>
          </a:solidFill>
          <a:ln/>
        </p:spPr>
        <p:txBody>
          <a:bodyPr/>
          <a:lstStyle/>
          <a:p>
            <a:endParaRPr lang="en-US"/>
          </a:p>
        </p:txBody>
      </p:sp>
      <p:sp>
        <p:nvSpPr>
          <p:cNvPr id="16" name="Text 13"/>
          <p:cNvSpPr/>
          <p:nvPr/>
        </p:nvSpPr>
        <p:spPr>
          <a:xfrm>
            <a:off x="2651760" y="3639312"/>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17" name="Text 14"/>
          <p:cNvSpPr/>
          <p:nvPr/>
        </p:nvSpPr>
        <p:spPr>
          <a:xfrm>
            <a:off x="3108960" y="3584448"/>
            <a:ext cx="6400800" cy="402336"/>
          </a:xfrm>
          <a:prstGeom prst="rect">
            <a:avLst/>
          </a:prstGeom>
          <a:noFill/>
          <a:ln/>
        </p:spPr>
        <p:txBody>
          <a:bodyPr wrap="square" lIns="0" tIns="0" rIns="0" bIns="0" rtlCol="0" anchor="ctr"/>
          <a:lstStyle/>
          <a:p>
            <a:pPr marL="0" indent="0">
              <a:buNone/>
            </a:pPr>
            <a:r>
              <a:rPr lang="en-US" sz="1600" b="1" dirty="0">
                <a:solidFill>
                  <a:srgbClr val="231F44"/>
                </a:solidFill>
                <a:latin typeface="Poppins" pitchFamily="34" charset="0"/>
                <a:ea typeface="Poppins" pitchFamily="34" charset="-122"/>
                <a:cs typeface="Poppins" pitchFamily="34" charset="-120"/>
              </a:rPr>
              <a:t>Reduce Overfitting</a:t>
            </a:r>
            <a:endParaRPr lang="en-US" sz="1600" dirty="0"/>
          </a:p>
        </p:txBody>
      </p:sp>
      <p:sp>
        <p:nvSpPr>
          <p:cNvPr id="18" name="Shape 15"/>
          <p:cNvSpPr/>
          <p:nvPr/>
        </p:nvSpPr>
        <p:spPr>
          <a:xfrm>
            <a:off x="2651760" y="4224528"/>
            <a:ext cx="292608" cy="292608"/>
          </a:xfrm>
          <a:prstGeom prst="ellipse">
            <a:avLst/>
          </a:prstGeom>
          <a:solidFill>
            <a:srgbClr val="6C5CE7"/>
          </a:solidFill>
          <a:ln/>
        </p:spPr>
        <p:txBody>
          <a:bodyPr/>
          <a:lstStyle/>
          <a:p>
            <a:endParaRPr lang="en-US"/>
          </a:p>
        </p:txBody>
      </p:sp>
      <p:sp>
        <p:nvSpPr>
          <p:cNvPr id="19" name="Text 16"/>
          <p:cNvSpPr/>
          <p:nvPr/>
        </p:nvSpPr>
        <p:spPr>
          <a:xfrm>
            <a:off x="2651760" y="4224528"/>
            <a:ext cx="292608"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a:t>
            </a:r>
            <a:endParaRPr lang="en-US" sz="1500" dirty="0"/>
          </a:p>
        </p:txBody>
      </p:sp>
      <p:sp>
        <p:nvSpPr>
          <p:cNvPr id="20" name="Text 17"/>
          <p:cNvSpPr/>
          <p:nvPr/>
        </p:nvSpPr>
        <p:spPr>
          <a:xfrm>
            <a:off x="3108960" y="4169664"/>
            <a:ext cx="6400800" cy="402336"/>
          </a:xfrm>
          <a:prstGeom prst="rect">
            <a:avLst/>
          </a:prstGeom>
          <a:noFill/>
          <a:ln/>
        </p:spPr>
        <p:txBody>
          <a:bodyPr wrap="square" lIns="0" tIns="0" rIns="0" bIns="0" rtlCol="0" anchor="ctr"/>
          <a:lstStyle/>
          <a:p>
            <a:pPr marL="0" indent="0">
              <a:buNone/>
            </a:pPr>
            <a:r>
              <a:rPr lang="en-US" sz="1600" b="1" dirty="0">
                <a:solidFill>
                  <a:srgbClr val="231F44"/>
                </a:solidFill>
                <a:latin typeface="Poppins" pitchFamily="34" charset="0"/>
                <a:ea typeface="Poppins" pitchFamily="34" charset="-122"/>
                <a:cs typeface="Poppins" pitchFamily="34" charset="-120"/>
              </a:rPr>
              <a:t>Improve Generalization</a:t>
            </a:r>
            <a:endParaRPr lang="en-US" sz="1600" dirty="0"/>
          </a:p>
        </p:txBody>
      </p:sp>
      <p:sp>
        <p:nvSpPr>
          <p:cNvPr id="21" name="Shape 18"/>
          <p:cNvSpPr/>
          <p:nvPr/>
        </p:nvSpPr>
        <p:spPr>
          <a:xfrm>
            <a:off x="1280160" y="5074920"/>
            <a:ext cx="9628632" cy="1188720"/>
          </a:xfrm>
          <a:prstGeom prst="roundRect">
            <a:avLst>
              <a:gd name="adj" fmla="val 7692"/>
            </a:avLst>
          </a:prstGeom>
          <a:solidFill>
            <a:srgbClr val="231F44"/>
          </a:solidFill>
          <a:ln/>
          <a:effectLst>
            <a:outerShdw blurRad="101600" dist="25400" dir="5400000" algn="bl" rotWithShape="0">
              <a:srgbClr val="9B98B8">
                <a:alpha val="25000"/>
              </a:srgbClr>
            </a:outerShdw>
          </a:effectLst>
        </p:spPr>
        <p:txBody>
          <a:bodyPr/>
          <a:lstStyle/>
          <a:p>
            <a:endParaRPr lang="en-US"/>
          </a:p>
        </p:txBody>
      </p:sp>
      <p:sp>
        <p:nvSpPr>
          <p:cNvPr id="22" name="Text 19"/>
          <p:cNvSpPr/>
          <p:nvPr/>
        </p:nvSpPr>
        <p:spPr>
          <a:xfrm>
            <a:off x="1737360" y="5074920"/>
            <a:ext cx="8714232" cy="1188720"/>
          </a:xfrm>
          <a:prstGeom prst="rect">
            <a:avLst/>
          </a:prstGeom>
          <a:noFill/>
          <a:ln/>
        </p:spPr>
        <p:txBody>
          <a:bodyPr wrap="square" lIns="0" tIns="0" rIns="0" bIns="0" rtlCol="0" anchor="ctr"/>
          <a:lstStyle/>
          <a:p>
            <a:pPr marL="0" indent="0" algn="ctr">
              <a:buNone/>
            </a:pPr>
            <a:r>
              <a:rPr lang="en-US" sz="1500" dirty="0">
                <a:solidFill>
                  <a:srgbClr val="FFFFFF"/>
                </a:solidFill>
                <a:latin typeface="Lora" pitchFamily="34" charset="0"/>
                <a:ea typeface="Lora" pitchFamily="34" charset="-122"/>
                <a:cs typeface="Lora" pitchFamily="34" charset="-120"/>
              </a:rPr>
              <a:t>The goal is not only higher accuracy, but also better generalization on new data.</a:t>
            </a:r>
            <a:endParaRPr lang="en-US" sz="1500" dirty="0"/>
          </a:p>
        </p:txBody>
      </p:sp>
      <p:sp>
        <p:nvSpPr>
          <p:cNvPr id="23" name="Text 20"/>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24" name="Text 21"/>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FileText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Project Overview</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What we're building and why</a:t>
            </a:r>
            <a:endParaRPr lang="en-US" sz="1300" dirty="0"/>
          </a:p>
        </p:txBody>
      </p:sp>
      <p:sp>
        <p:nvSpPr>
          <p:cNvPr id="6" name="Shape 3"/>
          <p:cNvSpPr/>
          <p:nvPr/>
        </p:nvSpPr>
        <p:spPr>
          <a:xfrm>
            <a:off x="457200" y="1508760"/>
            <a:ext cx="6492240" cy="3977640"/>
          </a:xfrm>
          <a:prstGeom prst="roundRect">
            <a:avLst>
              <a:gd name="adj" fmla="val 2759"/>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7" name="Shape 4"/>
          <p:cNvSpPr/>
          <p:nvPr/>
        </p:nvSpPr>
        <p:spPr>
          <a:xfrm>
            <a:off x="822960" y="1874520"/>
            <a:ext cx="566928" cy="566928"/>
          </a:xfrm>
          <a:prstGeom prst="roundRect">
            <a:avLst>
              <a:gd name="adj" fmla="val 22581"/>
            </a:avLst>
          </a:prstGeom>
          <a:solidFill>
            <a:srgbClr val="EDEBF9"/>
          </a:solidFill>
          <a:ln/>
        </p:spPr>
        <p:txBody>
          <a:bodyPr/>
          <a:lstStyle/>
          <a:p>
            <a:endParaRPr lang="en-US"/>
          </a:p>
        </p:txBody>
      </p:sp>
      <p:pic>
        <p:nvPicPr>
          <p:cNvPr id="8" name="Image 1" descr="/home/claude/work/icons/ListChecks_purple.png"/>
          <p:cNvPicPr>
            <a:picLocks noChangeAspect="1"/>
          </p:cNvPicPr>
          <p:nvPr/>
        </p:nvPicPr>
        <p:blipFill>
          <a:blip r:embed="rId4"/>
          <a:stretch>
            <a:fillRect/>
          </a:stretch>
        </p:blipFill>
        <p:spPr>
          <a:xfrm>
            <a:off x="969264" y="2020824"/>
            <a:ext cx="274320" cy="274320"/>
          </a:xfrm>
          <a:prstGeom prst="rect">
            <a:avLst/>
          </a:prstGeom>
        </p:spPr>
      </p:pic>
      <p:sp>
        <p:nvSpPr>
          <p:cNvPr id="9" name="Text 5"/>
          <p:cNvSpPr/>
          <p:nvPr/>
        </p:nvSpPr>
        <p:spPr>
          <a:xfrm>
            <a:off x="1554480" y="1975104"/>
            <a:ext cx="2743200" cy="320040"/>
          </a:xfrm>
          <a:prstGeom prst="rect">
            <a:avLst/>
          </a:prstGeom>
          <a:noFill/>
          <a:ln/>
        </p:spPr>
        <p:txBody>
          <a:bodyPr wrap="square" lIns="0" tIns="0" rIns="0" bIns="0" rtlCol="0" anchor="ctr"/>
          <a:lstStyle/>
          <a:p>
            <a:pPr marL="0" indent="0">
              <a:buNone/>
            </a:pPr>
            <a:r>
              <a:rPr lang="en-US" sz="1200" b="1" kern="0" spc="100" dirty="0">
                <a:solidFill>
                  <a:srgbClr val="6C5CE7"/>
                </a:solidFill>
                <a:latin typeface="Poppins" pitchFamily="34" charset="0"/>
                <a:ea typeface="Poppins" pitchFamily="34" charset="-122"/>
                <a:cs typeface="Poppins" pitchFamily="34" charset="-120"/>
              </a:rPr>
              <a:t>GOAL</a:t>
            </a:r>
            <a:endParaRPr lang="en-US" sz="1200" dirty="0"/>
          </a:p>
        </p:txBody>
      </p:sp>
      <p:sp>
        <p:nvSpPr>
          <p:cNvPr id="10" name="Text 6"/>
          <p:cNvSpPr/>
          <p:nvPr/>
        </p:nvSpPr>
        <p:spPr>
          <a:xfrm>
            <a:off x="868680" y="2697480"/>
            <a:ext cx="5669280" cy="1371600"/>
          </a:xfrm>
          <a:prstGeom prst="rect">
            <a:avLst/>
          </a:prstGeom>
          <a:noFill/>
          <a:ln/>
        </p:spPr>
        <p:txBody>
          <a:bodyPr wrap="square" lIns="0" tIns="0" rIns="0" bIns="0" rtlCol="0" anchor="ctr"/>
          <a:lstStyle/>
          <a:p>
            <a:pPr marL="0" indent="0">
              <a:buNone/>
            </a:pPr>
            <a:r>
              <a:rPr lang="en-US" sz="2000" dirty="0">
                <a:solidFill>
                  <a:srgbClr val="231F44"/>
                </a:solidFill>
                <a:latin typeface="Lora" pitchFamily="34" charset="0"/>
                <a:ea typeface="Lora" pitchFamily="34" charset="-122"/>
                <a:cs typeface="Lora" pitchFamily="34" charset="-120"/>
              </a:rPr>
              <a:t>Build an optimized Machine Learning model capable of automatically classifying emails as Spam or Ham.</a:t>
            </a:r>
            <a:endParaRPr lang="en-US" sz="2000" dirty="0"/>
          </a:p>
        </p:txBody>
      </p:sp>
      <p:sp>
        <p:nvSpPr>
          <p:cNvPr id="11" name="Shape 7"/>
          <p:cNvSpPr/>
          <p:nvPr/>
        </p:nvSpPr>
        <p:spPr>
          <a:xfrm>
            <a:off x="868680" y="4251960"/>
            <a:ext cx="5623560" cy="0"/>
          </a:xfrm>
          <a:prstGeom prst="line">
            <a:avLst/>
          </a:prstGeom>
          <a:noFill/>
          <a:ln w="12700">
            <a:solidFill>
              <a:srgbClr val="E3E1EF"/>
            </a:solidFill>
            <a:prstDash val="solid"/>
          </a:ln>
        </p:spPr>
        <p:txBody>
          <a:bodyPr/>
          <a:lstStyle/>
          <a:p>
            <a:endParaRPr lang="en-US"/>
          </a:p>
        </p:txBody>
      </p:sp>
      <p:sp>
        <p:nvSpPr>
          <p:cNvPr id="12" name="Text 8"/>
          <p:cNvSpPr/>
          <p:nvPr/>
        </p:nvSpPr>
        <p:spPr>
          <a:xfrm>
            <a:off x="868680" y="4434840"/>
            <a:ext cx="5623560" cy="777240"/>
          </a:xfrm>
          <a:prstGeom prst="rect">
            <a:avLst/>
          </a:prstGeom>
          <a:noFill/>
          <a:ln/>
        </p:spPr>
        <p:txBody>
          <a:bodyPr wrap="square" lIns="0" tIns="0" rIns="0" bIns="0" rtlCol="0" anchor="ctr"/>
          <a:lstStyle/>
          <a:p>
            <a:pPr marL="0" indent="0">
              <a:buNone/>
            </a:pPr>
            <a:r>
              <a:rPr lang="en-US" sz="1250" dirty="0">
                <a:solidFill>
                  <a:srgbClr val="6D6B78"/>
                </a:solidFill>
                <a:latin typeface="Poppins" pitchFamily="34" charset="0"/>
                <a:ea typeface="Poppins" pitchFamily="34" charset="-122"/>
                <a:cs typeface="Poppins" pitchFamily="34" charset="-120"/>
              </a:rPr>
              <a:t>This project builds the reasoning and structuring skills every later phase of the program will depend on.</a:t>
            </a:r>
            <a:endParaRPr lang="en-US" sz="1250" dirty="0"/>
          </a:p>
        </p:txBody>
      </p:sp>
      <p:sp>
        <p:nvSpPr>
          <p:cNvPr id="13" name="Shape 9"/>
          <p:cNvSpPr/>
          <p:nvPr/>
        </p:nvSpPr>
        <p:spPr>
          <a:xfrm>
            <a:off x="7178040" y="1508760"/>
            <a:ext cx="4553712" cy="3977640"/>
          </a:xfrm>
          <a:prstGeom prst="roundRect">
            <a:avLst>
              <a:gd name="adj" fmla="val 2759"/>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4" name="Shape 10"/>
          <p:cNvSpPr/>
          <p:nvPr/>
        </p:nvSpPr>
        <p:spPr>
          <a:xfrm>
            <a:off x="7543800" y="1828800"/>
            <a:ext cx="548640" cy="548640"/>
          </a:xfrm>
          <a:prstGeom prst="roundRect">
            <a:avLst>
              <a:gd name="adj" fmla="val 23333"/>
            </a:avLst>
          </a:prstGeom>
          <a:solidFill>
            <a:srgbClr val="EDEBF9"/>
          </a:solidFill>
          <a:ln/>
        </p:spPr>
        <p:txBody>
          <a:bodyPr/>
          <a:lstStyle/>
          <a:p>
            <a:endParaRPr lang="en-US"/>
          </a:p>
        </p:txBody>
      </p:sp>
      <p:pic>
        <p:nvPicPr>
          <p:cNvPr id="15" name="Image 2" descr="/home/claude/work/icons/Lightbulb_purple.png"/>
          <p:cNvPicPr>
            <a:picLocks noChangeAspect="1"/>
          </p:cNvPicPr>
          <p:nvPr/>
        </p:nvPicPr>
        <p:blipFill>
          <a:blip r:embed="rId5"/>
          <a:stretch>
            <a:fillRect/>
          </a:stretch>
        </p:blipFill>
        <p:spPr>
          <a:xfrm>
            <a:off x="7680960" y="1965960"/>
            <a:ext cx="274320" cy="274320"/>
          </a:xfrm>
          <a:prstGeom prst="rect">
            <a:avLst/>
          </a:prstGeom>
        </p:spPr>
      </p:pic>
      <p:sp>
        <p:nvSpPr>
          <p:cNvPr id="16" name="Text 11"/>
          <p:cNvSpPr/>
          <p:nvPr/>
        </p:nvSpPr>
        <p:spPr>
          <a:xfrm>
            <a:off x="7543800" y="2487168"/>
            <a:ext cx="3822192" cy="274320"/>
          </a:xfrm>
          <a:prstGeom prst="rect">
            <a:avLst/>
          </a:prstGeom>
          <a:noFill/>
          <a:ln/>
        </p:spPr>
        <p:txBody>
          <a:bodyPr wrap="square" lIns="0" tIns="0" rIns="0" bIns="0" rtlCol="0" anchor="ctr"/>
          <a:lstStyle/>
          <a:p>
            <a:pPr marL="0" indent="0">
              <a:buNone/>
            </a:pPr>
            <a:r>
              <a:rPr lang="en-US" sz="1050" b="1" kern="0" spc="100" dirty="0">
                <a:solidFill>
                  <a:srgbClr val="6C5CE7"/>
                </a:solidFill>
                <a:latin typeface="Poppins" pitchFamily="34" charset="0"/>
                <a:ea typeface="Poppins" pitchFamily="34" charset="-122"/>
                <a:cs typeface="Poppins" pitchFamily="34" charset="-120"/>
              </a:rPr>
              <a:t>PROJECT</a:t>
            </a:r>
            <a:endParaRPr lang="en-US" sz="1050" dirty="0"/>
          </a:p>
        </p:txBody>
      </p:sp>
      <p:sp>
        <p:nvSpPr>
          <p:cNvPr id="17" name="Text 12"/>
          <p:cNvSpPr/>
          <p:nvPr/>
        </p:nvSpPr>
        <p:spPr>
          <a:xfrm>
            <a:off x="7543800" y="2743200"/>
            <a:ext cx="3822192" cy="640080"/>
          </a:xfrm>
          <a:prstGeom prst="rect">
            <a:avLst/>
          </a:prstGeom>
          <a:noFill/>
          <a:ln/>
        </p:spPr>
        <p:txBody>
          <a:bodyPr wrap="square" lIns="0" tIns="0" rIns="0" bIns="0" rtlCol="0" anchor="ctr"/>
          <a:lstStyle/>
          <a:p>
            <a:pPr marL="0" indent="0">
              <a:buNone/>
            </a:pPr>
            <a:r>
              <a:rPr lang="en-US" sz="1700" b="1" dirty="0">
                <a:solidFill>
                  <a:srgbClr val="231F44"/>
                </a:solidFill>
                <a:latin typeface="Lora" pitchFamily="34" charset="0"/>
                <a:ea typeface="Lora" pitchFamily="34" charset="-122"/>
                <a:cs typeface="Lora" pitchFamily="34" charset="-120"/>
              </a:rPr>
              <a:t>Optimized Spam</a:t>
            </a:r>
            <a:endParaRPr lang="en-US" sz="1700" dirty="0"/>
          </a:p>
          <a:p>
            <a:pPr marL="0" indent="0">
              <a:buNone/>
            </a:pPr>
            <a:r>
              <a:rPr lang="en-US" sz="1700" b="1" dirty="0">
                <a:solidFill>
                  <a:srgbClr val="231F44"/>
                </a:solidFill>
                <a:latin typeface="Lora" pitchFamily="34" charset="0"/>
                <a:ea typeface="Lora" pitchFamily="34" charset="-122"/>
                <a:cs typeface="Lora" pitchFamily="34" charset="-120"/>
              </a:rPr>
              <a:t>Detection System</a:t>
            </a:r>
            <a:endParaRPr lang="en-US" sz="1700" dirty="0"/>
          </a:p>
        </p:txBody>
      </p:sp>
      <p:sp>
        <p:nvSpPr>
          <p:cNvPr id="18" name="Text 13"/>
          <p:cNvSpPr/>
          <p:nvPr/>
        </p:nvSpPr>
        <p:spPr>
          <a:xfrm>
            <a:off x="7543800" y="3703320"/>
            <a:ext cx="3822192" cy="228600"/>
          </a:xfrm>
          <a:prstGeom prst="rect">
            <a:avLst/>
          </a:prstGeom>
          <a:noFill/>
          <a:ln/>
        </p:spPr>
        <p:txBody>
          <a:bodyPr wrap="square" lIns="0" tIns="0" rIns="0" bIns="0" rtlCol="0" anchor="ctr"/>
          <a:lstStyle/>
          <a:p>
            <a:pPr marL="0" indent="0">
              <a:buNone/>
            </a:pPr>
            <a:r>
              <a:rPr lang="en-US" sz="950" b="1" kern="0" spc="100" dirty="0">
                <a:solidFill>
                  <a:srgbClr val="9B9AA6"/>
                </a:solidFill>
                <a:latin typeface="Poppins" pitchFamily="34" charset="0"/>
                <a:ea typeface="Poppins" pitchFamily="34" charset="-122"/>
                <a:cs typeface="Poppins" pitchFamily="34" charset="-120"/>
              </a:rPr>
              <a:t>LANGUAGE</a:t>
            </a:r>
            <a:endParaRPr lang="en-US" sz="950" dirty="0"/>
          </a:p>
        </p:txBody>
      </p:sp>
      <p:sp>
        <p:nvSpPr>
          <p:cNvPr id="19" name="Text 14"/>
          <p:cNvSpPr/>
          <p:nvPr/>
        </p:nvSpPr>
        <p:spPr>
          <a:xfrm>
            <a:off x="7543800" y="3922776"/>
            <a:ext cx="3822192" cy="365760"/>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Python</a:t>
            </a:r>
            <a:endParaRPr lang="en-US" sz="1250" dirty="0"/>
          </a:p>
        </p:txBody>
      </p:sp>
      <p:sp>
        <p:nvSpPr>
          <p:cNvPr id="20" name="Text 15"/>
          <p:cNvSpPr/>
          <p:nvPr/>
        </p:nvSpPr>
        <p:spPr>
          <a:xfrm>
            <a:off x="7543800" y="4361688"/>
            <a:ext cx="3822192" cy="228600"/>
          </a:xfrm>
          <a:prstGeom prst="rect">
            <a:avLst/>
          </a:prstGeom>
          <a:noFill/>
          <a:ln/>
        </p:spPr>
        <p:txBody>
          <a:bodyPr wrap="square" lIns="0" tIns="0" rIns="0" bIns="0" rtlCol="0" anchor="ctr"/>
          <a:lstStyle/>
          <a:p>
            <a:pPr marL="0" indent="0">
              <a:buNone/>
            </a:pPr>
            <a:r>
              <a:rPr lang="en-US" sz="950" b="1" kern="0" spc="100" dirty="0">
                <a:solidFill>
                  <a:srgbClr val="9B9AA6"/>
                </a:solidFill>
                <a:latin typeface="Poppins" pitchFamily="34" charset="0"/>
                <a:ea typeface="Poppins" pitchFamily="34" charset="-122"/>
                <a:cs typeface="Poppins" pitchFamily="34" charset="-120"/>
              </a:rPr>
              <a:t>LIBRARIES</a:t>
            </a:r>
            <a:endParaRPr lang="en-US" sz="950" dirty="0"/>
          </a:p>
        </p:txBody>
      </p:sp>
      <p:sp>
        <p:nvSpPr>
          <p:cNvPr id="21" name="Text 16"/>
          <p:cNvSpPr/>
          <p:nvPr/>
        </p:nvSpPr>
        <p:spPr>
          <a:xfrm>
            <a:off x="7543800" y="4581144"/>
            <a:ext cx="3822192" cy="365760"/>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Pandas, NumPy, Scikit-Learn, Matplotlib</a:t>
            </a:r>
            <a:endParaRPr lang="en-US" sz="1250" dirty="0"/>
          </a:p>
        </p:txBody>
      </p:sp>
      <p:sp>
        <p:nvSpPr>
          <p:cNvPr id="22" name="Text 17"/>
          <p:cNvSpPr/>
          <p:nvPr/>
        </p:nvSpPr>
        <p:spPr>
          <a:xfrm>
            <a:off x="7543800" y="5020056"/>
            <a:ext cx="3822192" cy="228600"/>
          </a:xfrm>
          <a:prstGeom prst="rect">
            <a:avLst/>
          </a:prstGeom>
          <a:noFill/>
          <a:ln/>
        </p:spPr>
        <p:txBody>
          <a:bodyPr wrap="square" lIns="0" tIns="0" rIns="0" bIns="0" rtlCol="0" anchor="ctr"/>
          <a:lstStyle/>
          <a:p>
            <a:pPr marL="0" indent="0">
              <a:buNone/>
            </a:pPr>
            <a:r>
              <a:rPr lang="en-US" sz="950" b="1" kern="0" spc="100" dirty="0">
                <a:solidFill>
                  <a:srgbClr val="9B9AA6"/>
                </a:solidFill>
                <a:latin typeface="Poppins" pitchFamily="34" charset="0"/>
                <a:ea typeface="Poppins" pitchFamily="34" charset="-122"/>
                <a:cs typeface="Poppins" pitchFamily="34" charset="-120"/>
              </a:rPr>
              <a:t>DATASET</a:t>
            </a:r>
            <a:endParaRPr lang="en-US" sz="950" dirty="0"/>
          </a:p>
        </p:txBody>
      </p:sp>
      <p:sp>
        <p:nvSpPr>
          <p:cNvPr id="23" name="Text 18"/>
          <p:cNvSpPr/>
          <p:nvPr/>
        </p:nvSpPr>
        <p:spPr>
          <a:xfrm>
            <a:off x="7543800" y="5239512"/>
            <a:ext cx="3822192" cy="365760"/>
          </a:xfrm>
          <a:prstGeom prst="rect">
            <a:avLst/>
          </a:prstGeom>
          <a:noFill/>
          <a:ln/>
        </p:spPr>
        <p:txBody>
          <a:bodyPr wrap="square" lIns="0" tIns="0" rIns="0" bIns="0" rtlCol="0" anchor="ctr"/>
          <a:lstStyle/>
          <a:p>
            <a:pPr marL="0" indent="0">
              <a:buNone/>
            </a:pPr>
            <a:r>
              <a:rPr lang="en-US" sz="1250" b="1" dirty="0">
                <a:solidFill>
                  <a:srgbClr val="231F44"/>
                </a:solidFill>
                <a:latin typeface="Poppins" pitchFamily="34" charset="0"/>
                <a:ea typeface="Poppins" pitchFamily="34" charset="-122"/>
                <a:cs typeface="Poppins" pitchFamily="34" charset="-120"/>
              </a:rPr>
              <a:t>CSV</a:t>
            </a:r>
            <a:endParaRPr lang="en-US" sz="1250" dirty="0"/>
          </a:p>
        </p:txBody>
      </p:sp>
      <p:sp>
        <p:nvSpPr>
          <p:cNvPr id="24" name="Text 19"/>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25" name="Text 20"/>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Handshake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Client Brief</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The business scenario</a:t>
            </a:r>
            <a:endParaRPr lang="en-US" sz="1300" dirty="0"/>
          </a:p>
        </p:txBody>
      </p:sp>
      <p:sp>
        <p:nvSpPr>
          <p:cNvPr id="6" name="Shape 3"/>
          <p:cNvSpPr/>
          <p:nvPr/>
        </p:nvSpPr>
        <p:spPr>
          <a:xfrm>
            <a:off x="678028" y="1554480"/>
            <a:ext cx="3429000" cy="3429000"/>
          </a:xfrm>
          <a:prstGeom prst="roundRect">
            <a:avLst>
              <a:gd name="adj" fmla="val 3200"/>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7" name="Shape 4"/>
          <p:cNvSpPr/>
          <p:nvPr/>
        </p:nvSpPr>
        <p:spPr>
          <a:xfrm>
            <a:off x="1043788" y="1920240"/>
            <a:ext cx="530352" cy="530352"/>
          </a:xfrm>
          <a:prstGeom prst="ellipse">
            <a:avLst/>
          </a:prstGeom>
          <a:solidFill>
            <a:srgbClr val="6C5CE7"/>
          </a:solidFill>
          <a:ln/>
        </p:spPr>
        <p:txBody>
          <a:bodyPr/>
          <a:lstStyle/>
          <a:p>
            <a:endParaRPr lang="en-US"/>
          </a:p>
        </p:txBody>
      </p:sp>
      <p:sp>
        <p:nvSpPr>
          <p:cNvPr id="8" name="Text 5"/>
          <p:cNvSpPr/>
          <p:nvPr/>
        </p:nvSpPr>
        <p:spPr>
          <a:xfrm>
            <a:off x="1043788" y="1920240"/>
            <a:ext cx="530352" cy="530352"/>
          </a:xfrm>
          <a:prstGeom prst="rect">
            <a:avLst/>
          </a:prstGeom>
          <a:noFill/>
          <a:ln/>
        </p:spPr>
        <p:txBody>
          <a:bodyPr wrap="square" lIns="0" tIns="0" rIns="0" bIns="0" rtlCol="0" anchor="ctr"/>
          <a:lstStyle/>
          <a:p>
            <a:pPr marL="0" indent="0" algn="ctr">
              <a:buNone/>
            </a:pPr>
            <a:r>
              <a:rPr lang="en-US" sz="2200" b="1" dirty="0">
                <a:solidFill>
                  <a:srgbClr val="FFFFFF"/>
                </a:solidFill>
                <a:latin typeface="Lora" pitchFamily="34" charset="0"/>
                <a:ea typeface="Lora" pitchFamily="34" charset="-122"/>
                <a:cs typeface="Lora" pitchFamily="34" charset="-120"/>
              </a:rPr>
              <a:t>1</a:t>
            </a:r>
            <a:endParaRPr lang="en-US" sz="2200" dirty="0"/>
          </a:p>
        </p:txBody>
      </p:sp>
      <p:sp>
        <p:nvSpPr>
          <p:cNvPr id="9" name="Text 6"/>
          <p:cNvSpPr/>
          <p:nvPr/>
        </p:nvSpPr>
        <p:spPr>
          <a:xfrm>
            <a:off x="1043788" y="2651760"/>
            <a:ext cx="2697480" cy="274320"/>
          </a:xfrm>
          <a:prstGeom prst="rect">
            <a:avLst/>
          </a:prstGeom>
          <a:noFill/>
          <a:ln/>
        </p:spPr>
        <p:txBody>
          <a:bodyPr wrap="square" lIns="0" tIns="0" rIns="0" bIns="0" rtlCol="0" anchor="ctr"/>
          <a:lstStyle/>
          <a:p>
            <a:pPr marL="0" indent="0">
              <a:buNone/>
            </a:pPr>
            <a:r>
              <a:rPr lang="en-US" sz="1100" b="1" kern="0" spc="100" dirty="0">
                <a:solidFill>
                  <a:srgbClr val="6C5CE7"/>
                </a:solidFill>
                <a:latin typeface="Poppins" pitchFamily="34" charset="0"/>
                <a:ea typeface="Poppins" pitchFamily="34" charset="-122"/>
                <a:cs typeface="Poppins" pitchFamily="34" charset="-120"/>
              </a:rPr>
              <a:t>CLIENT</a:t>
            </a:r>
            <a:endParaRPr lang="en-US" sz="1100" dirty="0"/>
          </a:p>
        </p:txBody>
      </p:sp>
      <p:sp>
        <p:nvSpPr>
          <p:cNvPr id="10" name="Text 7"/>
          <p:cNvSpPr/>
          <p:nvPr/>
        </p:nvSpPr>
        <p:spPr>
          <a:xfrm>
            <a:off x="1043788" y="3017520"/>
            <a:ext cx="2697480" cy="1463040"/>
          </a:xfrm>
          <a:prstGeom prst="rect">
            <a:avLst/>
          </a:prstGeom>
          <a:noFill/>
          <a:ln/>
        </p:spPr>
        <p:txBody>
          <a:bodyPr wrap="square" lIns="0" tIns="0" rIns="0" bIns="0" rtlCol="0" anchor="ctr"/>
          <a:lstStyle/>
          <a:p>
            <a:pPr marL="0" indent="0">
              <a:buNone/>
            </a:pPr>
            <a:r>
              <a:rPr lang="en-US" sz="1900" b="1" dirty="0">
                <a:solidFill>
                  <a:srgbClr val="231F44"/>
                </a:solidFill>
                <a:latin typeface="Lora" pitchFamily="34" charset="0"/>
                <a:ea typeface="Lora" pitchFamily="34" charset="-122"/>
                <a:cs typeface="Lora" pitchFamily="34" charset="-120"/>
              </a:rPr>
              <a:t>Email Service</a:t>
            </a:r>
            <a:endParaRPr lang="en-US" sz="1900" dirty="0"/>
          </a:p>
          <a:p>
            <a:pPr marL="0" indent="0">
              <a:buNone/>
            </a:pPr>
            <a:r>
              <a:rPr lang="en-US" sz="1900" b="1" dirty="0">
                <a:solidFill>
                  <a:srgbClr val="231F44"/>
                </a:solidFill>
                <a:latin typeface="Lora" pitchFamily="34" charset="0"/>
                <a:ea typeface="Lora" pitchFamily="34" charset="-122"/>
                <a:cs typeface="Lora" pitchFamily="34" charset="-120"/>
              </a:rPr>
              <a:t>Provider</a:t>
            </a:r>
            <a:endParaRPr lang="en-US" sz="1900" dirty="0"/>
          </a:p>
        </p:txBody>
      </p:sp>
      <p:sp>
        <p:nvSpPr>
          <p:cNvPr id="11" name="Shape 8"/>
          <p:cNvSpPr/>
          <p:nvPr/>
        </p:nvSpPr>
        <p:spPr>
          <a:xfrm>
            <a:off x="4381348" y="1554480"/>
            <a:ext cx="3429000" cy="3429000"/>
          </a:xfrm>
          <a:prstGeom prst="roundRect">
            <a:avLst>
              <a:gd name="adj" fmla="val 3200"/>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2" name="Shape 9"/>
          <p:cNvSpPr/>
          <p:nvPr/>
        </p:nvSpPr>
        <p:spPr>
          <a:xfrm>
            <a:off x="4747108" y="1920240"/>
            <a:ext cx="530352" cy="530352"/>
          </a:xfrm>
          <a:prstGeom prst="ellipse">
            <a:avLst/>
          </a:prstGeom>
          <a:solidFill>
            <a:srgbClr val="6C5CE7"/>
          </a:solidFill>
          <a:ln/>
        </p:spPr>
        <p:txBody>
          <a:bodyPr/>
          <a:lstStyle/>
          <a:p>
            <a:endParaRPr lang="en-US"/>
          </a:p>
        </p:txBody>
      </p:sp>
      <p:sp>
        <p:nvSpPr>
          <p:cNvPr id="13" name="Text 10"/>
          <p:cNvSpPr/>
          <p:nvPr/>
        </p:nvSpPr>
        <p:spPr>
          <a:xfrm>
            <a:off x="4747108" y="1920240"/>
            <a:ext cx="530352" cy="530352"/>
          </a:xfrm>
          <a:prstGeom prst="rect">
            <a:avLst/>
          </a:prstGeom>
          <a:noFill/>
          <a:ln/>
        </p:spPr>
        <p:txBody>
          <a:bodyPr wrap="square" lIns="0" tIns="0" rIns="0" bIns="0" rtlCol="0" anchor="ctr"/>
          <a:lstStyle/>
          <a:p>
            <a:pPr marL="0" indent="0" algn="ctr">
              <a:buNone/>
            </a:pPr>
            <a:r>
              <a:rPr lang="en-US" sz="2200" b="1" dirty="0">
                <a:solidFill>
                  <a:srgbClr val="FFFFFF"/>
                </a:solidFill>
                <a:latin typeface="Lora" pitchFamily="34" charset="0"/>
                <a:ea typeface="Lora" pitchFamily="34" charset="-122"/>
                <a:cs typeface="Lora" pitchFamily="34" charset="-120"/>
              </a:rPr>
              <a:t>2</a:t>
            </a:r>
            <a:endParaRPr lang="en-US" sz="2200" dirty="0"/>
          </a:p>
        </p:txBody>
      </p:sp>
      <p:sp>
        <p:nvSpPr>
          <p:cNvPr id="14" name="Text 11"/>
          <p:cNvSpPr/>
          <p:nvPr/>
        </p:nvSpPr>
        <p:spPr>
          <a:xfrm>
            <a:off x="4747108" y="2651760"/>
            <a:ext cx="2697480" cy="274320"/>
          </a:xfrm>
          <a:prstGeom prst="rect">
            <a:avLst/>
          </a:prstGeom>
          <a:noFill/>
          <a:ln/>
        </p:spPr>
        <p:txBody>
          <a:bodyPr wrap="square" lIns="0" tIns="0" rIns="0" bIns="0" rtlCol="0" anchor="ctr"/>
          <a:lstStyle/>
          <a:p>
            <a:pPr marL="0" indent="0">
              <a:buNone/>
            </a:pPr>
            <a:r>
              <a:rPr lang="en-US" sz="1100" b="1" kern="0" spc="100" dirty="0">
                <a:solidFill>
                  <a:srgbClr val="6C5CE7"/>
                </a:solidFill>
                <a:latin typeface="Poppins" pitchFamily="34" charset="0"/>
                <a:ea typeface="Poppins" pitchFamily="34" charset="-122"/>
                <a:cs typeface="Poppins" pitchFamily="34" charset="-120"/>
              </a:rPr>
              <a:t>PROJECT</a:t>
            </a:r>
            <a:endParaRPr lang="en-US" sz="1100" dirty="0"/>
          </a:p>
        </p:txBody>
      </p:sp>
      <p:sp>
        <p:nvSpPr>
          <p:cNvPr id="15" name="Text 12"/>
          <p:cNvSpPr/>
          <p:nvPr/>
        </p:nvSpPr>
        <p:spPr>
          <a:xfrm>
            <a:off x="4747108" y="3017520"/>
            <a:ext cx="2697480" cy="1463040"/>
          </a:xfrm>
          <a:prstGeom prst="rect">
            <a:avLst/>
          </a:prstGeom>
          <a:noFill/>
          <a:ln/>
        </p:spPr>
        <p:txBody>
          <a:bodyPr wrap="square" lIns="0" tIns="0" rIns="0" bIns="0" rtlCol="0" anchor="ctr"/>
          <a:lstStyle/>
          <a:p>
            <a:pPr marL="0" indent="0">
              <a:buNone/>
            </a:pPr>
            <a:r>
              <a:rPr lang="en-US" sz="1900" b="1" dirty="0">
                <a:solidFill>
                  <a:srgbClr val="231F44"/>
                </a:solidFill>
                <a:latin typeface="Lora" pitchFamily="34" charset="0"/>
                <a:ea typeface="Lora" pitchFamily="34" charset="-122"/>
                <a:cs typeface="Lora" pitchFamily="34" charset="-120"/>
              </a:rPr>
              <a:t>Spam Detection</a:t>
            </a:r>
            <a:endParaRPr lang="en-US" sz="1900" dirty="0"/>
          </a:p>
          <a:p>
            <a:pPr marL="0" indent="0">
              <a:buNone/>
            </a:pPr>
            <a:r>
              <a:rPr lang="en-US" sz="1900" b="1" dirty="0">
                <a:solidFill>
                  <a:srgbClr val="231F44"/>
                </a:solidFill>
                <a:latin typeface="Lora" pitchFamily="34" charset="0"/>
                <a:ea typeface="Lora" pitchFamily="34" charset="-122"/>
                <a:cs typeface="Lora" pitchFamily="34" charset="-120"/>
              </a:rPr>
              <a:t>System</a:t>
            </a:r>
            <a:endParaRPr lang="en-US" sz="1900" dirty="0"/>
          </a:p>
        </p:txBody>
      </p:sp>
      <p:sp>
        <p:nvSpPr>
          <p:cNvPr id="16" name="Shape 13"/>
          <p:cNvSpPr/>
          <p:nvPr/>
        </p:nvSpPr>
        <p:spPr>
          <a:xfrm>
            <a:off x="8084668" y="1554480"/>
            <a:ext cx="3429000" cy="3429000"/>
          </a:xfrm>
          <a:prstGeom prst="roundRect">
            <a:avLst>
              <a:gd name="adj" fmla="val 3200"/>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7" name="Shape 14"/>
          <p:cNvSpPr/>
          <p:nvPr/>
        </p:nvSpPr>
        <p:spPr>
          <a:xfrm>
            <a:off x="8450428" y="1920240"/>
            <a:ext cx="530352" cy="530352"/>
          </a:xfrm>
          <a:prstGeom prst="ellipse">
            <a:avLst/>
          </a:prstGeom>
          <a:solidFill>
            <a:srgbClr val="6C5CE7"/>
          </a:solidFill>
          <a:ln/>
        </p:spPr>
        <p:txBody>
          <a:bodyPr/>
          <a:lstStyle/>
          <a:p>
            <a:endParaRPr lang="en-US"/>
          </a:p>
        </p:txBody>
      </p:sp>
      <p:sp>
        <p:nvSpPr>
          <p:cNvPr id="18" name="Text 15"/>
          <p:cNvSpPr/>
          <p:nvPr/>
        </p:nvSpPr>
        <p:spPr>
          <a:xfrm>
            <a:off x="8450428" y="1920240"/>
            <a:ext cx="530352" cy="530352"/>
          </a:xfrm>
          <a:prstGeom prst="rect">
            <a:avLst/>
          </a:prstGeom>
          <a:noFill/>
          <a:ln/>
        </p:spPr>
        <p:txBody>
          <a:bodyPr wrap="square" lIns="0" tIns="0" rIns="0" bIns="0" rtlCol="0" anchor="ctr"/>
          <a:lstStyle/>
          <a:p>
            <a:pPr marL="0" indent="0" algn="ctr">
              <a:buNone/>
            </a:pPr>
            <a:r>
              <a:rPr lang="en-US" sz="2200" b="1" dirty="0">
                <a:solidFill>
                  <a:srgbClr val="FFFFFF"/>
                </a:solidFill>
                <a:latin typeface="Lora" pitchFamily="34" charset="0"/>
                <a:ea typeface="Lora" pitchFamily="34" charset="-122"/>
                <a:cs typeface="Lora" pitchFamily="34" charset="-120"/>
              </a:rPr>
              <a:t>3</a:t>
            </a:r>
            <a:endParaRPr lang="en-US" sz="2200" dirty="0"/>
          </a:p>
        </p:txBody>
      </p:sp>
      <p:sp>
        <p:nvSpPr>
          <p:cNvPr id="19" name="Text 16"/>
          <p:cNvSpPr/>
          <p:nvPr/>
        </p:nvSpPr>
        <p:spPr>
          <a:xfrm>
            <a:off x="8450428" y="2651760"/>
            <a:ext cx="2697480" cy="274320"/>
          </a:xfrm>
          <a:prstGeom prst="rect">
            <a:avLst/>
          </a:prstGeom>
          <a:noFill/>
          <a:ln/>
        </p:spPr>
        <p:txBody>
          <a:bodyPr wrap="square" lIns="0" tIns="0" rIns="0" bIns="0" rtlCol="0" anchor="ctr"/>
          <a:lstStyle/>
          <a:p>
            <a:pPr marL="0" indent="0">
              <a:buNone/>
            </a:pPr>
            <a:r>
              <a:rPr lang="en-US" sz="1100" b="1" kern="0" spc="100" dirty="0">
                <a:solidFill>
                  <a:srgbClr val="6C5CE7"/>
                </a:solidFill>
                <a:latin typeface="Poppins" pitchFamily="34" charset="0"/>
                <a:ea typeface="Poppins" pitchFamily="34" charset="-122"/>
                <a:cs typeface="Poppins" pitchFamily="34" charset="-120"/>
              </a:rPr>
              <a:t>GOAL</a:t>
            </a:r>
            <a:endParaRPr lang="en-US" sz="1100" dirty="0"/>
          </a:p>
        </p:txBody>
      </p:sp>
      <p:sp>
        <p:nvSpPr>
          <p:cNvPr id="20" name="Text 17"/>
          <p:cNvSpPr/>
          <p:nvPr/>
        </p:nvSpPr>
        <p:spPr>
          <a:xfrm>
            <a:off x="8450428" y="3017520"/>
            <a:ext cx="2697480" cy="1463040"/>
          </a:xfrm>
          <a:prstGeom prst="rect">
            <a:avLst/>
          </a:prstGeom>
          <a:noFill/>
          <a:ln/>
        </p:spPr>
        <p:txBody>
          <a:bodyPr wrap="square" lIns="0" tIns="0" rIns="0" bIns="0" rtlCol="0" anchor="ctr"/>
          <a:lstStyle/>
          <a:p>
            <a:pPr marL="0" indent="0">
              <a:buNone/>
            </a:pPr>
            <a:r>
              <a:rPr lang="en-US" sz="1300" b="1" dirty="0">
                <a:solidFill>
                  <a:srgbClr val="231F44"/>
                </a:solidFill>
                <a:latin typeface="Lora" pitchFamily="34" charset="0"/>
                <a:ea typeface="Lora" pitchFamily="34" charset="-122"/>
                <a:cs typeface="Lora" pitchFamily="34" charset="-120"/>
              </a:rPr>
              <a:t>Automatically classify incoming emails as Spam or Ham with high accuracy to improve user experience.</a:t>
            </a:r>
            <a:endParaRPr lang="en-US" sz="1300" dirty="0"/>
          </a:p>
        </p:txBody>
      </p:sp>
      <p:sp>
        <p:nvSpPr>
          <p:cNvPr id="21" name="Text 18"/>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22" name="Text 19"/>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ClipboardCheck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Project Requirements</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What students must build</a:t>
            </a:r>
            <a:endParaRPr lang="en-US" sz="1300" dirty="0"/>
          </a:p>
        </p:txBody>
      </p:sp>
      <p:sp>
        <p:nvSpPr>
          <p:cNvPr id="6" name="Shape 3"/>
          <p:cNvSpPr/>
          <p:nvPr/>
        </p:nvSpPr>
        <p:spPr>
          <a:xfrm>
            <a:off x="585216" y="1207008"/>
            <a:ext cx="530352" cy="530352"/>
          </a:xfrm>
          <a:prstGeom prst="ellipse">
            <a:avLst/>
          </a:prstGeom>
          <a:solidFill>
            <a:srgbClr val="6C5CE7"/>
          </a:solidFill>
          <a:ln/>
        </p:spPr>
        <p:txBody>
          <a:bodyPr/>
          <a:lstStyle/>
          <a:p>
            <a:endParaRPr lang="en-US"/>
          </a:p>
        </p:txBody>
      </p:sp>
      <p:sp>
        <p:nvSpPr>
          <p:cNvPr id="7" name="Text 4"/>
          <p:cNvSpPr/>
          <p:nvPr/>
        </p:nvSpPr>
        <p:spPr>
          <a:xfrm>
            <a:off x="585216" y="1207008"/>
            <a:ext cx="530352" cy="530352"/>
          </a:xfrm>
          <a:prstGeom prst="rect">
            <a:avLst/>
          </a:prstGeom>
          <a:noFill/>
          <a:ln/>
        </p:spPr>
        <p:txBody>
          <a:bodyPr wrap="square" lIns="0" tIns="0" rIns="0" bIns="0" rtlCol="0" anchor="ctr"/>
          <a:lstStyle/>
          <a:p>
            <a:pPr marL="0" indent="0" algn="ctr">
              <a:buNone/>
            </a:pPr>
            <a:r>
              <a:rPr lang="en-US" sz="2000" b="1" dirty="0">
                <a:solidFill>
                  <a:srgbClr val="FFFFFF"/>
                </a:solidFill>
                <a:latin typeface="Lora" pitchFamily="34" charset="0"/>
                <a:ea typeface="Lora" pitchFamily="34" charset="-122"/>
                <a:cs typeface="Lora" pitchFamily="34" charset="-120"/>
              </a:rPr>
              <a:t>1</a:t>
            </a:r>
            <a:endParaRPr lang="en-US" sz="2000" dirty="0"/>
          </a:p>
        </p:txBody>
      </p:sp>
      <p:sp>
        <p:nvSpPr>
          <p:cNvPr id="8" name="Text 5"/>
          <p:cNvSpPr/>
          <p:nvPr/>
        </p:nvSpPr>
        <p:spPr>
          <a:xfrm>
            <a:off x="1280160" y="1207008"/>
            <a:ext cx="3200400" cy="530352"/>
          </a:xfrm>
          <a:prstGeom prst="rect">
            <a:avLst/>
          </a:prstGeom>
          <a:noFill/>
          <a:ln/>
        </p:spPr>
        <p:txBody>
          <a:bodyPr wrap="square" lIns="0" tIns="0" rIns="0" bIns="0" rtlCol="0" anchor="ctr"/>
          <a:lstStyle/>
          <a:p>
            <a:pPr marL="0" indent="0">
              <a:buNone/>
            </a:pPr>
            <a:r>
              <a:rPr lang="en-US" sz="1600" b="1" dirty="0">
                <a:solidFill>
                  <a:srgbClr val="231F44"/>
                </a:solidFill>
                <a:latin typeface="Lora" pitchFamily="34" charset="0"/>
                <a:ea typeface="Lora" pitchFamily="34" charset="-122"/>
                <a:cs typeface="Lora" pitchFamily="34" charset="-120"/>
              </a:rPr>
              <a:t>Core Features</a:t>
            </a:r>
            <a:endParaRPr lang="en-US" sz="1600" dirty="0"/>
          </a:p>
        </p:txBody>
      </p:sp>
      <p:sp>
        <p:nvSpPr>
          <p:cNvPr id="9" name="Shape 6"/>
          <p:cNvSpPr/>
          <p:nvPr/>
        </p:nvSpPr>
        <p:spPr>
          <a:xfrm>
            <a:off x="6281928" y="1207008"/>
            <a:ext cx="530352" cy="530352"/>
          </a:xfrm>
          <a:prstGeom prst="ellipse">
            <a:avLst/>
          </a:prstGeom>
          <a:solidFill>
            <a:srgbClr val="6C5CE7"/>
          </a:solidFill>
          <a:ln/>
        </p:spPr>
        <p:txBody>
          <a:bodyPr/>
          <a:lstStyle/>
          <a:p>
            <a:endParaRPr lang="en-US"/>
          </a:p>
        </p:txBody>
      </p:sp>
      <p:sp>
        <p:nvSpPr>
          <p:cNvPr id="10" name="Text 7"/>
          <p:cNvSpPr/>
          <p:nvPr/>
        </p:nvSpPr>
        <p:spPr>
          <a:xfrm>
            <a:off x="6281928" y="1207008"/>
            <a:ext cx="530352" cy="530352"/>
          </a:xfrm>
          <a:prstGeom prst="rect">
            <a:avLst/>
          </a:prstGeom>
          <a:noFill/>
          <a:ln/>
        </p:spPr>
        <p:txBody>
          <a:bodyPr wrap="square" lIns="0" tIns="0" rIns="0" bIns="0" rtlCol="0" anchor="ctr"/>
          <a:lstStyle/>
          <a:p>
            <a:pPr marL="0" indent="0" algn="ctr">
              <a:buNone/>
            </a:pPr>
            <a:r>
              <a:rPr lang="en-US" sz="2000" b="1" dirty="0">
                <a:solidFill>
                  <a:srgbClr val="FFFFFF"/>
                </a:solidFill>
                <a:latin typeface="Lora" pitchFamily="34" charset="0"/>
                <a:ea typeface="Lora" pitchFamily="34" charset="-122"/>
                <a:cs typeface="Lora" pitchFamily="34" charset="-120"/>
              </a:rPr>
              <a:t>2</a:t>
            </a:r>
            <a:endParaRPr lang="en-US" sz="2000" dirty="0"/>
          </a:p>
        </p:txBody>
      </p:sp>
      <p:sp>
        <p:nvSpPr>
          <p:cNvPr id="11" name="Text 8"/>
          <p:cNvSpPr/>
          <p:nvPr/>
        </p:nvSpPr>
        <p:spPr>
          <a:xfrm>
            <a:off x="6976872" y="1207008"/>
            <a:ext cx="3200400" cy="530352"/>
          </a:xfrm>
          <a:prstGeom prst="rect">
            <a:avLst/>
          </a:prstGeom>
          <a:noFill/>
          <a:ln/>
        </p:spPr>
        <p:txBody>
          <a:bodyPr wrap="square" lIns="0" tIns="0" rIns="0" bIns="0" rtlCol="0" anchor="ctr"/>
          <a:lstStyle/>
          <a:p>
            <a:pPr marL="0" indent="0">
              <a:buNone/>
            </a:pPr>
            <a:r>
              <a:rPr lang="en-US" sz="1600" b="1" dirty="0">
                <a:solidFill>
                  <a:srgbClr val="231F44"/>
                </a:solidFill>
                <a:latin typeface="Lora" pitchFamily="34" charset="0"/>
                <a:ea typeface="Lora" pitchFamily="34" charset="-122"/>
                <a:cs typeface="Lora" pitchFamily="34" charset="-120"/>
              </a:rPr>
              <a:t>Deliverables</a:t>
            </a:r>
            <a:endParaRPr lang="en-US" sz="1600" dirty="0"/>
          </a:p>
        </p:txBody>
      </p:sp>
      <p:sp>
        <p:nvSpPr>
          <p:cNvPr id="12" name="Shape 9"/>
          <p:cNvSpPr/>
          <p:nvPr/>
        </p:nvSpPr>
        <p:spPr>
          <a:xfrm>
            <a:off x="5532120" y="1819656"/>
            <a:ext cx="0" cy="4572000"/>
          </a:xfrm>
          <a:prstGeom prst="line">
            <a:avLst/>
          </a:prstGeom>
          <a:noFill/>
          <a:ln w="19050">
            <a:solidFill>
              <a:srgbClr val="E3E1EF"/>
            </a:solidFill>
            <a:prstDash val="solid"/>
          </a:ln>
        </p:spPr>
        <p:txBody>
          <a:bodyPr/>
          <a:lstStyle/>
          <a:p>
            <a:endParaRPr lang="en-US"/>
          </a:p>
        </p:txBody>
      </p:sp>
      <p:sp>
        <p:nvSpPr>
          <p:cNvPr id="13" name="Text 10"/>
          <p:cNvSpPr/>
          <p:nvPr/>
        </p:nvSpPr>
        <p:spPr>
          <a:xfrm>
            <a:off x="365760" y="2011680"/>
            <a:ext cx="4937760" cy="4297680"/>
          </a:xfrm>
          <a:prstGeom prst="rect">
            <a:avLst/>
          </a:prstGeom>
          <a:noFill/>
          <a:ln/>
        </p:spPr>
        <p:txBody>
          <a:bodyPr wrap="square" lIns="0" tIns="0" rIns="0" bIns="0" rtlCol="0" anchor="ctr"/>
          <a:lstStyle/>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Load Dataset</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Explore Dataset</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Clean Text Data</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Text Preprocessing</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Feature Extraction</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Train Multiple Models</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Evaluate Performance</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Improve Accuracy</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Save Best Model</a:t>
            </a:r>
            <a:endParaRPr lang="en-US" sz="1350" dirty="0"/>
          </a:p>
        </p:txBody>
      </p:sp>
      <p:sp>
        <p:nvSpPr>
          <p:cNvPr id="14" name="Text 11"/>
          <p:cNvSpPr/>
          <p:nvPr/>
        </p:nvSpPr>
        <p:spPr>
          <a:xfrm>
            <a:off x="6035040" y="2011680"/>
            <a:ext cx="5577840" cy="2926080"/>
          </a:xfrm>
          <a:prstGeom prst="rect">
            <a:avLst/>
          </a:prstGeom>
          <a:noFill/>
          <a:ln/>
        </p:spPr>
        <p:txBody>
          <a:bodyPr wrap="square" lIns="0" tIns="0" rIns="0" bIns="0" rtlCol="0" anchor="ctr"/>
          <a:lstStyle/>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Python Source Code</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Saved Model</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Evaluation Report</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GitHub Repository</a:t>
            </a:r>
            <a:endParaRPr lang="en-US" sz="1350" dirty="0"/>
          </a:p>
          <a:p>
            <a:pPr marL="0" indent="0">
              <a:spcAft>
                <a:spcPts val="1200"/>
              </a:spcAft>
              <a:buNone/>
            </a:pPr>
            <a:r>
              <a:rPr lang="en-US" sz="1350" dirty="0">
                <a:solidFill>
                  <a:srgbClr val="231F44"/>
                </a:solidFill>
                <a:latin typeface="Poppins" pitchFamily="34" charset="0"/>
                <a:ea typeface="Poppins" pitchFamily="34" charset="-122"/>
                <a:cs typeface="Poppins" pitchFamily="34" charset="-120"/>
              </a:rPr>
              <a:t>✅  README</a:t>
            </a:r>
            <a:endParaRPr lang="en-US" sz="1350" dirty="0"/>
          </a:p>
        </p:txBody>
      </p:sp>
      <p:sp>
        <p:nvSpPr>
          <p:cNvPr id="15" name="Text 12"/>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16" name="Text 13"/>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Workflow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Project Structure</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Recommended workflow for completing the project</a:t>
            </a:r>
            <a:endParaRPr lang="en-US" sz="1300" dirty="0"/>
          </a:p>
        </p:txBody>
      </p:sp>
      <p:sp>
        <p:nvSpPr>
          <p:cNvPr id="6" name="Shape 3"/>
          <p:cNvSpPr/>
          <p:nvPr/>
        </p:nvSpPr>
        <p:spPr>
          <a:xfrm>
            <a:off x="457200" y="1920240"/>
            <a:ext cx="2123785" cy="777240"/>
          </a:xfrm>
          <a:prstGeom prst="roundRect">
            <a:avLst>
              <a:gd name="adj" fmla="val 10588"/>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7" name="Text 4"/>
          <p:cNvSpPr/>
          <p:nvPr/>
        </p:nvSpPr>
        <p:spPr>
          <a:xfrm>
            <a:off x="502920" y="1920240"/>
            <a:ext cx="2032345" cy="777240"/>
          </a:xfrm>
          <a:prstGeom prst="rect">
            <a:avLst/>
          </a:prstGeom>
          <a:noFill/>
          <a:ln/>
        </p:spPr>
        <p:txBody>
          <a:bodyPr wrap="square" lIns="0" tIns="0" rIns="0" bIns="0" rtlCol="0" anchor="ctr"/>
          <a:lstStyle/>
          <a:p>
            <a:pPr marL="0" indent="0" algn="ctr">
              <a:buNone/>
            </a:pPr>
            <a:r>
              <a:rPr lang="en-US" sz="1150" b="1" dirty="0">
                <a:solidFill>
                  <a:srgbClr val="231F44"/>
                </a:solidFill>
                <a:latin typeface="Poppins" pitchFamily="34" charset="0"/>
                <a:ea typeface="Poppins" pitchFamily="34" charset="-122"/>
                <a:cs typeface="Poppins" pitchFamily="34" charset="-120"/>
              </a:rPr>
              <a:t>Dataset</a:t>
            </a:r>
            <a:endParaRPr lang="en-US" sz="1150" dirty="0"/>
          </a:p>
        </p:txBody>
      </p:sp>
      <p:sp>
        <p:nvSpPr>
          <p:cNvPr id="8" name="Text 5"/>
          <p:cNvSpPr/>
          <p:nvPr/>
        </p:nvSpPr>
        <p:spPr>
          <a:xfrm>
            <a:off x="2580985" y="1920240"/>
            <a:ext cx="164592" cy="777240"/>
          </a:xfrm>
          <a:prstGeom prst="rect">
            <a:avLst/>
          </a:prstGeom>
          <a:noFill/>
          <a:ln/>
        </p:spPr>
        <p:txBody>
          <a:bodyPr wrap="square" lIns="0" tIns="0" rIns="0" bIns="0" rtlCol="0" anchor="ctr"/>
          <a:lstStyle/>
          <a:p>
            <a:pPr marL="0" indent="0" algn="ctr">
              <a:buNone/>
            </a:pPr>
            <a:r>
              <a:rPr lang="en-US" sz="1500" b="1" dirty="0">
                <a:solidFill>
                  <a:srgbClr val="6C5CE7"/>
                </a:solidFill>
                <a:latin typeface="Poppins" pitchFamily="34" charset="0"/>
                <a:ea typeface="Poppins" pitchFamily="34" charset="-122"/>
                <a:cs typeface="Poppins" pitchFamily="34" charset="-120"/>
              </a:rPr>
              <a:t>→</a:t>
            </a:r>
            <a:endParaRPr lang="en-US" sz="1500" dirty="0"/>
          </a:p>
        </p:txBody>
      </p:sp>
      <p:sp>
        <p:nvSpPr>
          <p:cNvPr id="9" name="Shape 6"/>
          <p:cNvSpPr/>
          <p:nvPr/>
        </p:nvSpPr>
        <p:spPr>
          <a:xfrm>
            <a:off x="2745577" y="1920240"/>
            <a:ext cx="2123785" cy="777240"/>
          </a:xfrm>
          <a:prstGeom prst="roundRect">
            <a:avLst>
              <a:gd name="adj" fmla="val 10588"/>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10" name="Text 7"/>
          <p:cNvSpPr/>
          <p:nvPr/>
        </p:nvSpPr>
        <p:spPr>
          <a:xfrm>
            <a:off x="2791297" y="1920240"/>
            <a:ext cx="2032345" cy="777240"/>
          </a:xfrm>
          <a:prstGeom prst="rect">
            <a:avLst/>
          </a:prstGeom>
          <a:noFill/>
          <a:ln/>
        </p:spPr>
        <p:txBody>
          <a:bodyPr wrap="square" lIns="0" tIns="0" rIns="0" bIns="0" rtlCol="0" anchor="ctr"/>
          <a:lstStyle/>
          <a:p>
            <a:pPr marL="0" indent="0" algn="ctr">
              <a:buNone/>
            </a:pPr>
            <a:r>
              <a:rPr lang="en-US" sz="1150" b="1" dirty="0">
                <a:solidFill>
                  <a:srgbClr val="231F44"/>
                </a:solidFill>
                <a:latin typeface="Poppins" pitchFamily="34" charset="0"/>
                <a:ea typeface="Poppins" pitchFamily="34" charset="-122"/>
                <a:cs typeface="Poppins" pitchFamily="34" charset="-120"/>
              </a:rPr>
              <a:t>EDA</a:t>
            </a:r>
            <a:endParaRPr lang="en-US" sz="1150" dirty="0"/>
          </a:p>
        </p:txBody>
      </p:sp>
      <p:sp>
        <p:nvSpPr>
          <p:cNvPr id="11" name="Text 8"/>
          <p:cNvSpPr/>
          <p:nvPr/>
        </p:nvSpPr>
        <p:spPr>
          <a:xfrm>
            <a:off x="4869363" y="1920240"/>
            <a:ext cx="164592" cy="777240"/>
          </a:xfrm>
          <a:prstGeom prst="rect">
            <a:avLst/>
          </a:prstGeom>
          <a:noFill/>
          <a:ln/>
        </p:spPr>
        <p:txBody>
          <a:bodyPr wrap="square" lIns="0" tIns="0" rIns="0" bIns="0" rtlCol="0" anchor="ctr"/>
          <a:lstStyle/>
          <a:p>
            <a:pPr marL="0" indent="0" algn="ctr">
              <a:buNone/>
            </a:pPr>
            <a:r>
              <a:rPr lang="en-US" sz="1500" b="1" dirty="0">
                <a:solidFill>
                  <a:srgbClr val="6C5CE7"/>
                </a:solidFill>
                <a:latin typeface="Poppins" pitchFamily="34" charset="0"/>
                <a:ea typeface="Poppins" pitchFamily="34" charset="-122"/>
                <a:cs typeface="Poppins" pitchFamily="34" charset="-120"/>
              </a:rPr>
              <a:t>→</a:t>
            </a:r>
            <a:endParaRPr lang="en-US" sz="1500" dirty="0"/>
          </a:p>
        </p:txBody>
      </p:sp>
      <p:sp>
        <p:nvSpPr>
          <p:cNvPr id="12" name="Shape 9"/>
          <p:cNvSpPr/>
          <p:nvPr/>
        </p:nvSpPr>
        <p:spPr>
          <a:xfrm>
            <a:off x="5033955" y="1920240"/>
            <a:ext cx="2123785" cy="777240"/>
          </a:xfrm>
          <a:prstGeom prst="roundRect">
            <a:avLst>
              <a:gd name="adj" fmla="val 10588"/>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13" name="Text 10"/>
          <p:cNvSpPr/>
          <p:nvPr/>
        </p:nvSpPr>
        <p:spPr>
          <a:xfrm>
            <a:off x="5079675" y="1920240"/>
            <a:ext cx="2032345" cy="777240"/>
          </a:xfrm>
          <a:prstGeom prst="rect">
            <a:avLst/>
          </a:prstGeom>
          <a:noFill/>
          <a:ln/>
        </p:spPr>
        <p:txBody>
          <a:bodyPr wrap="square" lIns="0" tIns="0" rIns="0" bIns="0" rtlCol="0" anchor="ctr"/>
          <a:lstStyle/>
          <a:p>
            <a:pPr marL="0" indent="0" algn="ctr">
              <a:buNone/>
            </a:pPr>
            <a:r>
              <a:rPr lang="en-US" sz="1150" b="1" dirty="0">
                <a:solidFill>
                  <a:srgbClr val="231F44"/>
                </a:solidFill>
                <a:latin typeface="Poppins" pitchFamily="34" charset="0"/>
                <a:ea typeface="Poppins" pitchFamily="34" charset="-122"/>
                <a:cs typeface="Poppins" pitchFamily="34" charset="-120"/>
              </a:rPr>
              <a:t>Text Cleaning</a:t>
            </a:r>
            <a:endParaRPr lang="en-US" sz="1150" dirty="0"/>
          </a:p>
        </p:txBody>
      </p:sp>
      <p:sp>
        <p:nvSpPr>
          <p:cNvPr id="14" name="Text 11"/>
          <p:cNvSpPr/>
          <p:nvPr/>
        </p:nvSpPr>
        <p:spPr>
          <a:xfrm>
            <a:off x="7157740" y="1920240"/>
            <a:ext cx="164592" cy="777240"/>
          </a:xfrm>
          <a:prstGeom prst="rect">
            <a:avLst/>
          </a:prstGeom>
          <a:noFill/>
          <a:ln/>
        </p:spPr>
        <p:txBody>
          <a:bodyPr wrap="square" lIns="0" tIns="0" rIns="0" bIns="0" rtlCol="0" anchor="ctr"/>
          <a:lstStyle/>
          <a:p>
            <a:pPr marL="0" indent="0" algn="ctr">
              <a:buNone/>
            </a:pPr>
            <a:r>
              <a:rPr lang="en-US" sz="1500" b="1" dirty="0">
                <a:solidFill>
                  <a:srgbClr val="6C5CE7"/>
                </a:solidFill>
                <a:latin typeface="Poppins" pitchFamily="34" charset="0"/>
                <a:ea typeface="Poppins" pitchFamily="34" charset="-122"/>
                <a:cs typeface="Poppins" pitchFamily="34" charset="-120"/>
              </a:rPr>
              <a:t>→</a:t>
            </a:r>
            <a:endParaRPr lang="en-US" sz="1500" dirty="0"/>
          </a:p>
        </p:txBody>
      </p:sp>
      <p:sp>
        <p:nvSpPr>
          <p:cNvPr id="15" name="Shape 12"/>
          <p:cNvSpPr/>
          <p:nvPr/>
        </p:nvSpPr>
        <p:spPr>
          <a:xfrm>
            <a:off x="7322332" y="1920240"/>
            <a:ext cx="2123785" cy="777240"/>
          </a:xfrm>
          <a:prstGeom prst="roundRect">
            <a:avLst>
              <a:gd name="adj" fmla="val 10588"/>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16" name="Text 13"/>
          <p:cNvSpPr/>
          <p:nvPr/>
        </p:nvSpPr>
        <p:spPr>
          <a:xfrm>
            <a:off x="7368052" y="1920240"/>
            <a:ext cx="2032345" cy="777240"/>
          </a:xfrm>
          <a:prstGeom prst="rect">
            <a:avLst/>
          </a:prstGeom>
          <a:noFill/>
          <a:ln/>
        </p:spPr>
        <p:txBody>
          <a:bodyPr wrap="square" lIns="0" tIns="0" rIns="0" bIns="0" rtlCol="0" anchor="ctr"/>
          <a:lstStyle/>
          <a:p>
            <a:pPr marL="0" indent="0" algn="ctr">
              <a:buNone/>
            </a:pPr>
            <a:r>
              <a:rPr lang="en-US" sz="1150" b="1" dirty="0">
                <a:solidFill>
                  <a:srgbClr val="231F44"/>
                </a:solidFill>
                <a:latin typeface="Poppins" pitchFamily="34" charset="0"/>
                <a:ea typeface="Poppins" pitchFamily="34" charset="-122"/>
                <a:cs typeface="Poppins" pitchFamily="34" charset="-120"/>
              </a:rPr>
              <a:t>Text Preprocessing</a:t>
            </a:r>
            <a:endParaRPr lang="en-US" sz="1150" dirty="0"/>
          </a:p>
        </p:txBody>
      </p:sp>
      <p:sp>
        <p:nvSpPr>
          <p:cNvPr id="17" name="Text 14"/>
          <p:cNvSpPr/>
          <p:nvPr/>
        </p:nvSpPr>
        <p:spPr>
          <a:xfrm>
            <a:off x="9446118" y="1920240"/>
            <a:ext cx="164592" cy="777240"/>
          </a:xfrm>
          <a:prstGeom prst="rect">
            <a:avLst/>
          </a:prstGeom>
          <a:noFill/>
          <a:ln/>
        </p:spPr>
        <p:txBody>
          <a:bodyPr wrap="square" lIns="0" tIns="0" rIns="0" bIns="0" rtlCol="0" anchor="ctr"/>
          <a:lstStyle/>
          <a:p>
            <a:pPr marL="0" indent="0" algn="ctr">
              <a:buNone/>
            </a:pPr>
            <a:r>
              <a:rPr lang="en-US" sz="1500" b="1" dirty="0">
                <a:solidFill>
                  <a:srgbClr val="6C5CE7"/>
                </a:solidFill>
                <a:latin typeface="Poppins" pitchFamily="34" charset="0"/>
                <a:ea typeface="Poppins" pitchFamily="34" charset="-122"/>
                <a:cs typeface="Poppins" pitchFamily="34" charset="-120"/>
              </a:rPr>
              <a:t>→</a:t>
            </a:r>
            <a:endParaRPr lang="en-US" sz="1500" dirty="0"/>
          </a:p>
        </p:txBody>
      </p:sp>
      <p:sp>
        <p:nvSpPr>
          <p:cNvPr id="18" name="Shape 15"/>
          <p:cNvSpPr/>
          <p:nvPr/>
        </p:nvSpPr>
        <p:spPr>
          <a:xfrm>
            <a:off x="9610710" y="1920240"/>
            <a:ext cx="2123785" cy="777240"/>
          </a:xfrm>
          <a:prstGeom prst="roundRect">
            <a:avLst>
              <a:gd name="adj" fmla="val 10588"/>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19" name="Text 16"/>
          <p:cNvSpPr/>
          <p:nvPr/>
        </p:nvSpPr>
        <p:spPr>
          <a:xfrm>
            <a:off x="9656430" y="1920240"/>
            <a:ext cx="2032345" cy="777240"/>
          </a:xfrm>
          <a:prstGeom prst="rect">
            <a:avLst/>
          </a:prstGeom>
          <a:noFill/>
          <a:ln/>
        </p:spPr>
        <p:txBody>
          <a:bodyPr wrap="square" lIns="0" tIns="0" rIns="0" bIns="0" rtlCol="0" anchor="ctr"/>
          <a:lstStyle/>
          <a:p>
            <a:pPr marL="0" indent="0" algn="ctr">
              <a:buNone/>
            </a:pPr>
            <a:r>
              <a:rPr lang="en-US" sz="1150" b="1" dirty="0">
                <a:solidFill>
                  <a:srgbClr val="231F44"/>
                </a:solidFill>
                <a:latin typeface="Poppins" pitchFamily="34" charset="0"/>
                <a:ea typeface="Poppins" pitchFamily="34" charset="-122"/>
                <a:cs typeface="Poppins" pitchFamily="34" charset="-120"/>
              </a:rPr>
              <a:t>Feature Extraction</a:t>
            </a:r>
            <a:endParaRPr lang="en-US" sz="1150" dirty="0"/>
          </a:p>
        </p:txBody>
      </p:sp>
      <p:sp>
        <p:nvSpPr>
          <p:cNvPr id="20" name="Shape 17"/>
          <p:cNvSpPr/>
          <p:nvPr/>
        </p:nvSpPr>
        <p:spPr>
          <a:xfrm>
            <a:off x="10672602" y="2697480"/>
            <a:ext cx="0" cy="1234440"/>
          </a:xfrm>
          <a:prstGeom prst="line">
            <a:avLst/>
          </a:prstGeom>
          <a:noFill/>
          <a:ln w="19050">
            <a:solidFill>
              <a:srgbClr val="6C5CE7"/>
            </a:solidFill>
            <a:prstDash val="solid"/>
            <a:tailEnd type="triangle"/>
          </a:ln>
        </p:spPr>
        <p:txBody>
          <a:bodyPr/>
          <a:lstStyle/>
          <a:p>
            <a:endParaRPr lang="en-US"/>
          </a:p>
        </p:txBody>
      </p:sp>
      <p:sp>
        <p:nvSpPr>
          <p:cNvPr id="21" name="Shape 18"/>
          <p:cNvSpPr/>
          <p:nvPr/>
        </p:nvSpPr>
        <p:spPr>
          <a:xfrm>
            <a:off x="9610710" y="3931920"/>
            <a:ext cx="2123785" cy="777240"/>
          </a:xfrm>
          <a:prstGeom prst="roundRect">
            <a:avLst>
              <a:gd name="adj" fmla="val 10588"/>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22" name="Text 19"/>
          <p:cNvSpPr/>
          <p:nvPr/>
        </p:nvSpPr>
        <p:spPr>
          <a:xfrm>
            <a:off x="9656430" y="3931920"/>
            <a:ext cx="2032345" cy="777240"/>
          </a:xfrm>
          <a:prstGeom prst="rect">
            <a:avLst/>
          </a:prstGeom>
          <a:noFill/>
          <a:ln/>
        </p:spPr>
        <p:txBody>
          <a:bodyPr wrap="square" lIns="0" tIns="0" rIns="0" bIns="0" rtlCol="0" anchor="ctr"/>
          <a:lstStyle/>
          <a:p>
            <a:pPr marL="0" indent="0" algn="ctr">
              <a:buNone/>
            </a:pPr>
            <a:r>
              <a:rPr lang="en-US" sz="1150" b="1" dirty="0">
                <a:solidFill>
                  <a:srgbClr val="231F44"/>
                </a:solidFill>
                <a:latin typeface="Poppins" pitchFamily="34" charset="0"/>
                <a:ea typeface="Poppins" pitchFamily="34" charset="-122"/>
                <a:cs typeface="Poppins" pitchFamily="34" charset="-120"/>
              </a:rPr>
              <a:t>Train Models</a:t>
            </a:r>
            <a:endParaRPr lang="en-US" sz="1150" dirty="0"/>
          </a:p>
        </p:txBody>
      </p:sp>
      <p:sp>
        <p:nvSpPr>
          <p:cNvPr id="23" name="Text 20"/>
          <p:cNvSpPr/>
          <p:nvPr/>
        </p:nvSpPr>
        <p:spPr>
          <a:xfrm>
            <a:off x="9446118" y="3931920"/>
            <a:ext cx="164592" cy="777240"/>
          </a:xfrm>
          <a:prstGeom prst="rect">
            <a:avLst/>
          </a:prstGeom>
          <a:noFill/>
          <a:ln/>
        </p:spPr>
        <p:txBody>
          <a:bodyPr wrap="square" lIns="0" tIns="0" rIns="0" bIns="0" rtlCol="0" anchor="ctr"/>
          <a:lstStyle/>
          <a:p>
            <a:pPr marL="0" indent="0" algn="ctr">
              <a:buNone/>
            </a:pPr>
            <a:r>
              <a:rPr lang="en-US" sz="1500" b="1" dirty="0">
                <a:solidFill>
                  <a:srgbClr val="6C5CE7"/>
                </a:solidFill>
                <a:latin typeface="Poppins" pitchFamily="34" charset="0"/>
                <a:ea typeface="Poppins" pitchFamily="34" charset="-122"/>
                <a:cs typeface="Poppins" pitchFamily="34" charset="-120"/>
              </a:rPr>
              <a:t>←</a:t>
            </a:r>
            <a:endParaRPr lang="en-US" sz="1500" dirty="0"/>
          </a:p>
        </p:txBody>
      </p:sp>
      <p:sp>
        <p:nvSpPr>
          <p:cNvPr id="24" name="Shape 21"/>
          <p:cNvSpPr/>
          <p:nvPr/>
        </p:nvSpPr>
        <p:spPr>
          <a:xfrm>
            <a:off x="7322332" y="3931920"/>
            <a:ext cx="2123785" cy="777240"/>
          </a:xfrm>
          <a:prstGeom prst="roundRect">
            <a:avLst>
              <a:gd name="adj" fmla="val 10588"/>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25" name="Text 22"/>
          <p:cNvSpPr/>
          <p:nvPr/>
        </p:nvSpPr>
        <p:spPr>
          <a:xfrm>
            <a:off x="7368052" y="3931920"/>
            <a:ext cx="2032345" cy="777240"/>
          </a:xfrm>
          <a:prstGeom prst="rect">
            <a:avLst/>
          </a:prstGeom>
          <a:noFill/>
          <a:ln/>
        </p:spPr>
        <p:txBody>
          <a:bodyPr wrap="square" lIns="0" tIns="0" rIns="0" bIns="0" rtlCol="0" anchor="ctr"/>
          <a:lstStyle/>
          <a:p>
            <a:pPr marL="0" indent="0" algn="ctr">
              <a:buNone/>
            </a:pPr>
            <a:r>
              <a:rPr lang="en-US" sz="1150" b="1" dirty="0">
                <a:solidFill>
                  <a:srgbClr val="231F44"/>
                </a:solidFill>
                <a:latin typeface="Poppins" pitchFamily="34" charset="0"/>
                <a:ea typeface="Poppins" pitchFamily="34" charset="-122"/>
                <a:cs typeface="Poppins" pitchFamily="34" charset="-120"/>
              </a:rPr>
              <a:t>Evaluate Models</a:t>
            </a:r>
            <a:endParaRPr lang="en-US" sz="1150" dirty="0"/>
          </a:p>
        </p:txBody>
      </p:sp>
      <p:sp>
        <p:nvSpPr>
          <p:cNvPr id="26" name="Text 23"/>
          <p:cNvSpPr/>
          <p:nvPr/>
        </p:nvSpPr>
        <p:spPr>
          <a:xfrm>
            <a:off x="7157740" y="3931920"/>
            <a:ext cx="164592" cy="777240"/>
          </a:xfrm>
          <a:prstGeom prst="rect">
            <a:avLst/>
          </a:prstGeom>
          <a:noFill/>
          <a:ln/>
        </p:spPr>
        <p:txBody>
          <a:bodyPr wrap="square" lIns="0" tIns="0" rIns="0" bIns="0" rtlCol="0" anchor="ctr"/>
          <a:lstStyle/>
          <a:p>
            <a:pPr marL="0" indent="0" algn="ctr">
              <a:buNone/>
            </a:pPr>
            <a:r>
              <a:rPr lang="en-US" sz="1500" b="1" dirty="0">
                <a:solidFill>
                  <a:srgbClr val="6C5CE7"/>
                </a:solidFill>
                <a:latin typeface="Poppins" pitchFamily="34" charset="0"/>
                <a:ea typeface="Poppins" pitchFamily="34" charset="-122"/>
                <a:cs typeface="Poppins" pitchFamily="34" charset="-120"/>
              </a:rPr>
              <a:t>←</a:t>
            </a:r>
            <a:endParaRPr lang="en-US" sz="1500" dirty="0"/>
          </a:p>
        </p:txBody>
      </p:sp>
      <p:sp>
        <p:nvSpPr>
          <p:cNvPr id="27" name="Shape 24"/>
          <p:cNvSpPr/>
          <p:nvPr/>
        </p:nvSpPr>
        <p:spPr>
          <a:xfrm>
            <a:off x="5033955" y="3931920"/>
            <a:ext cx="2123785" cy="777240"/>
          </a:xfrm>
          <a:prstGeom prst="roundRect">
            <a:avLst>
              <a:gd name="adj" fmla="val 10588"/>
            </a:avLst>
          </a:prstGeom>
          <a:solidFill>
            <a:srgbClr val="FFFFFF"/>
          </a:solidFill>
          <a:ln w="12700">
            <a:solidFill>
              <a:srgbClr val="E3E1EF"/>
            </a:solidFill>
            <a:prstDash val="solid"/>
          </a:ln>
          <a:effectLst>
            <a:outerShdw blurRad="76200" dist="25400" dir="5400000" algn="bl" rotWithShape="0">
              <a:srgbClr val="9B98B8">
                <a:alpha val="20000"/>
              </a:srgbClr>
            </a:outerShdw>
          </a:effectLst>
        </p:spPr>
        <p:txBody>
          <a:bodyPr/>
          <a:lstStyle/>
          <a:p>
            <a:endParaRPr lang="en-US"/>
          </a:p>
        </p:txBody>
      </p:sp>
      <p:sp>
        <p:nvSpPr>
          <p:cNvPr id="28" name="Text 25"/>
          <p:cNvSpPr/>
          <p:nvPr/>
        </p:nvSpPr>
        <p:spPr>
          <a:xfrm>
            <a:off x="5079675" y="3931920"/>
            <a:ext cx="2032345" cy="777240"/>
          </a:xfrm>
          <a:prstGeom prst="rect">
            <a:avLst/>
          </a:prstGeom>
          <a:noFill/>
          <a:ln/>
        </p:spPr>
        <p:txBody>
          <a:bodyPr wrap="square" lIns="0" tIns="0" rIns="0" bIns="0" rtlCol="0" anchor="ctr"/>
          <a:lstStyle/>
          <a:p>
            <a:pPr marL="0" indent="0" algn="ctr">
              <a:buNone/>
            </a:pPr>
            <a:r>
              <a:rPr lang="en-US" sz="1150" b="1" dirty="0">
                <a:solidFill>
                  <a:srgbClr val="231F44"/>
                </a:solidFill>
                <a:latin typeface="Poppins" pitchFamily="34" charset="0"/>
                <a:ea typeface="Poppins" pitchFamily="34" charset="-122"/>
                <a:cs typeface="Poppins" pitchFamily="34" charset="-120"/>
              </a:rPr>
              <a:t>Improve Accuracy</a:t>
            </a:r>
            <a:endParaRPr lang="en-US" sz="1150" dirty="0"/>
          </a:p>
        </p:txBody>
      </p:sp>
      <p:sp>
        <p:nvSpPr>
          <p:cNvPr id="29" name="Text 26"/>
          <p:cNvSpPr/>
          <p:nvPr/>
        </p:nvSpPr>
        <p:spPr>
          <a:xfrm>
            <a:off x="4869363" y="3931920"/>
            <a:ext cx="164592" cy="777240"/>
          </a:xfrm>
          <a:prstGeom prst="rect">
            <a:avLst/>
          </a:prstGeom>
          <a:noFill/>
          <a:ln/>
        </p:spPr>
        <p:txBody>
          <a:bodyPr wrap="square" lIns="0" tIns="0" rIns="0" bIns="0" rtlCol="0" anchor="ctr"/>
          <a:lstStyle/>
          <a:p>
            <a:pPr marL="0" indent="0" algn="ctr">
              <a:buNone/>
            </a:pPr>
            <a:r>
              <a:rPr lang="en-US" sz="1500" b="1" dirty="0">
                <a:solidFill>
                  <a:srgbClr val="6C5CE7"/>
                </a:solidFill>
                <a:latin typeface="Poppins" pitchFamily="34" charset="0"/>
                <a:ea typeface="Poppins" pitchFamily="34" charset="-122"/>
                <a:cs typeface="Poppins" pitchFamily="34" charset="-120"/>
              </a:rPr>
              <a:t>←</a:t>
            </a:r>
            <a:endParaRPr lang="en-US" sz="1500" dirty="0"/>
          </a:p>
        </p:txBody>
      </p:sp>
      <p:sp>
        <p:nvSpPr>
          <p:cNvPr id="30" name="Shape 27"/>
          <p:cNvSpPr/>
          <p:nvPr/>
        </p:nvSpPr>
        <p:spPr>
          <a:xfrm>
            <a:off x="2745577" y="3931920"/>
            <a:ext cx="2123785" cy="777240"/>
          </a:xfrm>
          <a:prstGeom prst="roundRect">
            <a:avLst>
              <a:gd name="adj" fmla="val 10588"/>
            </a:avLst>
          </a:prstGeom>
          <a:solidFill>
            <a:srgbClr val="6C5CE7"/>
          </a:solidFill>
          <a:ln/>
          <a:effectLst>
            <a:outerShdw blurRad="76200" dist="25400" dir="5400000" algn="bl" rotWithShape="0">
              <a:srgbClr val="9B98B8">
                <a:alpha val="20000"/>
              </a:srgbClr>
            </a:outerShdw>
          </a:effectLst>
        </p:spPr>
        <p:txBody>
          <a:bodyPr/>
          <a:lstStyle/>
          <a:p>
            <a:endParaRPr lang="en-US"/>
          </a:p>
        </p:txBody>
      </p:sp>
      <p:sp>
        <p:nvSpPr>
          <p:cNvPr id="31" name="Text 28"/>
          <p:cNvSpPr/>
          <p:nvPr/>
        </p:nvSpPr>
        <p:spPr>
          <a:xfrm>
            <a:off x="2791297" y="3931920"/>
            <a:ext cx="2032345"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Poppins" pitchFamily="34" charset="0"/>
                <a:ea typeface="Poppins" pitchFamily="34" charset="-122"/>
                <a:cs typeface="Poppins" pitchFamily="34" charset="-120"/>
              </a:rPr>
              <a:t>Final Model</a:t>
            </a:r>
            <a:endParaRPr lang="en-US" sz="1150" dirty="0"/>
          </a:p>
        </p:txBody>
      </p:sp>
      <p:sp>
        <p:nvSpPr>
          <p:cNvPr id="32" name="Text 29"/>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33" name="Text 30"/>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LayoutGrid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System Features</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What students are expected to build</a:t>
            </a:r>
            <a:endParaRPr lang="en-US" sz="1300" dirty="0"/>
          </a:p>
        </p:txBody>
      </p:sp>
      <p:sp>
        <p:nvSpPr>
          <p:cNvPr id="6" name="Shape 3"/>
          <p:cNvSpPr/>
          <p:nvPr/>
        </p:nvSpPr>
        <p:spPr>
          <a:xfrm>
            <a:off x="457200" y="1691640"/>
            <a:ext cx="3576218" cy="1554480"/>
          </a:xfrm>
          <a:prstGeom prst="roundRect">
            <a:avLst>
              <a:gd name="adj" fmla="val 5882"/>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7" name="Shape 4"/>
          <p:cNvSpPr/>
          <p:nvPr/>
        </p:nvSpPr>
        <p:spPr>
          <a:xfrm>
            <a:off x="1970989" y="1892808"/>
            <a:ext cx="548640" cy="548640"/>
          </a:xfrm>
          <a:prstGeom prst="roundRect">
            <a:avLst>
              <a:gd name="adj" fmla="val 50000"/>
            </a:avLst>
          </a:prstGeom>
          <a:solidFill>
            <a:srgbClr val="EDEBF9"/>
          </a:solidFill>
          <a:ln/>
        </p:spPr>
        <p:txBody>
          <a:bodyPr/>
          <a:lstStyle/>
          <a:p>
            <a:endParaRPr lang="en-US"/>
          </a:p>
        </p:txBody>
      </p:sp>
      <p:pic>
        <p:nvPicPr>
          <p:cNvPr id="8" name="Image 1" descr="/home/claude/work/icons/MailWarning_purple.png"/>
          <p:cNvPicPr>
            <a:picLocks noChangeAspect="1"/>
          </p:cNvPicPr>
          <p:nvPr/>
        </p:nvPicPr>
        <p:blipFill>
          <a:blip r:embed="rId4"/>
          <a:stretch>
            <a:fillRect/>
          </a:stretch>
        </p:blipFill>
        <p:spPr>
          <a:xfrm>
            <a:off x="2080717" y="2002536"/>
            <a:ext cx="329184" cy="329184"/>
          </a:xfrm>
          <a:prstGeom prst="rect">
            <a:avLst/>
          </a:prstGeom>
        </p:spPr>
      </p:pic>
      <p:sp>
        <p:nvSpPr>
          <p:cNvPr id="9" name="Text 5"/>
          <p:cNvSpPr/>
          <p:nvPr/>
        </p:nvSpPr>
        <p:spPr>
          <a:xfrm>
            <a:off x="548640" y="2532888"/>
            <a:ext cx="3393338" cy="640080"/>
          </a:xfrm>
          <a:prstGeom prst="rect">
            <a:avLst/>
          </a:prstGeom>
          <a:noFill/>
          <a:ln/>
        </p:spPr>
        <p:txBody>
          <a:bodyPr wrap="square" lIns="0" tIns="0" rIns="0" bIns="0" rtlCol="0" anchor="t"/>
          <a:lstStyle/>
          <a:p>
            <a:pPr marL="0" indent="0" algn="ctr">
              <a:buNone/>
            </a:pPr>
            <a:r>
              <a:rPr lang="en-US" sz="1250" b="1" dirty="0">
                <a:solidFill>
                  <a:srgbClr val="231F44"/>
                </a:solidFill>
                <a:latin typeface="Poppins" pitchFamily="34" charset="0"/>
                <a:ea typeface="Poppins" pitchFamily="34" charset="-122"/>
                <a:cs typeface="Poppins" pitchFamily="34" charset="-120"/>
              </a:rPr>
              <a:t>Spam Prediction</a:t>
            </a:r>
            <a:endParaRPr lang="en-US" sz="1250" dirty="0"/>
          </a:p>
        </p:txBody>
      </p:sp>
      <p:sp>
        <p:nvSpPr>
          <p:cNvPr id="10" name="Shape 6"/>
          <p:cNvSpPr/>
          <p:nvPr/>
        </p:nvSpPr>
        <p:spPr>
          <a:xfrm>
            <a:off x="4307738" y="1691640"/>
            <a:ext cx="3576218" cy="1554480"/>
          </a:xfrm>
          <a:prstGeom prst="roundRect">
            <a:avLst>
              <a:gd name="adj" fmla="val 5882"/>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1" name="Shape 7"/>
          <p:cNvSpPr/>
          <p:nvPr/>
        </p:nvSpPr>
        <p:spPr>
          <a:xfrm>
            <a:off x="5821528" y="1892808"/>
            <a:ext cx="548640" cy="548640"/>
          </a:xfrm>
          <a:prstGeom prst="roundRect">
            <a:avLst>
              <a:gd name="adj" fmla="val 50000"/>
            </a:avLst>
          </a:prstGeom>
          <a:solidFill>
            <a:srgbClr val="EDEBF9"/>
          </a:solidFill>
          <a:ln/>
        </p:spPr>
        <p:txBody>
          <a:bodyPr/>
          <a:lstStyle/>
          <a:p>
            <a:endParaRPr lang="en-US"/>
          </a:p>
        </p:txBody>
      </p:sp>
      <p:pic>
        <p:nvPicPr>
          <p:cNvPr id="12" name="Image 2" descr="/home/claude/work/icons/Mail_purple.png"/>
          <p:cNvPicPr>
            <a:picLocks noChangeAspect="1"/>
          </p:cNvPicPr>
          <p:nvPr/>
        </p:nvPicPr>
        <p:blipFill>
          <a:blip r:embed="rId5"/>
          <a:stretch>
            <a:fillRect/>
          </a:stretch>
        </p:blipFill>
        <p:spPr>
          <a:xfrm>
            <a:off x="5931256" y="2002536"/>
            <a:ext cx="329184" cy="329184"/>
          </a:xfrm>
          <a:prstGeom prst="rect">
            <a:avLst/>
          </a:prstGeom>
        </p:spPr>
      </p:pic>
      <p:sp>
        <p:nvSpPr>
          <p:cNvPr id="13" name="Text 8"/>
          <p:cNvSpPr/>
          <p:nvPr/>
        </p:nvSpPr>
        <p:spPr>
          <a:xfrm>
            <a:off x="4399178" y="2532888"/>
            <a:ext cx="3393338" cy="640080"/>
          </a:xfrm>
          <a:prstGeom prst="rect">
            <a:avLst/>
          </a:prstGeom>
          <a:noFill/>
          <a:ln/>
        </p:spPr>
        <p:txBody>
          <a:bodyPr wrap="square" lIns="0" tIns="0" rIns="0" bIns="0" rtlCol="0" anchor="t"/>
          <a:lstStyle/>
          <a:p>
            <a:pPr marL="0" indent="0" algn="ctr">
              <a:buNone/>
            </a:pPr>
            <a:r>
              <a:rPr lang="en-US" sz="1250" b="1" dirty="0">
                <a:solidFill>
                  <a:srgbClr val="231F44"/>
                </a:solidFill>
                <a:latin typeface="Poppins" pitchFamily="34" charset="0"/>
                <a:ea typeface="Poppins" pitchFamily="34" charset="-122"/>
                <a:cs typeface="Poppins" pitchFamily="34" charset="-120"/>
              </a:rPr>
              <a:t>Email Classification</a:t>
            </a:r>
            <a:endParaRPr lang="en-US" sz="1250" dirty="0"/>
          </a:p>
        </p:txBody>
      </p:sp>
      <p:sp>
        <p:nvSpPr>
          <p:cNvPr id="14" name="Shape 9"/>
          <p:cNvSpPr/>
          <p:nvPr/>
        </p:nvSpPr>
        <p:spPr>
          <a:xfrm>
            <a:off x="8158277" y="1691640"/>
            <a:ext cx="3576218" cy="1554480"/>
          </a:xfrm>
          <a:prstGeom prst="roundRect">
            <a:avLst>
              <a:gd name="adj" fmla="val 5882"/>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5" name="Shape 10"/>
          <p:cNvSpPr/>
          <p:nvPr/>
        </p:nvSpPr>
        <p:spPr>
          <a:xfrm>
            <a:off x="9672066" y="1892808"/>
            <a:ext cx="548640" cy="548640"/>
          </a:xfrm>
          <a:prstGeom prst="roundRect">
            <a:avLst>
              <a:gd name="adj" fmla="val 50000"/>
            </a:avLst>
          </a:prstGeom>
          <a:solidFill>
            <a:srgbClr val="EDEBF9"/>
          </a:solidFill>
          <a:ln/>
        </p:spPr>
        <p:txBody>
          <a:bodyPr/>
          <a:lstStyle/>
          <a:p>
            <a:endParaRPr lang="en-US"/>
          </a:p>
        </p:txBody>
      </p:sp>
      <p:pic>
        <p:nvPicPr>
          <p:cNvPr id="16" name="Image 3" descr="/home/claude/work/icons/Percent_purple.png"/>
          <p:cNvPicPr>
            <a:picLocks noChangeAspect="1"/>
          </p:cNvPicPr>
          <p:nvPr/>
        </p:nvPicPr>
        <p:blipFill>
          <a:blip r:embed="rId6"/>
          <a:stretch>
            <a:fillRect/>
          </a:stretch>
        </p:blipFill>
        <p:spPr>
          <a:xfrm>
            <a:off x="9781794" y="2002536"/>
            <a:ext cx="329184" cy="329184"/>
          </a:xfrm>
          <a:prstGeom prst="rect">
            <a:avLst/>
          </a:prstGeom>
        </p:spPr>
      </p:pic>
      <p:sp>
        <p:nvSpPr>
          <p:cNvPr id="17" name="Text 11"/>
          <p:cNvSpPr/>
          <p:nvPr/>
        </p:nvSpPr>
        <p:spPr>
          <a:xfrm>
            <a:off x="8249717" y="2532888"/>
            <a:ext cx="3393338" cy="640080"/>
          </a:xfrm>
          <a:prstGeom prst="rect">
            <a:avLst/>
          </a:prstGeom>
          <a:noFill/>
          <a:ln/>
        </p:spPr>
        <p:txBody>
          <a:bodyPr wrap="square" lIns="0" tIns="0" rIns="0" bIns="0" rtlCol="0" anchor="t"/>
          <a:lstStyle/>
          <a:p>
            <a:pPr marL="0" indent="0" algn="ctr">
              <a:buNone/>
            </a:pPr>
            <a:r>
              <a:rPr lang="en-US" sz="1250" b="1" dirty="0">
                <a:solidFill>
                  <a:srgbClr val="231F44"/>
                </a:solidFill>
                <a:latin typeface="Poppins" pitchFamily="34" charset="0"/>
                <a:ea typeface="Poppins" pitchFamily="34" charset="-122"/>
                <a:cs typeface="Poppins" pitchFamily="34" charset="-120"/>
              </a:rPr>
              <a:t>Model Accuracy</a:t>
            </a:r>
            <a:endParaRPr lang="en-US" sz="1250" dirty="0"/>
          </a:p>
        </p:txBody>
      </p:sp>
      <p:sp>
        <p:nvSpPr>
          <p:cNvPr id="18" name="Shape 12"/>
          <p:cNvSpPr/>
          <p:nvPr/>
        </p:nvSpPr>
        <p:spPr>
          <a:xfrm>
            <a:off x="457200" y="3520440"/>
            <a:ext cx="3576218" cy="1554480"/>
          </a:xfrm>
          <a:prstGeom prst="roundRect">
            <a:avLst>
              <a:gd name="adj" fmla="val 5882"/>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9" name="Shape 13"/>
          <p:cNvSpPr/>
          <p:nvPr/>
        </p:nvSpPr>
        <p:spPr>
          <a:xfrm>
            <a:off x="1970989" y="3721608"/>
            <a:ext cx="548640" cy="548640"/>
          </a:xfrm>
          <a:prstGeom prst="roundRect">
            <a:avLst>
              <a:gd name="adj" fmla="val 50000"/>
            </a:avLst>
          </a:prstGeom>
          <a:solidFill>
            <a:srgbClr val="EDEBF9"/>
          </a:solidFill>
          <a:ln/>
        </p:spPr>
        <p:txBody>
          <a:bodyPr/>
          <a:lstStyle/>
          <a:p>
            <a:endParaRPr lang="en-US"/>
          </a:p>
        </p:txBody>
      </p:sp>
      <p:pic>
        <p:nvPicPr>
          <p:cNvPr id="20" name="Image 4" descr="/home/claude/work/icons/Grid3x3_purple.png"/>
          <p:cNvPicPr>
            <a:picLocks noChangeAspect="1"/>
          </p:cNvPicPr>
          <p:nvPr/>
        </p:nvPicPr>
        <p:blipFill>
          <a:blip r:embed="rId7"/>
          <a:stretch>
            <a:fillRect/>
          </a:stretch>
        </p:blipFill>
        <p:spPr>
          <a:xfrm>
            <a:off x="2080717" y="3831336"/>
            <a:ext cx="329184" cy="329184"/>
          </a:xfrm>
          <a:prstGeom prst="rect">
            <a:avLst/>
          </a:prstGeom>
        </p:spPr>
      </p:pic>
      <p:sp>
        <p:nvSpPr>
          <p:cNvPr id="21" name="Text 14"/>
          <p:cNvSpPr/>
          <p:nvPr/>
        </p:nvSpPr>
        <p:spPr>
          <a:xfrm>
            <a:off x="548640" y="4361688"/>
            <a:ext cx="3393338" cy="640080"/>
          </a:xfrm>
          <a:prstGeom prst="rect">
            <a:avLst/>
          </a:prstGeom>
          <a:noFill/>
          <a:ln/>
        </p:spPr>
        <p:txBody>
          <a:bodyPr wrap="square" lIns="0" tIns="0" rIns="0" bIns="0" rtlCol="0" anchor="t"/>
          <a:lstStyle/>
          <a:p>
            <a:pPr marL="0" indent="0" algn="ctr">
              <a:buNone/>
            </a:pPr>
            <a:r>
              <a:rPr lang="en-US" sz="1250" b="1" dirty="0">
                <a:solidFill>
                  <a:srgbClr val="231F44"/>
                </a:solidFill>
                <a:latin typeface="Poppins" pitchFamily="34" charset="0"/>
                <a:ea typeface="Poppins" pitchFamily="34" charset="-122"/>
                <a:cs typeface="Poppins" pitchFamily="34" charset="-120"/>
              </a:rPr>
              <a:t>Confusion Matrix</a:t>
            </a:r>
            <a:endParaRPr lang="en-US" sz="1250" dirty="0"/>
          </a:p>
        </p:txBody>
      </p:sp>
      <p:sp>
        <p:nvSpPr>
          <p:cNvPr id="22" name="Shape 15"/>
          <p:cNvSpPr/>
          <p:nvPr/>
        </p:nvSpPr>
        <p:spPr>
          <a:xfrm>
            <a:off x="4307738" y="3520440"/>
            <a:ext cx="3576218" cy="1554480"/>
          </a:xfrm>
          <a:prstGeom prst="roundRect">
            <a:avLst>
              <a:gd name="adj" fmla="val 5882"/>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23" name="Shape 16"/>
          <p:cNvSpPr/>
          <p:nvPr/>
        </p:nvSpPr>
        <p:spPr>
          <a:xfrm>
            <a:off x="5821528" y="3721608"/>
            <a:ext cx="548640" cy="548640"/>
          </a:xfrm>
          <a:prstGeom prst="roundRect">
            <a:avLst>
              <a:gd name="adj" fmla="val 50000"/>
            </a:avLst>
          </a:prstGeom>
          <a:solidFill>
            <a:srgbClr val="EDEBF9"/>
          </a:solidFill>
          <a:ln/>
        </p:spPr>
        <p:txBody>
          <a:bodyPr/>
          <a:lstStyle/>
          <a:p>
            <a:endParaRPr lang="en-US"/>
          </a:p>
        </p:txBody>
      </p:sp>
      <p:pic>
        <p:nvPicPr>
          <p:cNvPr id="24" name="Image 5" descr="/home/claude/work/icons/GitCompare_purple.png"/>
          <p:cNvPicPr>
            <a:picLocks noChangeAspect="1"/>
          </p:cNvPicPr>
          <p:nvPr/>
        </p:nvPicPr>
        <p:blipFill>
          <a:blip r:embed="rId8"/>
          <a:stretch>
            <a:fillRect/>
          </a:stretch>
        </p:blipFill>
        <p:spPr>
          <a:xfrm>
            <a:off x="5931256" y="3831336"/>
            <a:ext cx="329184" cy="329184"/>
          </a:xfrm>
          <a:prstGeom prst="rect">
            <a:avLst/>
          </a:prstGeom>
        </p:spPr>
      </p:pic>
      <p:sp>
        <p:nvSpPr>
          <p:cNvPr id="25" name="Text 17"/>
          <p:cNvSpPr/>
          <p:nvPr/>
        </p:nvSpPr>
        <p:spPr>
          <a:xfrm>
            <a:off x="4399178" y="4361688"/>
            <a:ext cx="3393338" cy="640080"/>
          </a:xfrm>
          <a:prstGeom prst="rect">
            <a:avLst/>
          </a:prstGeom>
          <a:noFill/>
          <a:ln/>
        </p:spPr>
        <p:txBody>
          <a:bodyPr wrap="square" lIns="0" tIns="0" rIns="0" bIns="0" rtlCol="0" anchor="t"/>
          <a:lstStyle/>
          <a:p>
            <a:pPr marL="0" indent="0" algn="ctr">
              <a:buNone/>
            </a:pPr>
            <a:r>
              <a:rPr lang="en-US" sz="1250" b="1" dirty="0">
                <a:solidFill>
                  <a:srgbClr val="231F44"/>
                </a:solidFill>
                <a:latin typeface="Poppins" pitchFamily="34" charset="0"/>
                <a:ea typeface="Poppins" pitchFamily="34" charset="-122"/>
                <a:cs typeface="Poppins" pitchFamily="34" charset="-120"/>
              </a:rPr>
              <a:t>Model Comparison</a:t>
            </a:r>
            <a:endParaRPr lang="en-US" sz="1250" dirty="0"/>
          </a:p>
        </p:txBody>
      </p:sp>
      <p:sp>
        <p:nvSpPr>
          <p:cNvPr id="26" name="Shape 18"/>
          <p:cNvSpPr/>
          <p:nvPr/>
        </p:nvSpPr>
        <p:spPr>
          <a:xfrm>
            <a:off x="8158277" y="3520440"/>
            <a:ext cx="3576218" cy="1554480"/>
          </a:xfrm>
          <a:prstGeom prst="roundRect">
            <a:avLst>
              <a:gd name="adj" fmla="val 5882"/>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27" name="Shape 19"/>
          <p:cNvSpPr/>
          <p:nvPr/>
        </p:nvSpPr>
        <p:spPr>
          <a:xfrm>
            <a:off x="9672066" y="3721608"/>
            <a:ext cx="548640" cy="548640"/>
          </a:xfrm>
          <a:prstGeom prst="roundRect">
            <a:avLst>
              <a:gd name="adj" fmla="val 50000"/>
            </a:avLst>
          </a:prstGeom>
          <a:solidFill>
            <a:srgbClr val="EDEBF9"/>
          </a:solidFill>
          <a:ln/>
        </p:spPr>
        <p:txBody>
          <a:bodyPr/>
          <a:lstStyle/>
          <a:p>
            <a:endParaRPr lang="en-US"/>
          </a:p>
        </p:txBody>
      </p:sp>
      <p:pic>
        <p:nvPicPr>
          <p:cNvPr id="28" name="Image 6" descr="/home/claude/work/icons/FileBarChart_purple.png"/>
          <p:cNvPicPr>
            <a:picLocks noChangeAspect="1"/>
          </p:cNvPicPr>
          <p:nvPr/>
        </p:nvPicPr>
        <p:blipFill>
          <a:blip r:embed="rId9"/>
          <a:stretch>
            <a:fillRect/>
          </a:stretch>
        </p:blipFill>
        <p:spPr>
          <a:xfrm>
            <a:off x="9781794" y="3831336"/>
            <a:ext cx="329184" cy="329184"/>
          </a:xfrm>
          <a:prstGeom prst="rect">
            <a:avLst/>
          </a:prstGeom>
        </p:spPr>
      </p:pic>
      <p:sp>
        <p:nvSpPr>
          <p:cNvPr id="29" name="Text 20"/>
          <p:cNvSpPr/>
          <p:nvPr/>
        </p:nvSpPr>
        <p:spPr>
          <a:xfrm>
            <a:off x="8249717" y="4361688"/>
            <a:ext cx="3393338" cy="640080"/>
          </a:xfrm>
          <a:prstGeom prst="rect">
            <a:avLst/>
          </a:prstGeom>
          <a:noFill/>
          <a:ln/>
        </p:spPr>
        <p:txBody>
          <a:bodyPr wrap="square" lIns="0" tIns="0" rIns="0" bIns="0" rtlCol="0" anchor="t"/>
          <a:lstStyle/>
          <a:p>
            <a:pPr marL="0" indent="0" algn="ctr">
              <a:buNone/>
            </a:pPr>
            <a:r>
              <a:rPr lang="en-US" sz="1250" b="1" dirty="0">
                <a:solidFill>
                  <a:srgbClr val="231F44"/>
                </a:solidFill>
                <a:latin typeface="Poppins" pitchFamily="34" charset="0"/>
                <a:ea typeface="Poppins" pitchFamily="34" charset="-122"/>
                <a:cs typeface="Poppins" pitchFamily="34" charset="-120"/>
              </a:rPr>
              <a:t>Performance Report</a:t>
            </a:r>
            <a:endParaRPr lang="en-US" sz="1250" dirty="0"/>
          </a:p>
        </p:txBody>
      </p:sp>
      <p:sp>
        <p:nvSpPr>
          <p:cNvPr id="30" name="Text 21"/>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31" name="Text 22"/>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Globe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Real-World Applications</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Where companies use spam detection</a:t>
            </a:r>
            <a:endParaRPr lang="en-US" sz="1300" dirty="0"/>
          </a:p>
        </p:txBody>
      </p:sp>
      <p:sp>
        <p:nvSpPr>
          <p:cNvPr id="6" name="Shape 3"/>
          <p:cNvSpPr/>
          <p:nvPr/>
        </p:nvSpPr>
        <p:spPr>
          <a:xfrm>
            <a:off x="457200" y="1554480"/>
            <a:ext cx="3576218" cy="1280160"/>
          </a:xfrm>
          <a:prstGeom prst="roundRect">
            <a:avLst>
              <a:gd name="adj" fmla="val 714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7" name="Shape 4"/>
          <p:cNvSpPr/>
          <p:nvPr/>
        </p:nvSpPr>
        <p:spPr>
          <a:xfrm>
            <a:off x="640080" y="1943100"/>
            <a:ext cx="502920" cy="502920"/>
          </a:xfrm>
          <a:prstGeom prst="roundRect">
            <a:avLst>
              <a:gd name="adj" fmla="val 50000"/>
            </a:avLst>
          </a:prstGeom>
          <a:solidFill>
            <a:srgbClr val="EDEBF9"/>
          </a:solidFill>
          <a:ln/>
        </p:spPr>
        <p:txBody>
          <a:bodyPr/>
          <a:lstStyle/>
          <a:p>
            <a:endParaRPr lang="en-US"/>
          </a:p>
        </p:txBody>
      </p:sp>
      <p:pic>
        <p:nvPicPr>
          <p:cNvPr id="8" name="Image 1" descr="/home/claude/work/icons/Mail_purple.png"/>
          <p:cNvPicPr>
            <a:picLocks noChangeAspect="1"/>
          </p:cNvPicPr>
          <p:nvPr/>
        </p:nvPicPr>
        <p:blipFill>
          <a:blip r:embed="rId4"/>
          <a:stretch>
            <a:fillRect/>
          </a:stretch>
        </p:blipFill>
        <p:spPr>
          <a:xfrm>
            <a:off x="749808" y="2052828"/>
            <a:ext cx="283464" cy="283464"/>
          </a:xfrm>
          <a:prstGeom prst="rect">
            <a:avLst/>
          </a:prstGeom>
        </p:spPr>
      </p:pic>
      <p:sp>
        <p:nvSpPr>
          <p:cNvPr id="9" name="Text 5"/>
          <p:cNvSpPr/>
          <p:nvPr/>
        </p:nvSpPr>
        <p:spPr>
          <a:xfrm>
            <a:off x="1280160" y="1554480"/>
            <a:ext cx="2570378" cy="1280160"/>
          </a:xfrm>
          <a:prstGeom prst="rect">
            <a:avLst/>
          </a:prstGeom>
          <a:noFill/>
          <a:ln/>
        </p:spPr>
        <p:txBody>
          <a:bodyPr wrap="square" lIns="0" tIns="0" rIns="0" bIns="0" rtlCol="0" anchor="ctr"/>
          <a:lstStyle/>
          <a:p>
            <a:pPr marL="0" indent="0">
              <a:buNone/>
            </a:pPr>
            <a:r>
              <a:rPr lang="en-US" sz="1300" b="1" dirty="0">
                <a:solidFill>
                  <a:srgbClr val="231F44"/>
                </a:solidFill>
                <a:latin typeface="Poppins" pitchFamily="34" charset="0"/>
                <a:ea typeface="Poppins" pitchFamily="34" charset="-122"/>
                <a:cs typeface="Poppins" pitchFamily="34" charset="-120"/>
              </a:rPr>
              <a:t>Gmail</a:t>
            </a:r>
            <a:endParaRPr lang="en-US" sz="1300" dirty="0"/>
          </a:p>
        </p:txBody>
      </p:sp>
      <p:sp>
        <p:nvSpPr>
          <p:cNvPr id="10" name="Shape 6"/>
          <p:cNvSpPr/>
          <p:nvPr/>
        </p:nvSpPr>
        <p:spPr>
          <a:xfrm>
            <a:off x="4307738" y="1554480"/>
            <a:ext cx="3576218" cy="1280160"/>
          </a:xfrm>
          <a:prstGeom prst="roundRect">
            <a:avLst>
              <a:gd name="adj" fmla="val 714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1" name="Shape 7"/>
          <p:cNvSpPr/>
          <p:nvPr/>
        </p:nvSpPr>
        <p:spPr>
          <a:xfrm>
            <a:off x="4490618" y="1943100"/>
            <a:ext cx="502920" cy="502920"/>
          </a:xfrm>
          <a:prstGeom prst="roundRect">
            <a:avLst>
              <a:gd name="adj" fmla="val 50000"/>
            </a:avLst>
          </a:prstGeom>
          <a:solidFill>
            <a:srgbClr val="EDEBF9"/>
          </a:solidFill>
          <a:ln/>
        </p:spPr>
        <p:txBody>
          <a:bodyPr/>
          <a:lstStyle/>
          <a:p>
            <a:endParaRPr lang="en-US"/>
          </a:p>
        </p:txBody>
      </p:sp>
      <p:pic>
        <p:nvPicPr>
          <p:cNvPr id="12" name="Image 2" descr="/home/claude/work/icons/Inbox_purple.png"/>
          <p:cNvPicPr>
            <a:picLocks noChangeAspect="1"/>
          </p:cNvPicPr>
          <p:nvPr/>
        </p:nvPicPr>
        <p:blipFill>
          <a:blip r:embed="rId5"/>
          <a:stretch>
            <a:fillRect/>
          </a:stretch>
        </p:blipFill>
        <p:spPr>
          <a:xfrm>
            <a:off x="4600346" y="2052828"/>
            <a:ext cx="283464" cy="283464"/>
          </a:xfrm>
          <a:prstGeom prst="rect">
            <a:avLst/>
          </a:prstGeom>
        </p:spPr>
      </p:pic>
      <p:sp>
        <p:nvSpPr>
          <p:cNvPr id="13" name="Text 8"/>
          <p:cNvSpPr/>
          <p:nvPr/>
        </p:nvSpPr>
        <p:spPr>
          <a:xfrm>
            <a:off x="5130698" y="1554480"/>
            <a:ext cx="2570378" cy="1280160"/>
          </a:xfrm>
          <a:prstGeom prst="rect">
            <a:avLst/>
          </a:prstGeom>
          <a:noFill/>
          <a:ln/>
        </p:spPr>
        <p:txBody>
          <a:bodyPr wrap="square" lIns="0" tIns="0" rIns="0" bIns="0" rtlCol="0" anchor="ctr"/>
          <a:lstStyle/>
          <a:p>
            <a:pPr marL="0" indent="0">
              <a:buNone/>
            </a:pPr>
            <a:r>
              <a:rPr lang="en-US" sz="1300" b="1" dirty="0">
                <a:solidFill>
                  <a:srgbClr val="231F44"/>
                </a:solidFill>
                <a:latin typeface="Poppins" pitchFamily="34" charset="0"/>
                <a:ea typeface="Poppins" pitchFamily="34" charset="-122"/>
                <a:cs typeface="Poppins" pitchFamily="34" charset="-120"/>
              </a:rPr>
              <a:t>Microsoft Outlook</a:t>
            </a:r>
            <a:endParaRPr lang="en-US" sz="1300" dirty="0"/>
          </a:p>
        </p:txBody>
      </p:sp>
      <p:sp>
        <p:nvSpPr>
          <p:cNvPr id="14" name="Shape 9"/>
          <p:cNvSpPr/>
          <p:nvPr/>
        </p:nvSpPr>
        <p:spPr>
          <a:xfrm>
            <a:off x="8158277" y="1554480"/>
            <a:ext cx="3576218" cy="1280160"/>
          </a:xfrm>
          <a:prstGeom prst="roundRect">
            <a:avLst>
              <a:gd name="adj" fmla="val 714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5" name="Shape 10"/>
          <p:cNvSpPr/>
          <p:nvPr/>
        </p:nvSpPr>
        <p:spPr>
          <a:xfrm>
            <a:off x="8341157" y="1943100"/>
            <a:ext cx="502920" cy="502920"/>
          </a:xfrm>
          <a:prstGeom prst="roundRect">
            <a:avLst>
              <a:gd name="adj" fmla="val 50000"/>
            </a:avLst>
          </a:prstGeom>
          <a:solidFill>
            <a:srgbClr val="EDEBF9"/>
          </a:solidFill>
          <a:ln/>
        </p:spPr>
        <p:txBody>
          <a:bodyPr/>
          <a:lstStyle/>
          <a:p>
            <a:endParaRPr lang="en-US"/>
          </a:p>
        </p:txBody>
      </p:sp>
      <p:pic>
        <p:nvPicPr>
          <p:cNvPr id="16" name="Image 3" descr="/home/claude/work/icons/MailCheck_purple.png"/>
          <p:cNvPicPr>
            <a:picLocks noChangeAspect="1"/>
          </p:cNvPicPr>
          <p:nvPr/>
        </p:nvPicPr>
        <p:blipFill>
          <a:blip r:embed="rId6"/>
          <a:stretch>
            <a:fillRect/>
          </a:stretch>
        </p:blipFill>
        <p:spPr>
          <a:xfrm>
            <a:off x="8450885" y="2052828"/>
            <a:ext cx="283464" cy="283464"/>
          </a:xfrm>
          <a:prstGeom prst="rect">
            <a:avLst/>
          </a:prstGeom>
        </p:spPr>
      </p:pic>
      <p:sp>
        <p:nvSpPr>
          <p:cNvPr id="17" name="Text 11"/>
          <p:cNvSpPr/>
          <p:nvPr/>
        </p:nvSpPr>
        <p:spPr>
          <a:xfrm>
            <a:off x="8981237" y="1554480"/>
            <a:ext cx="2570378" cy="1280160"/>
          </a:xfrm>
          <a:prstGeom prst="rect">
            <a:avLst/>
          </a:prstGeom>
          <a:noFill/>
          <a:ln/>
        </p:spPr>
        <p:txBody>
          <a:bodyPr wrap="square" lIns="0" tIns="0" rIns="0" bIns="0" rtlCol="0" anchor="ctr"/>
          <a:lstStyle/>
          <a:p>
            <a:pPr marL="0" indent="0">
              <a:buNone/>
            </a:pPr>
            <a:r>
              <a:rPr lang="en-US" sz="1300" b="1" dirty="0">
                <a:solidFill>
                  <a:srgbClr val="231F44"/>
                </a:solidFill>
                <a:latin typeface="Poppins" pitchFamily="34" charset="0"/>
                <a:ea typeface="Poppins" pitchFamily="34" charset="-122"/>
                <a:cs typeface="Poppins" pitchFamily="34" charset="-120"/>
              </a:rPr>
              <a:t>Yahoo Mail</a:t>
            </a:r>
            <a:endParaRPr lang="en-US" sz="1300" dirty="0"/>
          </a:p>
        </p:txBody>
      </p:sp>
      <p:sp>
        <p:nvSpPr>
          <p:cNvPr id="18" name="Shape 12"/>
          <p:cNvSpPr/>
          <p:nvPr/>
        </p:nvSpPr>
        <p:spPr>
          <a:xfrm>
            <a:off x="457200" y="3063240"/>
            <a:ext cx="3576218" cy="1280160"/>
          </a:xfrm>
          <a:prstGeom prst="roundRect">
            <a:avLst>
              <a:gd name="adj" fmla="val 714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9" name="Shape 13"/>
          <p:cNvSpPr/>
          <p:nvPr/>
        </p:nvSpPr>
        <p:spPr>
          <a:xfrm>
            <a:off x="640080" y="3451860"/>
            <a:ext cx="502920" cy="502920"/>
          </a:xfrm>
          <a:prstGeom prst="roundRect">
            <a:avLst>
              <a:gd name="adj" fmla="val 50000"/>
            </a:avLst>
          </a:prstGeom>
          <a:solidFill>
            <a:srgbClr val="EDEBF9"/>
          </a:solidFill>
          <a:ln/>
        </p:spPr>
        <p:txBody>
          <a:bodyPr/>
          <a:lstStyle/>
          <a:p>
            <a:endParaRPr lang="en-US"/>
          </a:p>
        </p:txBody>
      </p:sp>
      <p:pic>
        <p:nvPicPr>
          <p:cNvPr id="20" name="Image 4" descr="/home/claude/work/icons/Building2_purple.png"/>
          <p:cNvPicPr>
            <a:picLocks noChangeAspect="1"/>
          </p:cNvPicPr>
          <p:nvPr/>
        </p:nvPicPr>
        <p:blipFill>
          <a:blip r:embed="rId7"/>
          <a:stretch>
            <a:fillRect/>
          </a:stretch>
        </p:blipFill>
        <p:spPr>
          <a:xfrm>
            <a:off x="749808" y="3561588"/>
            <a:ext cx="283464" cy="283464"/>
          </a:xfrm>
          <a:prstGeom prst="rect">
            <a:avLst/>
          </a:prstGeom>
        </p:spPr>
      </p:pic>
      <p:sp>
        <p:nvSpPr>
          <p:cNvPr id="21" name="Text 14"/>
          <p:cNvSpPr/>
          <p:nvPr/>
        </p:nvSpPr>
        <p:spPr>
          <a:xfrm>
            <a:off x="1280160" y="3063240"/>
            <a:ext cx="2570378" cy="1280160"/>
          </a:xfrm>
          <a:prstGeom prst="rect">
            <a:avLst/>
          </a:prstGeom>
          <a:noFill/>
          <a:ln/>
        </p:spPr>
        <p:txBody>
          <a:bodyPr wrap="square" lIns="0" tIns="0" rIns="0" bIns="0" rtlCol="0" anchor="ctr"/>
          <a:lstStyle/>
          <a:p>
            <a:pPr marL="0" indent="0">
              <a:buNone/>
            </a:pPr>
            <a:r>
              <a:rPr lang="en-US" sz="1300" b="1" dirty="0">
                <a:solidFill>
                  <a:srgbClr val="231F44"/>
                </a:solidFill>
                <a:latin typeface="Poppins" pitchFamily="34" charset="0"/>
                <a:ea typeface="Poppins" pitchFamily="34" charset="-122"/>
                <a:cs typeface="Poppins" pitchFamily="34" charset="-120"/>
              </a:rPr>
              <a:t>Corporate Email Systems</a:t>
            </a:r>
            <a:endParaRPr lang="en-US" sz="1300" dirty="0"/>
          </a:p>
        </p:txBody>
      </p:sp>
      <p:sp>
        <p:nvSpPr>
          <p:cNvPr id="22" name="Shape 15"/>
          <p:cNvSpPr/>
          <p:nvPr/>
        </p:nvSpPr>
        <p:spPr>
          <a:xfrm>
            <a:off x="4307738" y="3063240"/>
            <a:ext cx="3576218" cy="1280160"/>
          </a:xfrm>
          <a:prstGeom prst="roundRect">
            <a:avLst>
              <a:gd name="adj" fmla="val 714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23" name="Shape 16"/>
          <p:cNvSpPr/>
          <p:nvPr/>
        </p:nvSpPr>
        <p:spPr>
          <a:xfrm>
            <a:off x="4490618" y="3451860"/>
            <a:ext cx="502920" cy="502920"/>
          </a:xfrm>
          <a:prstGeom prst="roundRect">
            <a:avLst>
              <a:gd name="adj" fmla="val 50000"/>
            </a:avLst>
          </a:prstGeom>
          <a:solidFill>
            <a:srgbClr val="EDEBF9"/>
          </a:solidFill>
          <a:ln/>
        </p:spPr>
        <p:txBody>
          <a:bodyPr/>
          <a:lstStyle/>
          <a:p>
            <a:endParaRPr lang="en-US"/>
          </a:p>
        </p:txBody>
      </p:sp>
      <p:pic>
        <p:nvPicPr>
          <p:cNvPr id="24" name="Image 5" descr="/home/claude/work/icons/ShieldAlert_purple.png"/>
          <p:cNvPicPr>
            <a:picLocks noChangeAspect="1"/>
          </p:cNvPicPr>
          <p:nvPr/>
        </p:nvPicPr>
        <p:blipFill>
          <a:blip r:embed="rId8"/>
          <a:stretch>
            <a:fillRect/>
          </a:stretch>
        </p:blipFill>
        <p:spPr>
          <a:xfrm>
            <a:off x="4600346" y="3561588"/>
            <a:ext cx="283464" cy="283464"/>
          </a:xfrm>
          <a:prstGeom prst="rect">
            <a:avLst/>
          </a:prstGeom>
        </p:spPr>
      </p:pic>
      <p:sp>
        <p:nvSpPr>
          <p:cNvPr id="25" name="Text 17"/>
          <p:cNvSpPr/>
          <p:nvPr/>
        </p:nvSpPr>
        <p:spPr>
          <a:xfrm>
            <a:off x="5130698" y="3063240"/>
            <a:ext cx="2570378" cy="1280160"/>
          </a:xfrm>
          <a:prstGeom prst="rect">
            <a:avLst/>
          </a:prstGeom>
          <a:noFill/>
          <a:ln/>
        </p:spPr>
        <p:txBody>
          <a:bodyPr wrap="square" lIns="0" tIns="0" rIns="0" bIns="0" rtlCol="0" anchor="ctr"/>
          <a:lstStyle/>
          <a:p>
            <a:pPr marL="0" indent="0">
              <a:buNone/>
            </a:pPr>
            <a:r>
              <a:rPr lang="en-US" sz="1300" b="1" dirty="0">
                <a:solidFill>
                  <a:srgbClr val="231F44"/>
                </a:solidFill>
                <a:latin typeface="Poppins" pitchFamily="34" charset="0"/>
                <a:ea typeface="Poppins" pitchFamily="34" charset="-122"/>
                <a:cs typeface="Poppins" pitchFamily="34" charset="-120"/>
              </a:rPr>
              <a:t>Cybersecurity</a:t>
            </a:r>
            <a:endParaRPr lang="en-US" sz="1300" dirty="0"/>
          </a:p>
        </p:txBody>
      </p:sp>
      <p:sp>
        <p:nvSpPr>
          <p:cNvPr id="26" name="Shape 18"/>
          <p:cNvSpPr/>
          <p:nvPr/>
        </p:nvSpPr>
        <p:spPr>
          <a:xfrm>
            <a:off x="8158277" y="3063240"/>
            <a:ext cx="3576218" cy="1280160"/>
          </a:xfrm>
          <a:prstGeom prst="roundRect">
            <a:avLst>
              <a:gd name="adj" fmla="val 714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27" name="Shape 19"/>
          <p:cNvSpPr/>
          <p:nvPr/>
        </p:nvSpPr>
        <p:spPr>
          <a:xfrm>
            <a:off x="8341157" y="3451860"/>
            <a:ext cx="502920" cy="502920"/>
          </a:xfrm>
          <a:prstGeom prst="roundRect">
            <a:avLst>
              <a:gd name="adj" fmla="val 50000"/>
            </a:avLst>
          </a:prstGeom>
          <a:solidFill>
            <a:srgbClr val="EDEBF9"/>
          </a:solidFill>
          <a:ln/>
        </p:spPr>
        <p:txBody>
          <a:bodyPr/>
          <a:lstStyle/>
          <a:p>
            <a:endParaRPr lang="en-US"/>
          </a:p>
        </p:txBody>
      </p:sp>
      <p:pic>
        <p:nvPicPr>
          <p:cNvPr id="28" name="Image 6" descr="/home/claude/work/icons/Filter_purple.png"/>
          <p:cNvPicPr>
            <a:picLocks noChangeAspect="1"/>
          </p:cNvPicPr>
          <p:nvPr/>
        </p:nvPicPr>
        <p:blipFill>
          <a:blip r:embed="rId9"/>
          <a:stretch>
            <a:fillRect/>
          </a:stretch>
        </p:blipFill>
        <p:spPr>
          <a:xfrm>
            <a:off x="8450885" y="3561588"/>
            <a:ext cx="283464" cy="283464"/>
          </a:xfrm>
          <a:prstGeom prst="rect">
            <a:avLst/>
          </a:prstGeom>
        </p:spPr>
      </p:pic>
      <p:sp>
        <p:nvSpPr>
          <p:cNvPr id="29" name="Text 20"/>
          <p:cNvSpPr/>
          <p:nvPr/>
        </p:nvSpPr>
        <p:spPr>
          <a:xfrm>
            <a:off x="8981237" y="3063240"/>
            <a:ext cx="2570378" cy="1280160"/>
          </a:xfrm>
          <a:prstGeom prst="rect">
            <a:avLst/>
          </a:prstGeom>
          <a:noFill/>
          <a:ln/>
        </p:spPr>
        <p:txBody>
          <a:bodyPr wrap="square" lIns="0" tIns="0" rIns="0" bIns="0" rtlCol="0" anchor="ctr"/>
          <a:lstStyle/>
          <a:p>
            <a:pPr marL="0" indent="0">
              <a:buNone/>
            </a:pPr>
            <a:r>
              <a:rPr lang="en-US" sz="1300" b="1" dirty="0">
                <a:solidFill>
                  <a:srgbClr val="231F44"/>
                </a:solidFill>
                <a:latin typeface="Poppins" pitchFamily="34" charset="0"/>
                <a:ea typeface="Poppins" pitchFamily="34" charset="-122"/>
                <a:cs typeface="Poppins" pitchFamily="34" charset="-120"/>
              </a:rPr>
              <a:t>AI Email Filtering</a:t>
            </a:r>
            <a:endParaRPr lang="en-US" sz="1300" dirty="0"/>
          </a:p>
        </p:txBody>
      </p:sp>
      <p:sp>
        <p:nvSpPr>
          <p:cNvPr id="30" name="Shape 21"/>
          <p:cNvSpPr/>
          <p:nvPr/>
        </p:nvSpPr>
        <p:spPr>
          <a:xfrm>
            <a:off x="1280160" y="4892040"/>
            <a:ext cx="9628632" cy="1280160"/>
          </a:xfrm>
          <a:prstGeom prst="roundRect">
            <a:avLst>
              <a:gd name="adj" fmla="val 7143"/>
            </a:avLst>
          </a:prstGeom>
          <a:solidFill>
            <a:srgbClr val="231F44"/>
          </a:solidFill>
          <a:ln/>
          <a:effectLst>
            <a:outerShdw blurRad="101600" dist="25400" dir="5400000" algn="bl" rotWithShape="0">
              <a:srgbClr val="9B98B8">
                <a:alpha val="25000"/>
              </a:srgbClr>
            </a:outerShdw>
          </a:effectLst>
        </p:spPr>
        <p:txBody>
          <a:bodyPr/>
          <a:lstStyle/>
          <a:p>
            <a:endParaRPr lang="en-US"/>
          </a:p>
        </p:txBody>
      </p:sp>
      <p:sp>
        <p:nvSpPr>
          <p:cNvPr id="31" name="Text 22"/>
          <p:cNvSpPr/>
          <p:nvPr/>
        </p:nvSpPr>
        <p:spPr>
          <a:xfrm>
            <a:off x="1737360" y="4892040"/>
            <a:ext cx="8714232" cy="1280160"/>
          </a:xfrm>
          <a:prstGeom prst="rect">
            <a:avLst/>
          </a:prstGeom>
          <a:noFill/>
          <a:ln/>
        </p:spPr>
        <p:txBody>
          <a:bodyPr wrap="square" lIns="0" tIns="0" rIns="0" bIns="0" rtlCol="0" anchor="ctr"/>
          <a:lstStyle/>
          <a:p>
            <a:pPr marL="0" indent="0" algn="ctr">
              <a:buNone/>
            </a:pPr>
            <a:r>
              <a:rPr lang="en-US" sz="1500" dirty="0">
                <a:solidFill>
                  <a:srgbClr val="FFFFFF"/>
                </a:solidFill>
                <a:latin typeface="Lora" pitchFamily="34" charset="0"/>
                <a:ea typeface="Lora" pitchFamily="34" charset="-122"/>
                <a:cs typeface="Lora" pitchFamily="34" charset="-120"/>
              </a:rPr>
              <a:t>Machine Learning-based spam detection protects users from unwanted emails, phishing attacks, and malicious content.</a:t>
            </a:r>
            <a:endParaRPr lang="en-US" sz="1500" dirty="0"/>
          </a:p>
        </p:txBody>
      </p:sp>
      <p:sp>
        <p:nvSpPr>
          <p:cNvPr id="32" name="Text 23"/>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33" name="Text 24"/>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Database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Dataset</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Dataset for this project</a:t>
            </a:r>
            <a:endParaRPr lang="en-US" sz="1300" dirty="0"/>
          </a:p>
        </p:txBody>
      </p:sp>
      <p:sp>
        <p:nvSpPr>
          <p:cNvPr id="6" name="Shape 3"/>
          <p:cNvSpPr/>
          <p:nvPr/>
        </p:nvSpPr>
        <p:spPr>
          <a:xfrm>
            <a:off x="457200" y="1508760"/>
            <a:ext cx="6949440" cy="3931920"/>
          </a:xfrm>
          <a:prstGeom prst="roundRect">
            <a:avLst>
              <a:gd name="adj" fmla="val 2791"/>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7" name="Text 4"/>
          <p:cNvSpPr/>
          <p:nvPr/>
        </p:nvSpPr>
        <p:spPr>
          <a:xfrm>
            <a:off x="822960" y="1828800"/>
            <a:ext cx="6217920" cy="274320"/>
          </a:xfrm>
          <a:prstGeom prst="rect">
            <a:avLst/>
          </a:prstGeom>
          <a:noFill/>
          <a:ln/>
        </p:spPr>
        <p:txBody>
          <a:bodyPr wrap="square" lIns="0" tIns="0" rIns="0" bIns="0" rtlCol="0" anchor="ctr"/>
          <a:lstStyle/>
          <a:p>
            <a:pPr marL="0" indent="0">
              <a:buNone/>
            </a:pPr>
            <a:r>
              <a:rPr lang="en-US" sz="1100" b="1" kern="0" spc="100" dirty="0">
                <a:solidFill>
                  <a:srgbClr val="6C5CE7"/>
                </a:solidFill>
                <a:latin typeface="Poppins" pitchFamily="34" charset="0"/>
                <a:ea typeface="Poppins" pitchFamily="34" charset="-122"/>
                <a:cs typeface="Poppins" pitchFamily="34" charset="-120"/>
              </a:rPr>
              <a:t>DATASET NAME</a:t>
            </a:r>
            <a:endParaRPr lang="en-US" sz="1100" dirty="0"/>
          </a:p>
        </p:txBody>
      </p:sp>
      <p:sp>
        <p:nvSpPr>
          <p:cNvPr id="8" name="Text 5"/>
          <p:cNvSpPr/>
          <p:nvPr/>
        </p:nvSpPr>
        <p:spPr>
          <a:xfrm>
            <a:off x="822960" y="2103120"/>
            <a:ext cx="6217920" cy="411480"/>
          </a:xfrm>
          <a:prstGeom prst="rect">
            <a:avLst/>
          </a:prstGeom>
          <a:noFill/>
          <a:ln/>
        </p:spPr>
        <p:txBody>
          <a:bodyPr wrap="square" lIns="0" tIns="0" rIns="0" bIns="0" rtlCol="0" anchor="ctr"/>
          <a:lstStyle/>
          <a:p>
            <a:pPr marL="0" indent="0">
              <a:buNone/>
            </a:pPr>
            <a:r>
              <a:rPr lang="en-US" sz="1900" b="1" dirty="0">
                <a:solidFill>
                  <a:srgbClr val="231F44"/>
                </a:solidFill>
                <a:latin typeface="Lora" pitchFamily="34" charset="0"/>
                <a:ea typeface="Lora" pitchFamily="34" charset="-122"/>
                <a:cs typeface="Lora" pitchFamily="34" charset="-120"/>
              </a:rPr>
              <a:t>SMS Spam Collection Dataset</a:t>
            </a:r>
            <a:endParaRPr lang="en-US" sz="1900" dirty="0"/>
          </a:p>
        </p:txBody>
      </p:sp>
      <p:sp>
        <p:nvSpPr>
          <p:cNvPr id="9" name="Text 6"/>
          <p:cNvSpPr/>
          <p:nvPr/>
        </p:nvSpPr>
        <p:spPr>
          <a:xfrm>
            <a:off x="822960" y="2651760"/>
            <a:ext cx="6217920" cy="274320"/>
          </a:xfrm>
          <a:prstGeom prst="rect">
            <a:avLst/>
          </a:prstGeom>
          <a:noFill/>
          <a:ln/>
        </p:spPr>
        <p:txBody>
          <a:bodyPr wrap="square" lIns="0" tIns="0" rIns="0" bIns="0" rtlCol="0" anchor="ctr"/>
          <a:lstStyle/>
          <a:p>
            <a:pPr marL="0" indent="0">
              <a:buNone/>
            </a:pPr>
            <a:r>
              <a:rPr lang="en-US" sz="1100" b="1" kern="0" spc="100" dirty="0">
                <a:solidFill>
                  <a:srgbClr val="6C5CE7"/>
                </a:solidFill>
                <a:latin typeface="Poppins" pitchFamily="34" charset="0"/>
                <a:ea typeface="Poppins" pitchFamily="34" charset="-122"/>
                <a:cs typeface="Poppins" pitchFamily="34" charset="-120"/>
              </a:rPr>
              <a:t>SOURCE</a:t>
            </a:r>
            <a:endParaRPr lang="en-US" sz="1100" dirty="0"/>
          </a:p>
        </p:txBody>
      </p:sp>
      <p:sp>
        <p:nvSpPr>
          <p:cNvPr id="10" name="Text 7"/>
          <p:cNvSpPr/>
          <p:nvPr/>
        </p:nvSpPr>
        <p:spPr>
          <a:xfrm>
            <a:off x="822960" y="2907792"/>
            <a:ext cx="6217920" cy="320040"/>
          </a:xfrm>
          <a:prstGeom prst="rect">
            <a:avLst/>
          </a:prstGeom>
          <a:noFill/>
          <a:ln/>
        </p:spPr>
        <p:txBody>
          <a:bodyPr wrap="square" lIns="0" tIns="0" rIns="0" bIns="0" rtlCol="0" anchor="ctr"/>
          <a:lstStyle/>
          <a:p>
            <a:pPr marL="0" indent="0">
              <a:buNone/>
            </a:pPr>
            <a:r>
              <a:rPr lang="en-US" sz="1350" b="1" dirty="0">
                <a:solidFill>
                  <a:srgbClr val="231F44"/>
                </a:solidFill>
                <a:latin typeface="Poppins" pitchFamily="34" charset="0"/>
                <a:ea typeface="Poppins" pitchFamily="34" charset="-122"/>
                <a:cs typeface="Poppins" pitchFamily="34" charset="-120"/>
              </a:rPr>
              <a:t>UCI Machine Learning Repository  (Kaggle mirror available)</a:t>
            </a:r>
            <a:endParaRPr lang="en-US" sz="1350" dirty="0"/>
          </a:p>
        </p:txBody>
      </p:sp>
      <p:sp>
        <p:nvSpPr>
          <p:cNvPr id="11" name="Shape 8"/>
          <p:cNvSpPr/>
          <p:nvPr/>
        </p:nvSpPr>
        <p:spPr>
          <a:xfrm>
            <a:off x="822960" y="3383280"/>
            <a:ext cx="6217920" cy="0"/>
          </a:xfrm>
          <a:prstGeom prst="line">
            <a:avLst/>
          </a:prstGeom>
          <a:noFill/>
          <a:ln w="12700">
            <a:solidFill>
              <a:srgbClr val="E3E1EF"/>
            </a:solidFill>
            <a:prstDash val="solid"/>
          </a:ln>
        </p:spPr>
        <p:txBody>
          <a:bodyPr/>
          <a:lstStyle/>
          <a:p>
            <a:endParaRPr lang="en-US"/>
          </a:p>
        </p:txBody>
      </p:sp>
      <p:sp>
        <p:nvSpPr>
          <p:cNvPr id="12" name="Text 9"/>
          <p:cNvSpPr/>
          <p:nvPr/>
        </p:nvSpPr>
        <p:spPr>
          <a:xfrm>
            <a:off x="822960" y="3520440"/>
            <a:ext cx="6217920" cy="274320"/>
          </a:xfrm>
          <a:prstGeom prst="rect">
            <a:avLst/>
          </a:prstGeom>
          <a:noFill/>
          <a:ln/>
        </p:spPr>
        <p:txBody>
          <a:bodyPr wrap="square" lIns="0" tIns="0" rIns="0" bIns="0" rtlCol="0" anchor="ctr"/>
          <a:lstStyle/>
          <a:p>
            <a:pPr marL="0" indent="0">
              <a:buNone/>
            </a:pPr>
            <a:r>
              <a:rPr lang="en-US" sz="1100" b="1" kern="0" spc="100" dirty="0">
                <a:solidFill>
                  <a:srgbClr val="6C5CE7"/>
                </a:solidFill>
                <a:latin typeface="Poppins" pitchFamily="34" charset="0"/>
                <a:ea typeface="Poppins" pitchFamily="34" charset="-122"/>
                <a:cs typeface="Poppins" pitchFamily="34" charset="-120"/>
              </a:rPr>
              <a:t>MAIN COLUMNS</a:t>
            </a:r>
            <a:endParaRPr lang="en-US" sz="1100" dirty="0"/>
          </a:p>
        </p:txBody>
      </p:sp>
      <p:sp>
        <p:nvSpPr>
          <p:cNvPr id="13" name="Shape 10"/>
          <p:cNvSpPr/>
          <p:nvPr/>
        </p:nvSpPr>
        <p:spPr>
          <a:xfrm>
            <a:off x="1005840" y="3931920"/>
            <a:ext cx="82296" cy="82296"/>
          </a:xfrm>
          <a:prstGeom prst="ellipse">
            <a:avLst/>
          </a:prstGeom>
          <a:solidFill>
            <a:srgbClr val="6C5CE7"/>
          </a:solidFill>
          <a:ln/>
        </p:spPr>
        <p:txBody>
          <a:bodyPr/>
          <a:lstStyle/>
          <a:p>
            <a:endParaRPr lang="en-US"/>
          </a:p>
        </p:txBody>
      </p:sp>
      <p:sp>
        <p:nvSpPr>
          <p:cNvPr id="14" name="Text 11"/>
          <p:cNvSpPr/>
          <p:nvPr/>
        </p:nvSpPr>
        <p:spPr>
          <a:xfrm>
            <a:off x="1234440" y="3813048"/>
            <a:ext cx="2651760" cy="292608"/>
          </a:xfrm>
          <a:prstGeom prst="rect">
            <a:avLst/>
          </a:prstGeom>
          <a:noFill/>
          <a:ln/>
        </p:spPr>
        <p:txBody>
          <a:bodyPr wrap="square" lIns="0" tIns="0" rIns="0" bIns="0" rtlCol="0" anchor="ctr"/>
          <a:lstStyle/>
          <a:p>
            <a:pPr marL="0" indent="0">
              <a:buNone/>
            </a:pPr>
            <a:r>
              <a:rPr lang="en-US" sz="1350" b="1" dirty="0">
                <a:solidFill>
                  <a:srgbClr val="231F44"/>
                </a:solidFill>
                <a:latin typeface="Poppins" pitchFamily="34" charset="0"/>
                <a:ea typeface="Poppins" pitchFamily="34" charset="-122"/>
                <a:cs typeface="Poppins" pitchFamily="34" charset="-120"/>
              </a:rPr>
              <a:t>Label</a:t>
            </a:r>
            <a:endParaRPr lang="en-US" sz="1350" dirty="0"/>
          </a:p>
        </p:txBody>
      </p:sp>
      <p:sp>
        <p:nvSpPr>
          <p:cNvPr id="15" name="Text 12"/>
          <p:cNvSpPr/>
          <p:nvPr/>
        </p:nvSpPr>
        <p:spPr>
          <a:xfrm>
            <a:off x="1234440" y="4160520"/>
            <a:ext cx="2743200" cy="502920"/>
          </a:xfrm>
          <a:prstGeom prst="rect">
            <a:avLst/>
          </a:prstGeom>
          <a:noFill/>
          <a:ln/>
        </p:spPr>
        <p:txBody>
          <a:bodyPr wrap="square" lIns="0" tIns="0" rIns="0" bIns="0" rtlCol="0" anchor="ctr"/>
          <a:lstStyle/>
          <a:p>
            <a:pPr marL="0" indent="0">
              <a:buNone/>
            </a:pPr>
            <a:r>
              <a:rPr lang="en-US" sz="1050" dirty="0">
                <a:solidFill>
                  <a:srgbClr val="6D6B78"/>
                </a:solidFill>
                <a:latin typeface="Poppins" pitchFamily="34" charset="0"/>
                <a:ea typeface="Poppins" pitchFamily="34" charset="-122"/>
                <a:cs typeface="Poppins" pitchFamily="34" charset="-120"/>
              </a:rPr>
              <a:t>Spam or Ham classification</a:t>
            </a:r>
            <a:endParaRPr lang="en-US" sz="1050" dirty="0"/>
          </a:p>
        </p:txBody>
      </p:sp>
      <p:sp>
        <p:nvSpPr>
          <p:cNvPr id="16" name="Shape 13"/>
          <p:cNvSpPr/>
          <p:nvPr/>
        </p:nvSpPr>
        <p:spPr>
          <a:xfrm>
            <a:off x="4023360" y="3931920"/>
            <a:ext cx="82296" cy="82296"/>
          </a:xfrm>
          <a:prstGeom prst="ellipse">
            <a:avLst/>
          </a:prstGeom>
          <a:solidFill>
            <a:srgbClr val="6C5CE7"/>
          </a:solidFill>
          <a:ln/>
        </p:spPr>
        <p:txBody>
          <a:bodyPr/>
          <a:lstStyle/>
          <a:p>
            <a:endParaRPr lang="en-US"/>
          </a:p>
        </p:txBody>
      </p:sp>
      <p:sp>
        <p:nvSpPr>
          <p:cNvPr id="17" name="Text 14"/>
          <p:cNvSpPr/>
          <p:nvPr/>
        </p:nvSpPr>
        <p:spPr>
          <a:xfrm>
            <a:off x="4251960" y="3813048"/>
            <a:ext cx="2651760" cy="292608"/>
          </a:xfrm>
          <a:prstGeom prst="rect">
            <a:avLst/>
          </a:prstGeom>
          <a:noFill/>
          <a:ln/>
        </p:spPr>
        <p:txBody>
          <a:bodyPr wrap="square" lIns="0" tIns="0" rIns="0" bIns="0" rtlCol="0" anchor="ctr"/>
          <a:lstStyle/>
          <a:p>
            <a:pPr marL="0" indent="0">
              <a:buNone/>
            </a:pPr>
            <a:r>
              <a:rPr lang="en-US" sz="1350" b="1" dirty="0">
                <a:solidFill>
                  <a:srgbClr val="231F44"/>
                </a:solidFill>
                <a:latin typeface="Poppins" pitchFamily="34" charset="0"/>
                <a:ea typeface="Poppins" pitchFamily="34" charset="-122"/>
                <a:cs typeface="Poppins" pitchFamily="34" charset="-120"/>
              </a:rPr>
              <a:t>Message</a:t>
            </a:r>
            <a:endParaRPr lang="en-US" sz="1350" dirty="0"/>
          </a:p>
        </p:txBody>
      </p:sp>
      <p:sp>
        <p:nvSpPr>
          <p:cNvPr id="18" name="Text 15"/>
          <p:cNvSpPr/>
          <p:nvPr/>
        </p:nvSpPr>
        <p:spPr>
          <a:xfrm>
            <a:off x="4251960" y="4160520"/>
            <a:ext cx="2743200" cy="502920"/>
          </a:xfrm>
          <a:prstGeom prst="rect">
            <a:avLst/>
          </a:prstGeom>
          <a:noFill/>
          <a:ln/>
        </p:spPr>
        <p:txBody>
          <a:bodyPr wrap="square" lIns="0" tIns="0" rIns="0" bIns="0" rtlCol="0" anchor="ctr"/>
          <a:lstStyle/>
          <a:p>
            <a:pPr marL="0" indent="0">
              <a:buNone/>
            </a:pPr>
            <a:r>
              <a:rPr lang="en-US" sz="1050" dirty="0">
                <a:solidFill>
                  <a:srgbClr val="6D6B78"/>
                </a:solidFill>
                <a:latin typeface="Poppins" pitchFamily="34" charset="0"/>
                <a:ea typeface="Poppins" pitchFamily="34" charset="-122"/>
                <a:cs typeface="Poppins" pitchFamily="34" charset="-120"/>
              </a:rPr>
              <a:t>The raw email / SMS text content</a:t>
            </a:r>
            <a:endParaRPr lang="en-US" sz="1050" dirty="0"/>
          </a:p>
        </p:txBody>
      </p:sp>
      <p:sp>
        <p:nvSpPr>
          <p:cNvPr id="19" name="Shape 16"/>
          <p:cNvSpPr/>
          <p:nvPr/>
        </p:nvSpPr>
        <p:spPr>
          <a:xfrm>
            <a:off x="7680960" y="1508760"/>
            <a:ext cx="4050792" cy="3931920"/>
          </a:xfrm>
          <a:prstGeom prst="roundRect">
            <a:avLst>
              <a:gd name="adj" fmla="val 2791"/>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20" name="Text 17"/>
          <p:cNvSpPr/>
          <p:nvPr/>
        </p:nvSpPr>
        <p:spPr>
          <a:xfrm>
            <a:off x="7680960" y="1783080"/>
            <a:ext cx="4050792" cy="274320"/>
          </a:xfrm>
          <a:prstGeom prst="rect">
            <a:avLst/>
          </a:prstGeom>
          <a:noFill/>
          <a:ln/>
        </p:spPr>
        <p:txBody>
          <a:bodyPr wrap="square" lIns="0" tIns="0" rIns="0" bIns="0" rtlCol="0" anchor="ctr"/>
          <a:lstStyle/>
          <a:p>
            <a:pPr marL="0" indent="0" algn="ctr">
              <a:buNone/>
            </a:pPr>
            <a:r>
              <a:rPr lang="en-US" sz="1100" b="1" kern="0" spc="100" dirty="0">
                <a:solidFill>
                  <a:srgbClr val="6C5CE7"/>
                </a:solidFill>
                <a:latin typeface="Poppins" pitchFamily="34" charset="0"/>
                <a:ea typeface="Poppins" pitchFamily="34" charset="-122"/>
                <a:cs typeface="Poppins" pitchFamily="34" charset="-120"/>
              </a:rPr>
              <a:t>SCAN TO VIEW</a:t>
            </a:r>
            <a:endParaRPr lang="en-US" sz="1100" dirty="0"/>
          </a:p>
        </p:txBody>
      </p:sp>
      <p:sp>
        <p:nvSpPr>
          <p:cNvPr id="21" name="Shape 18"/>
          <p:cNvSpPr/>
          <p:nvPr/>
        </p:nvSpPr>
        <p:spPr>
          <a:xfrm>
            <a:off x="8705088" y="2148840"/>
            <a:ext cx="2011680" cy="2011680"/>
          </a:xfrm>
          <a:prstGeom prst="roundRect">
            <a:avLst>
              <a:gd name="adj" fmla="val 4545"/>
            </a:avLst>
          </a:prstGeom>
          <a:solidFill>
            <a:srgbClr val="FFFFFF"/>
          </a:solidFill>
          <a:ln w="12700">
            <a:solidFill>
              <a:srgbClr val="E3E1EF"/>
            </a:solidFill>
            <a:prstDash val="solid"/>
          </a:ln>
        </p:spPr>
        <p:txBody>
          <a:bodyPr/>
          <a:lstStyle/>
          <a:p>
            <a:endParaRPr lang="en-US"/>
          </a:p>
        </p:txBody>
      </p:sp>
      <p:pic>
        <p:nvPicPr>
          <p:cNvPr id="22" name="Image 1" descr="/home/claude/work/icons/qr_dataset.png"/>
          <p:cNvPicPr>
            <a:picLocks noChangeAspect="1"/>
          </p:cNvPicPr>
          <p:nvPr/>
        </p:nvPicPr>
        <p:blipFill>
          <a:blip r:embed="rId4"/>
          <a:stretch>
            <a:fillRect/>
          </a:stretch>
        </p:blipFill>
        <p:spPr>
          <a:xfrm>
            <a:off x="8833104" y="2286000"/>
            <a:ext cx="1737360" cy="1737360"/>
          </a:xfrm>
          <a:prstGeom prst="rect">
            <a:avLst/>
          </a:prstGeom>
        </p:spPr>
      </p:pic>
      <p:sp>
        <p:nvSpPr>
          <p:cNvPr id="23" name="Text 19"/>
          <p:cNvSpPr/>
          <p:nvPr/>
        </p:nvSpPr>
        <p:spPr>
          <a:xfrm>
            <a:off x="7955280" y="4343400"/>
            <a:ext cx="3502152" cy="640080"/>
          </a:xfrm>
          <a:prstGeom prst="rect">
            <a:avLst/>
          </a:prstGeom>
          <a:noFill/>
          <a:ln/>
        </p:spPr>
        <p:txBody>
          <a:bodyPr wrap="square" lIns="0" tIns="0" rIns="0" bIns="0" rtlCol="0" anchor="ctr"/>
          <a:lstStyle/>
          <a:p>
            <a:pPr marL="0" indent="0" algn="ctr">
              <a:buNone/>
            </a:pPr>
            <a:r>
              <a:rPr lang="en-US" sz="1050" dirty="0">
                <a:solidFill>
                  <a:srgbClr val="6D6B78"/>
                </a:solidFill>
                <a:latin typeface="Poppins" pitchFamily="34" charset="0"/>
                <a:ea typeface="Poppins" pitchFamily="34" charset="-122"/>
                <a:cs typeface="Poppins" pitchFamily="34" charset="-120"/>
              </a:rPr>
              <a:t>kaggle.com/datasets/uciml/</a:t>
            </a:r>
            <a:endParaRPr lang="en-US" sz="1050" dirty="0"/>
          </a:p>
          <a:p>
            <a:pPr marL="0" indent="0" algn="ctr">
              <a:buNone/>
            </a:pPr>
            <a:r>
              <a:rPr lang="en-US" sz="1050" dirty="0">
                <a:solidFill>
                  <a:srgbClr val="6D6B78"/>
                </a:solidFill>
                <a:latin typeface="Poppins" pitchFamily="34" charset="0"/>
                <a:ea typeface="Poppins" pitchFamily="34" charset="-122"/>
                <a:cs typeface="Poppins" pitchFamily="34" charset="-120"/>
              </a:rPr>
              <a:t>sms-spam-collection-dataset</a:t>
            </a:r>
            <a:endParaRPr lang="en-US" sz="1050" dirty="0"/>
          </a:p>
        </p:txBody>
      </p:sp>
      <p:sp>
        <p:nvSpPr>
          <p:cNvPr id="24" name="Text 20"/>
          <p:cNvSpPr/>
          <p:nvPr/>
        </p:nvSpPr>
        <p:spPr>
          <a:xfrm>
            <a:off x="914400" y="5623560"/>
            <a:ext cx="10332720" cy="365760"/>
          </a:xfrm>
          <a:prstGeom prst="rect">
            <a:avLst/>
          </a:prstGeom>
          <a:noFill/>
          <a:ln/>
        </p:spPr>
        <p:txBody>
          <a:bodyPr wrap="square" lIns="0" tIns="0" rIns="0" bIns="0" rtlCol="0" anchor="ctr"/>
          <a:lstStyle/>
          <a:p>
            <a:pPr marL="0" indent="0" algn="ctr">
              <a:buNone/>
            </a:pPr>
            <a:r>
              <a:rPr lang="en-US" sz="1250" i="1" dirty="0">
                <a:solidFill>
                  <a:srgbClr val="6D6B78"/>
                </a:solidFill>
                <a:latin typeface="Poppins" pitchFamily="34" charset="0"/>
                <a:ea typeface="Poppins" pitchFamily="34" charset="-122"/>
                <a:cs typeface="Poppins" pitchFamily="34" charset="-120"/>
              </a:rPr>
              <a:t>Students should understand the dataset before training any Machine Learning model.</a:t>
            </a:r>
            <a:endParaRPr lang="en-US" sz="1250" dirty="0"/>
          </a:p>
        </p:txBody>
      </p:sp>
      <p:sp>
        <p:nvSpPr>
          <p:cNvPr id="25" name="Text 21"/>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26" name="Text 22"/>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MonitorSmartphone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Expected Output</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Example of the final Spam Detection System</a:t>
            </a:r>
            <a:endParaRPr lang="en-US" sz="1300" dirty="0"/>
          </a:p>
        </p:txBody>
      </p:sp>
      <p:sp>
        <p:nvSpPr>
          <p:cNvPr id="6" name="Shape 3"/>
          <p:cNvSpPr/>
          <p:nvPr/>
        </p:nvSpPr>
        <p:spPr>
          <a:xfrm>
            <a:off x="640080" y="1417320"/>
            <a:ext cx="10908792" cy="4892040"/>
          </a:xfrm>
          <a:prstGeom prst="roundRect">
            <a:avLst>
              <a:gd name="adj" fmla="val 2243"/>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7" name="Shape 4"/>
          <p:cNvSpPr/>
          <p:nvPr/>
        </p:nvSpPr>
        <p:spPr>
          <a:xfrm>
            <a:off x="896112" y="1572768"/>
            <a:ext cx="100584" cy="100584"/>
          </a:xfrm>
          <a:prstGeom prst="ellipse">
            <a:avLst/>
          </a:prstGeom>
          <a:solidFill>
            <a:srgbClr val="9B98B8"/>
          </a:solidFill>
          <a:ln/>
        </p:spPr>
        <p:txBody>
          <a:bodyPr/>
          <a:lstStyle/>
          <a:p>
            <a:endParaRPr lang="en-US"/>
          </a:p>
        </p:txBody>
      </p:sp>
      <p:sp>
        <p:nvSpPr>
          <p:cNvPr id="8" name="Shape 5"/>
          <p:cNvSpPr/>
          <p:nvPr/>
        </p:nvSpPr>
        <p:spPr>
          <a:xfrm>
            <a:off x="1097280" y="1572768"/>
            <a:ext cx="100584" cy="100584"/>
          </a:xfrm>
          <a:prstGeom prst="ellipse">
            <a:avLst/>
          </a:prstGeom>
          <a:solidFill>
            <a:srgbClr val="9B98B8"/>
          </a:solidFill>
          <a:ln/>
        </p:spPr>
        <p:txBody>
          <a:bodyPr/>
          <a:lstStyle/>
          <a:p>
            <a:endParaRPr lang="en-US"/>
          </a:p>
        </p:txBody>
      </p:sp>
      <p:sp>
        <p:nvSpPr>
          <p:cNvPr id="9" name="Shape 6"/>
          <p:cNvSpPr/>
          <p:nvPr/>
        </p:nvSpPr>
        <p:spPr>
          <a:xfrm>
            <a:off x="1298448" y="1572768"/>
            <a:ext cx="100584" cy="100584"/>
          </a:xfrm>
          <a:prstGeom prst="ellipse">
            <a:avLst/>
          </a:prstGeom>
          <a:solidFill>
            <a:srgbClr val="9B98B8"/>
          </a:solidFill>
          <a:ln/>
        </p:spPr>
        <p:txBody>
          <a:bodyPr/>
          <a:lstStyle/>
          <a:p>
            <a:endParaRPr lang="en-US"/>
          </a:p>
        </p:txBody>
      </p:sp>
      <p:pic>
        <p:nvPicPr>
          <p:cNvPr id="10" name="Image 1" descr="/home/claude/work/icons/MailWarning_purple.png"/>
          <p:cNvPicPr>
            <a:picLocks noChangeAspect="1"/>
          </p:cNvPicPr>
          <p:nvPr/>
        </p:nvPicPr>
        <p:blipFill>
          <a:blip r:embed="rId4"/>
          <a:stretch>
            <a:fillRect/>
          </a:stretch>
        </p:blipFill>
        <p:spPr>
          <a:xfrm>
            <a:off x="4677156" y="1508760"/>
            <a:ext cx="237744" cy="237744"/>
          </a:xfrm>
          <a:prstGeom prst="rect">
            <a:avLst/>
          </a:prstGeom>
        </p:spPr>
      </p:pic>
      <p:sp>
        <p:nvSpPr>
          <p:cNvPr id="11" name="Text 7"/>
          <p:cNvSpPr/>
          <p:nvPr/>
        </p:nvSpPr>
        <p:spPr>
          <a:xfrm>
            <a:off x="4951476" y="1490472"/>
            <a:ext cx="2926080" cy="274320"/>
          </a:xfrm>
          <a:prstGeom prst="rect">
            <a:avLst/>
          </a:prstGeom>
          <a:noFill/>
          <a:ln/>
        </p:spPr>
        <p:txBody>
          <a:bodyPr wrap="square" lIns="0" tIns="0" rIns="0" bIns="0" rtlCol="0" anchor="ctr"/>
          <a:lstStyle/>
          <a:p>
            <a:pPr marL="0" indent="0">
              <a:buNone/>
            </a:pPr>
            <a:r>
              <a:rPr lang="en-US" sz="1150" b="1" dirty="0">
                <a:solidFill>
                  <a:srgbClr val="231F44"/>
                </a:solidFill>
                <a:latin typeface="Poppins" pitchFamily="34" charset="0"/>
                <a:ea typeface="Poppins" pitchFamily="34" charset="-122"/>
                <a:cs typeface="Poppins" pitchFamily="34" charset="-120"/>
              </a:rPr>
              <a:t>Spam Detection System — Streamlit App</a:t>
            </a:r>
            <a:endParaRPr lang="en-US" sz="1150" dirty="0"/>
          </a:p>
        </p:txBody>
      </p:sp>
      <p:sp>
        <p:nvSpPr>
          <p:cNvPr id="12" name="Shape 8"/>
          <p:cNvSpPr/>
          <p:nvPr/>
        </p:nvSpPr>
        <p:spPr>
          <a:xfrm>
            <a:off x="822960" y="1874520"/>
            <a:ext cx="10543032" cy="0"/>
          </a:xfrm>
          <a:prstGeom prst="line">
            <a:avLst/>
          </a:prstGeom>
          <a:noFill/>
          <a:ln w="12700">
            <a:solidFill>
              <a:srgbClr val="E3E1EF"/>
            </a:solidFill>
            <a:prstDash val="solid"/>
          </a:ln>
        </p:spPr>
        <p:txBody>
          <a:bodyPr/>
          <a:lstStyle/>
          <a:p>
            <a:endParaRPr lang="en-US"/>
          </a:p>
        </p:txBody>
      </p:sp>
      <p:sp>
        <p:nvSpPr>
          <p:cNvPr id="13" name="Text 9"/>
          <p:cNvSpPr/>
          <p:nvPr/>
        </p:nvSpPr>
        <p:spPr>
          <a:xfrm>
            <a:off x="822960" y="2057400"/>
            <a:ext cx="5074920" cy="274320"/>
          </a:xfrm>
          <a:prstGeom prst="rect">
            <a:avLst/>
          </a:prstGeom>
          <a:noFill/>
          <a:ln/>
        </p:spPr>
        <p:txBody>
          <a:bodyPr wrap="square" lIns="0" tIns="0" rIns="0" bIns="0" rtlCol="0" anchor="ctr"/>
          <a:lstStyle/>
          <a:p>
            <a:pPr marL="0" indent="0">
              <a:buNone/>
            </a:pPr>
            <a:r>
              <a:rPr lang="en-US" sz="1200" b="1" dirty="0">
                <a:solidFill>
                  <a:srgbClr val="231F44"/>
                </a:solidFill>
                <a:latin typeface="Poppins" pitchFamily="34" charset="0"/>
                <a:ea typeface="Poppins" pitchFamily="34" charset="-122"/>
                <a:cs typeface="Poppins" pitchFamily="34" charset="-120"/>
              </a:rPr>
              <a:t>Input Message</a:t>
            </a:r>
            <a:endParaRPr lang="en-US" sz="1200" dirty="0"/>
          </a:p>
        </p:txBody>
      </p:sp>
      <p:sp>
        <p:nvSpPr>
          <p:cNvPr id="14" name="Shape 10"/>
          <p:cNvSpPr/>
          <p:nvPr/>
        </p:nvSpPr>
        <p:spPr>
          <a:xfrm>
            <a:off x="822960" y="2350008"/>
            <a:ext cx="5074920" cy="1005840"/>
          </a:xfrm>
          <a:prstGeom prst="roundRect">
            <a:avLst>
              <a:gd name="adj" fmla="val 5455"/>
            </a:avLst>
          </a:prstGeom>
          <a:solidFill>
            <a:srgbClr val="F8F7FC"/>
          </a:solidFill>
          <a:ln w="12700">
            <a:solidFill>
              <a:srgbClr val="E3E1EF"/>
            </a:solidFill>
            <a:prstDash val="solid"/>
          </a:ln>
        </p:spPr>
        <p:txBody>
          <a:bodyPr/>
          <a:lstStyle/>
          <a:p>
            <a:endParaRPr lang="en-US"/>
          </a:p>
        </p:txBody>
      </p:sp>
      <p:sp>
        <p:nvSpPr>
          <p:cNvPr id="15" name="Text 11"/>
          <p:cNvSpPr/>
          <p:nvPr/>
        </p:nvSpPr>
        <p:spPr>
          <a:xfrm>
            <a:off x="960120" y="2423160"/>
            <a:ext cx="4800600" cy="868680"/>
          </a:xfrm>
          <a:prstGeom prst="rect">
            <a:avLst/>
          </a:prstGeom>
          <a:noFill/>
          <a:ln/>
        </p:spPr>
        <p:txBody>
          <a:bodyPr wrap="square" lIns="0" tIns="0" rIns="0" bIns="0" rtlCol="0" anchor="ctr"/>
          <a:lstStyle/>
          <a:p>
            <a:pPr marL="0" indent="0">
              <a:buNone/>
            </a:pPr>
            <a:r>
              <a:rPr lang="en-US" sz="1050" i="1" dirty="0">
                <a:solidFill>
                  <a:srgbClr val="6D6B78"/>
                </a:solidFill>
                <a:latin typeface="Poppins" pitchFamily="34" charset="0"/>
                <a:ea typeface="Poppins" pitchFamily="34" charset="-122"/>
                <a:cs typeface="Poppins" pitchFamily="34" charset="-120"/>
              </a:rPr>
              <a:t>Congratulations! You've WON a $1000 gift card. Click here now to claim your prize before it expires!!!</a:t>
            </a:r>
            <a:endParaRPr lang="en-US" sz="1050" dirty="0"/>
          </a:p>
        </p:txBody>
      </p:sp>
      <p:sp>
        <p:nvSpPr>
          <p:cNvPr id="16" name="Shape 12"/>
          <p:cNvSpPr/>
          <p:nvPr/>
        </p:nvSpPr>
        <p:spPr>
          <a:xfrm>
            <a:off x="822960" y="3502152"/>
            <a:ext cx="1645920" cy="411480"/>
          </a:xfrm>
          <a:prstGeom prst="roundRect">
            <a:avLst>
              <a:gd name="adj" fmla="val 17778"/>
            </a:avLst>
          </a:prstGeom>
          <a:solidFill>
            <a:srgbClr val="6C5CE7"/>
          </a:solidFill>
          <a:ln/>
        </p:spPr>
        <p:txBody>
          <a:bodyPr/>
          <a:lstStyle/>
          <a:p>
            <a:endParaRPr lang="en-US"/>
          </a:p>
        </p:txBody>
      </p:sp>
      <p:sp>
        <p:nvSpPr>
          <p:cNvPr id="17" name="Text 13"/>
          <p:cNvSpPr/>
          <p:nvPr/>
        </p:nvSpPr>
        <p:spPr>
          <a:xfrm>
            <a:off x="822960" y="3502152"/>
            <a:ext cx="1645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Predict  →</a:t>
            </a:r>
            <a:endParaRPr lang="en-US" sz="1200" dirty="0"/>
          </a:p>
        </p:txBody>
      </p:sp>
      <p:sp>
        <p:nvSpPr>
          <p:cNvPr id="18" name="Text 14"/>
          <p:cNvSpPr/>
          <p:nvPr/>
        </p:nvSpPr>
        <p:spPr>
          <a:xfrm>
            <a:off x="6062472" y="2057400"/>
            <a:ext cx="5074920" cy="274320"/>
          </a:xfrm>
          <a:prstGeom prst="rect">
            <a:avLst/>
          </a:prstGeom>
          <a:noFill/>
          <a:ln/>
        </p:spPr>
        <p:txBody>
          <a:bodyPr wrap="square" lIns="0" tIns="0" rIns="0" bIns="0" rtlCol="0" anchor="ctr"/>
          <a:lstStyle/>
          <a:p>
            <a:pPr marL="0" indent="0">
              <a:buNone/>
            </a:pPr>
            <a:r>
              <a:rPr lang="en-US" sz="1200" b="1" dirty="0">
                <a:solidFill>
                  <a:srgbClr val="231F44"/>
                </a:solidFill>
                <a:latin typeface="Poppins" pitchFamily="34" charset="0"/>
                <a:ea typeface="Poppins" pitchFamily="34" charset="-122"/>
                <a:cs typeface="Poppins" pitchFamily="34" charset="-120"/>
              </a:rPr>
              <a:t>Prediction Result</a:t>
            </a:r>
            <a:endParaRPr lang="en-US" sz="1200" dirty="0"/>
          </a:p>
        </p:txBody>
      </p:sp>
      <p:sp>
        <p:nvSpPr>
          <p:cNvPr id="19" name="Shape 15"/>
          <p:cNvSpPr/>
          <p:nvPr/>
        </p:nvSpPr>
        <p:spPr>
          <a:xfrm>
            <a:off x="6062472" y="2350008"/>
            <a:ext cx="1463040" cy="365760"/>
          </a:xfrm>
          <a:prstGeom prst="roundRect">
            <a:avLst>
              <a:gd name="adj" fmla="val 50000"/>
            </a:avLst>
          </a:prstGeom>
          <a:solidFill>
            <a:srgbClr val="F0A030"/>
          </a:solidFill>
          <a:ln/>
        </p:spPr>
        <p:txBody>
          <a:bodyPr/>
          <a:lstStyle/>
          <a:p>
            <a:endParaRPr lang="en-US"/>
          </a:p>
        </p:txBody>
      </p:sp>
      <p:sp>
        <p:nvSpPr>
          <p:cNvPr id="20" name="Text 16"/>
          <p:cNvSpPr/>
          <p:nvPr/>
        </p:nvSpPr>
        <p:spPr>
          <a:xfrm>
            <a:off x="6062472" y="2350008"/>
            <a:ext cx="14630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  SPAM</a:t>
            </a:r>
            <a:endParaRPr lang="en-US" sz="1200" dirty="0"/>
          </a:p>
        </p:txBody>
      </p:sp>
      <p:sp>
        <p:nvSpPr>
          <p:cNvPr id="21" name="Text 17"/>
          <p:cNvSpPr/>
          <p:nvPr/>
        </p:nvSpPr>
        <p:spPr>
          <a:xfrm>
            <a:off x="6062472" y="2880360"/>
            <a:ext cx="1463040" cy="228600"/>
          </a:xfrm>
          <a:prstGeom prst="rect">
            <a:avLst/>
          </a:prstGeom>
          <a:noFill/>
          <a:ln/>
        </p:spPr>
        <p:txBody>
          <a:bodyPr wrap="square" lIns="0" tIns="0" rIns="0" bIns="0" rtlCol="0" anchor="ctr"/>
          <a:lstStyle/>
          <a:p>
            <a:pPr marL="0" indent="0">
              <a:buNone/>
            </a:pPr>
            <a:r>
              <a:rPr lang="en-US" sz="1050" b="1" dirty="0">
                <a:solidFill>
                  <a:srgbClr val="231F44"/>
                </a:solidFill>
                <a:latin typeface="Poppins" pitchFamily="34" charset="0"/>
                <a:ea typeface="Poppins" pitchFamily="34" charset="-122"/>
                <a:cs typeface="Poppins" pitchFamily="34" charset="-120"/>
              </a:rPr>
              <a:t>Spam Probability</a:t>
            </a:r>
            <a:endParaRPr lang="en-US" sz="1050" dirty="0"/>
          </a:p>
        </p:txBody>
      </p:sp>
      <p:sp>
        <p:nvSpPr>
          <p:cNvPr id="22" name="Text 18"/>
          <p:cNvSpPr/>
          <p:nvPr/>
        </p:nvSpPr>
        <p:spPr>
          <a:xfrm>
            <a:off x="10497312" y="2880360"/>
            <a:ext cx="640080" cy="228600"/>
          </a:xfrm>
          <a:prstGeom prst="rect">
            <a:avLst/>
          </a:prstGeom>
          <a:noFill/>
          <a:ln/>
        </p:spPr>
        <p:txBody>
          <a:bodyPr wrap="square" lIns="0" tIns="0" rIns="0" bIns="0" rtlCol="0" anchor="ctr"/>
          <a:lstStyle/>
          <a:p>
            <a:pPr marL="0" indent="0" algn="r">
              <a:buNone/>
            </a:pPr>
            <a:r>
              <a:rPr lang="en-US" sz="1050" b="1" dirty="0">
                <a:solidFill>
                  <a:srgbClr val="231F44"/>
                </a:solidFill>
                <a:latin typeface="Poppins" pitchFamily="34" charset="0"/>
                <a:ea typeface="Poppins" pitchFamily="34" charset="-122"/>
                <a:cs typeface="Poppins" pitchFamily="34" charset="-120"/>
              </a:rPr>
              <a:t>87%</a:t>
            </a:r>
            <a:endParaRPr lang="en-US" sz="1050" dirty="0"/>
          </a:p>
        </p:txBody>
      </p:sp>
      <p:sp>
        <p:nvSpPr>
          <p:cNvPr id="23" name="Shape 19"/>
          <p:cNvSpPr/>
          <p:nvPr/>
        </p:nvSpPr>
        <p:spPr>
          <a:xfrm>
            <a:off x="6062472" y="3118104"/>
            <a:ext cx="5074920" cy="164592"/>
          </a:xfrm>
          <a:prstGeom prst="roundRect">
            <a:avLst>
              <a:gd name="adj" fmla="val 50000"/>
            </a:avLst>
          </a:prstGeom>
          <a:solidFill>
            <a:srgbClr val="E3E1EF"/>
          </a:solidFill>
          <a:ln/>
        </p:spPr>
        <p:txBody>
          <a:bodyPr/>
          <a:lstStyle/>
          <a:p>
            <a:endParaRPr lang="en-US"/>
          </a:p>
        </p:txBody>
      </p:sp>
      <p:sp>
        <p:nvSpPr>
          <p:cNvPr id="24" name="Shape 20"/>
          <p:cNvSpPr/>
          <p:nvPr/>
        </p:nvSpPr>
        <p:spPr>
          <a:xfrm>
            <a:off x="6062472" y="3118104"/>
            <a:ext cx="4415180" cy="164592"/>
          </a:xfrm>
          <a:prstGeom prst="roundRect">
            <a:avLst>
              <a:gd name="adj" fmla="val 50000"/>
            </a:avLst>
          </a:prstGeom>
          <a:solidFill>
            <a:srgbClr val="F0A030"/>
          </a:solidFill>
          <a:ln/>
        </p:spPr>
        <p:txBody>
          <a:bodyPr/>
          <a:lstStyle/>
          <a:p>
            <a:endParaRPr lang="en-US"/>
          </a:p>
        </p:txBody>
      </p:sp>
      <p:sp>
        <p:nvSpPr>
          <p:cNvPr id="25" name="Text 21"/>
          <p:cNvSpPr/>
          <p:nvPr/>
        </p:nvSpPr>
        <p:spPr>
          <a:xfrm>
            <a:off x="6062472" y="3474720"/>
            <a:ext cx="1463040" cy="228600"/>
          </a:xfrm>
          <a:prstGeom prst="rect">
            <a:avLst/>
          </a:prstGeom>
          <a:noFill/>
          <a:ln/>
        </p:spPr>
        <p:txBody>
          <a:bodyPr wrap="square" lIns="0" tIns="0" rIns="0" bIns="0" rtlCol="0" anchor="ctr"/>
          <a:lstStyle/>
          <a:p>
            <a:pPr marL="0" indent="0">
              <a:buNone/>
            </a:pPr>
            <a:r>
              <a:rPr lang="en-US" sz="1050" b="1" dirty="0">
                <a:solidFill>
                  <a:srgbClr val="231F44"/>
                </a:solidFill>
                <a:latin typeface="Poppins" pitchFamily="34" charset="0"/>
                <a:ea typeface="Poppins" pitchFamily="34" charset="-122"/>
                <a:cs typeface="Poppins" pitchFamily="34" charset="-120"/>
              </a:rPr>
              <a:t>Ham Probability</a:t>
            </a:r>
            <a:endParaRPr lang="en-US" sz="1050" dirty="0"/>
          </a:p>
        </p:txBody>
      </p:sp>
      <p:sp>
        <p:nvSpPr>
          <p:cNvPr id="26" name="Text 22"/>
          <p:cNvSpPr/>
          <p:nvPr/>
        </p:nvSpPr>
        <p:spPr>
          <a:xfrm>
            <a:off x="10497312" y="3474720"/>
            <a:ext cx="640080" cy="228600"/>
          </a:xfrm>
          <a:prstGeom prst="rect">
            <a:avLst/>
          </a:prstGeom>
          <a:noFill/>
          <a:ln/>
        </p:spPr>
        <p:txBody>
          <a:bodyPr wrap="square" lIns="0" tIns="0" rIns="0" bIns="0" rtlCol="0" anchor="ctr"/>
          <a:lstStyle/>
          <a:p>
            <a:pPr marL="0" indent="0" algn="r">
              <a:buNone/>
            </a:pPr>
            <a:r>
              <a:rPr lang="en-US" sz="1050" b="1" dirty="0">
                <a:solidFill>
                  <a:srgbClr val="231F44"/>
                </a:solidFill>
                <a:latin typeface="Poppins" pitchFamily="34" charset="0"/>
                <a:ea typeface="Poppins" pitchFamily="34" charset="-122"/>
                <a:cs typeface="Poppins" pitchFamily="34" charset="-120"/>
              </a:rPr>
              <a:t>13%</a:t>
            </a:r>
            <a:endParaRPr lang="en-US" sz="1050" dirty="0"/>
          </a:p>
        </p:txBody>
      </p:sp>
      <p:sp>
        <p:nvSpPr>
          <p:cNvPr id="27" name="Shape 23"/>
          <p:cNvSpPr/>
          <p:nvPr/>
        </p:nvSpPr>
        <p:spPr>
          <a:xfrm>
            <a:off x="6062472" y="3712464"/>
            <a:ext cx="5074920" cy="164592"/>
          </a:xfrm>
          <a:prstGeom prst="roundRect">
            <a:avLst>
              <a:gd name="adj" fmla="val 50000"/>
            </a:avLst>
          </a:prstGeom>
          <a:solidFill>
            <a:srgbClr val="E3E1EF"/>
          </a:solidFill>
          <a:ln/>
        </p:spPr>
        <p:txBody>
          <a:bodyPr/>
          <a:lstStyle/>
          <a:p>
            <a:endParaRPr lang="en-US"/>
          </a:p>
        </p:txBody>
      </p:sp>
      <p:sp>
        <p:nvSpPr>
          <p:cNvPr id="28" name="Shape 24"/>
          <p:cNvSpPr/>
          <p:nvPr/>
        </p:nvSpPr>
        <p:spPr>
          <a:xfrm>
            <a:off x="6062472" y="3712464"/>
            <a:ext cx="659740" cy="164592"/>
          </a:xfrm>
          <a:prstGeom prst="roundRect">
            <a:avLst>
              <a:gd name="adj" fmla="val 50000"/>
            </a:avLst>
          </a:prstGeom>
          <a:solidFill>
            <a:srgbClr val="6C5CE7"/>
          </a:solidFill>
          <a:ln/>
        </p:spPr>
        <p:txBody>
          <a:bodyPr/>
          <a:lstStyle/>
          <a:p>
            <a:endParaRPr lang="en-US"/>
          </a:p>
        </p:txBody>
      </p:sp>
      <p:sp>
        <p:nvSpPr>
          <p:cNvPr id="29" name="Shape 25"/>
          <p:cNvSpPr/>
          <p:nvPr/>
        </p:nvSpPr>
        <p:spPr>
          <a:xfrm>
            <a:off x="822960" y="4160520"/>
            <a:ext cx="3404616" cy="1965960"/>
          </a:xfrm>
          <a:prstGeom prst="roundRect">
            <a:avLst>
              <a:gd name="adj" fmla="val 3721"/>
            </a:avLst>
          </a:prstGeom>
          <a:solidFill>
            <a:srgbClr val="F8F7FC"/>
          </a:solidFill>
          <a:ln w="12700">
            <a:solidFill>
              <a:srgbClr val="E3E1EF"/>
            </a:solidFill>
            <a:prstDash val="solid"/>
          </a:ln>
        </p:spPr>
        <p:txBody>
          <a:bodyPr/>
          <a:lstStyle/>
          <a:p>
            <a:endParaRPr lang="en-US"/>
          </a:p>
        </p:txBody>
      </p:sp>
      <p:sp>
        <p:nvSpPr>
          <p:cNvPr id="30" name="Text 26"/>
          <p:cNvSpPr/>
          <p:nvPr/>
        </p:nvSpPr>
        <p:spPr>
          <a:xfrm>
            <a:off x="960120" y="4251960"/>
            <a:ext cx="3130296" cy="228600"/>
          </a:xfrm>
          <a:prstGeom prst="rect">
            <a:avLst/>
          </a:prstGeom>
          <a:noFill/>
          <a:ln/>
        </p:spPr>
        <p:txBody>
          <a:bodyPr wrap="square" lIns="0" tIns="0" rIns="0" bIns="0" rtlCol="0" anchor="ctr"/>
          <a:lstStyle/>
          <a:p>
            <a:pPr marL="0" indent="0">
              <a:buNone/>
            </a:pPr>
            <a:r>
              <a:rPr lang="en-US" sz="1050" b="1" dirty="0">
                <a:solidFill>
                  <a:srgbClr val="231F44"/>
                </a:solidFill>
                <a:latin typeface="Poppins" pitchFamily="34" charset="0"/>
                <a:ea typeface="Poppins" pitchFamily="34" charset="-122"/>
                <a:cs typeface="Poppins" pitchFamily="34" charset="-120"/>
              </a:rPr>
              <a:t>Confusion Matrix</a:t>
            </a:r>
            <a:endParaRPr lang="en-US" sz="1050" dirty="0"/>
          </a:p>
        </p:txBody>
      </p:sp>
      <p:sp>
        <p:nvSpPr>
          <p:cNvPr id="31" name="Shape 27"/>
          <p:cNvSpPr/>
          <p:nvPr/>
        </p:nvSpPr>
        <p:spPr>
          <a:xfrm>
            <a:off x="1930908" y="4544568"/>
            <a:ext cx="566928" cy="566928"/>
          </a:xfrm>
          <a:prstGeom prst="roundRect">
            <a:avLst>
              <a:gd name="adj" fmla="val 9677"/>
            </a:avLst>
          </a:prstGeom>
          <a:solidFill>
            <a:srgbClr val="6C5CE7"/>
          </a:solidFill>
          <a:ln/>
        </p:spPr>
        <p:txBody>
          <a:bodyPr/>
          <a:lstStyle/>
          <a:p>
            <a:endParaRPr lang="en-US"/>
          </a:p>
        </p:txBody>
      </p:sp>
      <p:sp>
        <p:nvSpPr>
          <p:cNvPr id="32" name="Text 28"/>
          <p:cNvSpPr/>
          <p:nvPr/>
        </p:nvSpPr>
        <p:spPr>
          <a:xfrm>
            <a:off x="1930908" y="4544568"/>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Poppins" pitchFamily="34" charset="0"/>
                <a:ea typeface="Poppins" pitchFamily="34" charset="-122"/>
                <a:cs typeface="Poppins" pitchFamily="34" charset="-120"/>
              </a:rPr>
              <a:t>142</a:t>
            </a:r>
            <a:endParaRPr lang="en-US" sz="1300" dirty="0"/>
          </a:p>
        </p:txBody>
      </p:sp>
      <p:sp>
        <p:nvSpPr>
          <p:cNvPr id="33" name="Shape 29"/>
          <p:cNvSpPr/>
          <p:nvPr/>
        </p:nvSpPr>
        <p:spPr>
          <a:xfrm>
            <a:off x="2552700" y="4544568"/>
            <a:ext cx="566928" cy="566928"/>
          </a:xfrm>
          <a:prstGeom prst="roundRect">
            <a:avLst>
              <a:gd name="adj" fmla="val 9677"/>
            </a:avLst>
          </a:prstGeom>
          <a:solidFill>
            <a:srgbClr val="E3E1EF"/>
          </a:solidFill>
          <a:ln/>
        </p:spPr>
        <p:txBody>
          <a:bodyPr/>
          <a:lstStyle/>
          <a:p>
            <a:endParaRPr lang="en-US"/>
          </a:p>
        </p:txBody>
      </p:sp>
      <p:sp>
        <p:nvSpPr>
          <p:cNvPr id="34" name="Text 30"/>
          <p:cNvSpPr/>
          <p:nvPr/>
        </p:nvSpPr>
        <p:spPr>
          <a:xfrm>
            <a:off x="2552700" y="4544568"/>
            <a:ext cx="566928" cy="566928"/>
          </a:xfrm>
          <a:prstGeom prst="rect">
            <a:avLst/>
          </a:prstGeom>
          <a:noFill/>
          <a:ln/>
        </p:spPr>
        <p:txBody>
          <a:bodyPr wrap="square" lIns="0" tIns="0" rIns="0" bIns="0" rtlCol="0" anchor="ctr"/>
          <a:lstStyle/>
          <a:p>
            <a:pPr marL="0" indent="0" algn="ctr">
              <a:buNone/>
            </a:pPr>
            <a:r>
              <a:rPr lang="en-US" sz="1300" b="1" dirty="0">
                <a:solidFill>
                  <a:srgbClr val="231F44"/>
                </a:solidFill>
                <a:latin typeface="Poppins" pitchFamily="34" charset="0"/>
                <a:ea typeface="Poppins" pitchFamily="34" charset="-122"/>
                <a:cs typeface="Poppins" pitchFamily="34" charset="-120"/>
              </a:rPr>
              <a:t>4</a:t>
            </a:r>
            <a:endParaRPr lang="en-US" sz="1300" dirty="0"/>
          </a:p>
        </p:txBody>
      </p:sp>
      <p:sp>
        <p:nvSpPr>
          <p:cNvPr id="35" name="Shape 31"/>
          <p:cNvSpPr/>
          <p:nvPr/>
        </p:nvSpPr>
        <p:spPr>
          <a:xfrm>
            <a:off x="1930908" y="5166360"/>
            <a:ext cx="566928" cy="566928"/>
          </a:xfrm>
          <a:prstGeom prst="roundRect">
            <a:avLst>
              <a:gd name="adj" fmla="val 9677"/>
            </a:avLst>
          </a:prstGeom>
          <a:solidFill>
            <a:srgbClr val="E3E1EF"/>
          </a:solidFill>
          <a:ln/>
        </p:spPr>
        <p:txBody>
          <a:bodyPr/>
          <a:lstStyle/>
          <a:p>
            <a:endParaRPr lang="en-US"/>
          </a:p>
        </p:txBody>
      </p:sp>
      <p:sp>
        <p:nvSpPr>
          <p:cNvPr id="36" name="Text 32"/>
          <p:cNvSpPr/>
          <p:nvPr/>
        </p:nvSpPr>
        <p:spPr>
          <a:xfrm>
            <a:off x="1930908" y="5166360"/>
            <a:ext cx="566928" cy="566928"/>
          </a:xfrm>
          <a:prstGeom prst="rect">
            <a:avLst/>
          </a:prstGeom>
          <a:noFill/>
          <a:ln/>
        </p:spPr>
        <p:txBody>
          <a:bodyPr wrap="square" lIns="0" tIns="0" rIns="0" bIns="0" rtlCol="0" anchor="ctr"/>
          <a:lstStyle/>
          <a:p>
            <a:pPr marL="0" indent="0" algn="ctr">
              <a:buNone/>
            </a:pPr>
            <a:r>
              <a:rPr lang="en-US" sz="1300" b="1" dirty="0">
                <a:solidFill>
                  <a:srgbClr val="231F44"/>
                </a:solidFill>
                <a:latin typeface="Poppins" pitchFamily="34" charset="0"/>
                <a:ea typeface="Poppins" pitchFamily="34" charset="-122"/>
                <a:cs typeface="Poppins" pitchFamily="34" charset="-120"/>
              </a:rPr>
              <a:t>3</a:t>
            </a:r>
            <a:endParaRPr lang="en-US" sz="1300" dirty="0"/>
          </a:p>
        </p:txBody>
      </p:sp>
      <p:sp>
        <p:nvSpPr>
          <p:cNvPr id="37" name="Shape 33"/>
          <p:cNvSpPr/>
          <p:nvPr/>
        </p:nvSpPr>
        <p:spPr>
          <a:xfrm>
            <a:off x="2552700" y="5166360"/>
            <a:ext cx="566928" cy="566928"/>
          </a:xfrm>
          <a:prstGeom prst="roundRect">
            <a:avLst>
              <a:gd name="adj" fmla="val 9677"/>
            </a:avLst>
          </a:prstGeom>
          <a:solidFill>
            <a:srgbClr val="6C5CE7"/>
          </a:solidFill>
          <a:ln/>
        </p:spPr>
        <p:txBody>
          <a:bodyPr/>
          <a:lstStyle/>
          <a:p>
            <a:endParaRPr lang="en-US"/>
          </a:p>
        </p:txBody>
      </p:sp>
      <p:sp>
        <p:nvSpPr>
          <p:cNvPr id="38" name="Text 34"/>
          <p:cNvSpPr/>
          <p:nvPr/>
        </p:nvSpPr>
        <p:spPr>
          <a:xfrm>
            <a:off x="2552700" y="5166360"/>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Poppins" pitchFamily="34" charset="0"/>
                <a:ea typeface="Poppins" pitchFamily="34" charset="-122"/>
                <a:cs typeface="Poppins" pitchFamily="34" charset="-120"/>
              </a:rPr>
              <a:t>51</a:t>
            </a:r>
            <a:endParaRPr lang="en-US" sz="1300" dirty="0"/>
          </a:p>
        </p:txBody>
      </p:sp>
      <p:sp>
        <p:nvSpPr>
          <p:cNvPr id="39" name="Shape 35"/>
          <p:cNvSpPr/>
          <p:nvPr/>
        </p:nvSpPr>
        <p:spPr>
          <a:xfrm>
            <a:off x="4392168" y="4160520"/>
            <a:ext cx="3404616" cy="1965960"/>
          </a:xfrm>
          <a:prstGeom prst="roundRect">
            <a:avLst>
              <a:gd name="adj" fmla="val 3721"/>
            </a:avLst>
          </a:prstGeom>
          <a:solidFill>
            <a:srgbClr val="F8F7FC"/>
          </a:solidFill>
          <a:ln w="12700">
            <a:solidFill>
              <a:srgbClr val="E3E1EF"/>
            </a:solidFill>
            <a:prstDash val="solid"/>
          </a:ln>
        </p:spPr>
        <p:txBody>
          <a:bodyPr/>
          <a:lstStyle/>
          <a:p>
            <a:endParaRPr lang="en-US"/>
          </a:p>
        </p:txBody>
      </p:sp>
      <p:sp>
        <p:nvSpPr>
          <p:cNvPr id="40" name="Text 36"/>
          <p:cNvSpPr/>
          <p:nvPr/>
        </p:nvSpPr>
        <p:spPr>
          <a:xfrm>
            <a:off x="4529328" y="4251960"/>
            <a:ext cx="3130296" cy="228600"/>
          </a:xfrm>
          <a:prstGeom prst="rect">
            <a:avLst/>
          </a:prstGeom>
          <a:noFill/>
          <a:ln/>
        </p:spPr>
        <p:txBody>
          <a:bodyPr wrap="square" lIns="0" tIns="0" rIns="0" bIns="0" rtlCol="0" anchor="ctr"/>
          <a:lstStyle/>
          <a:p>
            <a:pPr marL="0" indent="0">
              <a:buNone/>
            </a:pPr>
            <a:r>
              <a:rPr lang="en-US" sz="1050" b="1" dirty="0">
                <a:solidFill>
                  <a:srgbClr val="231F44"/>
                </a:solidFill>
                <a:latin typeface="Poppins" pitchFamily="34" charset="0"/>
                <a:ea typeface="Poppins" pitchFamily="34" charset="-122"/>
                <a:cs typeface="Poppins" pitchFamily="34" charset="-120"/>
              </a:rPr>
              <a:t>Accuracy</a:t>
            </a:r>
            <a:endParaRPr lang="en-US" sz="1050" dirty="0"/>
          </a:p>
        </p:txBody>
      </p:sp>
      <p:sp>
        <p:nvSpPr>
          <p:cNvPr id="41" name="Text 37"/>
          <p:cNvSpPr/>
          <p:nvPr/>
        </p:nvSpPr>
        <p:spPr>
          <a:xfrm>
            <a:off x="4392168" y="4480560"/>
            <a:ext cx="3404616" cy="640080"/>
          </a:xfrm>
          <a:prstGeom prst="rect">
            <a:avLst/>
          </a:prstGeom>
          <a:noFill/>
          <a:ln/>
        </p:spPr>
        <p:txBody>
          <a:bodyPr wrap="square" lIns="0" tIns="0" rIns="0" bIns="0" rtlCol="0" anchor="ctr"/>
          <a:lstStyle/>
          <a:p>
            <a:pPr marL="0" indent="0" algn="ctr">
              <a:buNone/>
            </a:pPr>
            <a:r>
              <a:rPr lang="en-US" sz="3000" b="1" dirty="0">
                <a:solidFill>
                  <a:srgbClr val="6C5CE7"/>
                </a:solidFill>
                <a:latin typeface="Lora" pitchFamily="34" charset="0"/>
                <a:ea typeface="Lora" pitchFamily="34" charset="-122"/>
                <a:cs typeface="Lora" pitchFamily="34" charset="-120"/>
              </a:rPr>
              <a:t>96.5%</a:t>
            </a:r>
            <a:endParaRPr lang="en-US" sz="3000" dirty="0"/>
          </a:p>
        </p:txBody>
      </p:sp>
      <p:sp>
        <p:nvSpPr>
          <p:cNvPr id="42" name="Text 38"/>
          <p:cNvSpPr/>
          <p:nvPr/>
        </p:nvSpPr>
        <p:spPr>
          <a:xfrm>
            <a:off x="4392168" y="5120640"/>
            <a:ext cx="3404616" cy="274320"/>
          </a:xfrm>
          <a:prstGeom prst="rect">
            <a:avLst/>
          </a:prstGeom>
          <a:noFill/>
          <a:ln/>
        </p:spPr>
        <p:txBody>
          <a:bodyPr wrap="square" lIns="0" tIns="0" rIns="0" bIns="0" rtlCol="0" anchor="ctr"/>
          <a:lstStyle/>
          <a:p>
            <a:pPr marL="0" indent="0" algn="ctr">
              <a:buNone/>
            </a:pPr>
            <a:r>
              <a:rPr lang="en-US" sz="900" dirty="0">
                <a:solidFill>
                  <a:srgbClr val="6D6B78"/>
                </a:solidFill>
                <a:latin typeface="Poppins" pitchFamily="34" charset="0"/>
                <a:ea typeface="Poppins" pitchFamily="34" charset="-122"/>
                <a:cs typeface="Poppins" pitchFamily="34" charset="-120"/>
              </a:rPr>
              <a:t>on held-out test emails</a:t>
            </a:r>
            <a:endParaRPr lang="en-US" sz="900" dirty="0"/>
          </a:p>
        </p:txBody>
      </p:sp>
      <p:sp>
        <p:nvSpPr>
          <p:cNvPr id="43" name="Shape 39"/>
          <p:cNvSpPr/>
          <p:nvPr/>
        </p:nvSpPr>
        <p:spPr>
          <a:xfrm>
            <a:off x="7961376" y="4160520"/>
            <a:ext cx="3404616" cy="1965960"/>
          </a:xfrm>
          <a:prstGeom prst="roundRect">
            <a:avLst>
              <a:gd name="adj" fmla="val 3721"/>
            </a:avLst>
          </a:prstGeom>
          <a:solidFill>
            <a:srgbClr val="F8F7FC"/>
          </a:solidFill>
          <a:ln w="12700">
            <a:solidFill>
              <a:srgbClr val="E3E1EF"/>
            </a:solidFill>
            <a:prstDash val="solid"/>
          </a:ln>
        </p:spPr>
        <p:txBody>
          <a:bodyPr/>
          <a:lstStyle/>
          <a:p>
            <a:endParaRPr lang="en-US"/>
          </a:p>
        </p:txBody>
      </p:sp>
      <p:sp>
        <p:nvSpPr>
          <p:cNvPr id="44" name="Text 40"/>
          <p:cNvSpPr/>
          <p:nvPr/>
        </p:nvSpPr>
        <p:spPr>
          <a:xfrm>
            <a:off x="8098536" y="4251960"/>
            <a:ext cx="3130296" cy="228600"/>
          </a:xfrm>
          <a:prstGeom prst="rect">
            <a:avLst/>
          </a:prstGeom>
          <a:noFill/>
          <a:ln/>
        </p:spPr>
        <p:txBody>
          <a:bodyPr wrap="square" lIns="0" tIns="0" rIns="0" bIns="0" rtlCol="0" anchor="ctr"/>
          <a:lstStyle/>
          <a:p>
            <a:pPr marL="0" indent="0">
              <a:buNone/>
            </a:pPr>
            <a:r>
              <a:rPr lang="en-US" sz="1050" b="1" dirty="0">
                <a:solidFill>
                  <a:srgbClr val="231F44"/>
                </a:solidFill>
                <a:latin typeface="Poppins" pitchFamily="34" charset="0"/>
                <a:ea typeface="Poppins" pitchFamily="34" charset="-122"/>
                <a:cs typeface="Poppins" pitchFamily="34" charset="-120"/>
              </a:rPr>
              <a:t>Model Comparison</a:t>
            </a:r>
            <a:endParaRPr lang="en-US" sz="1050" dirty="0"/>
          </a:p>
        </p:txBody>
      </p:sp>
      <p:sp>
        <p:nvSpPr>
          <p:cNvPr id="45" name="Shape 41"/>
          <p:cNvSpPr/>
          <p:nvPr/>
        </p:nvSpPr>
        <p:spPr>
          <a:xfrm>
            <a:off x="8538210" y="4664812"/>
            <a:ext cx="365760" cy="1233068"/>
          </a:xfrm>
          <a:prstGeom prst="roundRect">
            <a:avLst>
              <a:gd name="adj" fmla="val 10000"/>
            </a:avLst>
          </a:prstGeom>
          <a:solidFill>
            <a:srgbClr val="9B98B8"/>
          </a:solidFill>
          <a:ln/>
        </p:spPr>
        <p:txBody>
          <a:bodyPr/>
          <a:lstStyle/>
          <a:p>
            <a:endParaRPr lang="en-US"/>
          </a:p>
        </p:txBody>
      </p:sp>
      <p:sp>
        <p:nvSpPr>
          <p:cNvPr id="46" name="Text 42"/>
          <p:cNvSpPr/>
          <p:nvPr/>
        </p:nvSpPr>
        <p:spPr>
          <a:xfrm>
            <a:off x="8401050" y="5925312"/>
            <a:ext cx="640080" cy="274320"/>
          </a:xfrm>
          <a:prstGeom prst="rect">
            <a:avLst/>
          </a:prstGeom>
          <a:noFill/>
          <a:ln/>
        </p:spPr>
        <p:txBody>
          <a:bodyPr wrap="square" lIns="0" tIns="0" rIns="0" bIns="0" rtlCol="0" anchor="ctr"/>
          <a:lstStyle/>
          <a:p>
            <a:pPr marL="0" indent="0" algn="ctr">
              <a:buNone/>
            </a:pPr>
            <a:r>
              <a:rPr lang="en-US" sz="700" dirty="0">
                <a:solidFill>
                  <a:srgbClr val="6D6B78"/>
                </a:solidFill>
                <a:latin typeface="Poppins" pitchFamily="34" charset="0"/>
                <a:ea typeface="Poppins" pitchFamily="34" charset="-122"/>
                <a:cs typeface="Poppins" pitchFamily="34" charset="-120"/>
              </a:rPr>
              <a:t>Naive Bayes</a:t>
            </a:r>
            <a:endParaRPr lang="en-US" sz="700" dirty="0"/>
          </a:p>
        </p:txBody>
      </p:sp>
      <p:sp>
        <p:nvSpPr>
          <p:cNvPr id="47" name="Shape 43"/>
          <p:cNvSpPr/>
          <p:nvPr/>
        </p:nvSpPr>
        <p:spPr>
          <a:xfrm>
            <a:off x="9480804" y="4638294"/>
            <a:ext cx="365760" cy="1259586"/>
          </a:xfrm>
          <a:prstGeom prst="roundRect">
            <a:avLst>
              <a:gd name="adj" fmla="val 10000"/>
            </a:avLst>
          </a:prstGeom>
          <a:solidFill>
            <a:srgbClr val="9B98B8"/>
          </a:solidFill>
          <a:ln/>
        </p:spPr>
        <p:txBody>
          <a:bodyPr/>
          <a:lstStyle/>
          <a:p>
            <a:endParaRPr lang="en-US"/>
          </a:p>
        </p:txBody>
      </p:sp>
      <p:sp>
        <p:nvSpPr>
          <p:cNvPr id="48" name="Text 44"/>
          <p:cNvSpPr/>
          <p:nvPr/>
        </p:nvSpPr>
        <p:spPr>
          <a:xfrm>
            <a:off x="9343644" y="5925312"/>
            <a:ext cx="640080" cy="274320"/>
          </a:xfrm>
          <a:prstGeom prst="rect">
            <a:avLst/>
          </a:prstGeom>
          <a:noFill/>
          <a:ln/>
        </p:spPr>
        <p:txBody>
          <a:bodyPr wrap="square" lIns="0" tIns="0" rIns="0" bIns="0" rtlCol="0" anchor="ctr"/>
          <a:lstStyle/>
          <a:p>
            <a:pPr marL="0" indent="0" algn="ctr">
              <a:buNone/>
            </a:pPr>
            <a:r>
              <a:rPr lang="en-US" sz="700" dirty="0">
                <a:solidFill>
                  <a:srgbClr val="6D6B78"/>
                </a:solidFill>
                <a:latin typeface="Poppins" pitchFamily="34" charset="0"/>
                <a:ea typeface="Poppins" pitchFamily="34" charset="-122"/>
                <a:cs typeface="Poppins" pitchFamily="34" charset="-120"/>
              </a:rPr>
              <a:t>Log. Regression</a:t>
            </a:r>
            <a:endParaRPr lang="en-US" sz="700" dirty="0"/>
          </a:p>
        </p:txBody>
      </p:sp>
      <p:sp>
        <p:nvSpPr>
          <p:cNvPr id="49" name="Shape 45"/>
          <p:cNvSpPr/>
          <p:nvPr/>
        </p:nvSpPr>
        <p:spPr>
          <a:xfrm>
            <a:off x="10423398" y="4618406"/>
            <a:ext cx="365760" cy="1279474"/>
          </a:xfrm>
          <a:prstGeom prst="roundRect">
            <a:avLst>
              <a:gd name="adj" fmla="val 10000"/>
            </a:avLst>
          </a:prstGeom>
          <a:solidFill>
            <a:srgbClr val="6C5CE7"/>
          </a:solidFill>
          <a:ln/>
        </p:spPr>
        <p:txBody>
          <a:bodyPr/>
          <a:lstStyle/>
          <a:p>
            <a:endParaRPr lang="en-US"/>
          </a:p>
        </p:txBody>
      </p:sp>
      <p:sp>
        <p:nvSpPr>
          <p:cNvPr id="50" name="Text 46"/>
          <p:cNvSpPr/>
          <p:nvPr/>
        </p:nvSpPr>
        <p:spPr>
          <a:xfrm>
            <a:off x="10286238" y="5925312"/>
            <a:ext cx="640080" cy="274320"/>
          </a:xfrm>
          <a:prstGeom prst="rect">
            <a:avLst/>
          </a:prstGeom>
          <a:noFill/>
          <a:ln/>
        </p:spPr>
        <p:txBody>
          <a:bodyPr wrap="square" lIns="0" tIns="0" rIns="0" bIns="0" rtlCol="0" anchor="ctr"/>
          <a:lstStyle/>
          <a:p>
            <a:pPr marL="0" indent="0" algn="ctr">
              <a:buNone/>
            </a:pPr>
            <a:r>
              <a:rPr lang="en-US" sz="700" dirty="0">
                <a:solidFill>
                  <a:srgbClr val="6D6B78"/>
                </a:solidFill>
                <a:latin typeface="Poppins" pitchFamily="34" charset="0"/>
                <a:ea typeface="Poppins" pitchFamily="34" charset="-122"/>
                <a:cs typeface="Poppins" pitchFamily="34" charset="-120"/>
              </a:rPr>
              <a:t>SVM (best)</a:t>
            </a:r>
            <a:endParaRPr lang="en-US" sz="700" dirty="0"/>
          </a:p>
        </p:txBody>
      </p:sp>
      <p:sp>
        <p:nvSpPr>
          <p:cNvPr id="51" name="Text 47"/>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52" name="Text 48"/>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C"/>
        </a:solidFill>
        <a:effectLst/>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roundRect">
            <a:avLst>
              <a:gd name="adj" fmla="val 22581"/>
            </a:avLst>
          </a:prstGeom>
          <a:solidFill>
            <a:srgbClr val="EDEBF9"/>
          </a:solidFill>
          <a:ln/>
        </p:spPr>
        <p:txBody>
          <a:bodyPr/>
          <a:lstStyle/>
          <a:p>
            <a:endParaRPr lang="en-US"/>
          </a:p>
        </p:txBody>
      </p:sp>
      <p:pic>
        <p:nvPicPr>
          <p:cNvPr id="3" name="Image 0" descr="/home/claude/work/icons/Github_purple.png"/>
          <p:cNvPicPr>
            <a:picLocks noChangeAspect="1"/>
          </p:cNvPicPr>
          <p:nvPr/>
        </p:nvPicPr>
        <p:blipFill>
          <a:blip r:embed="rId3"/>
          <a:stretch>
            <a:fillRect/>
          </a:stretch>
        </p:blipFill>
        <p:spPr>
          <a:xfrm>
            <a:off x="603504" y="603504"/>
            <a:ext cx="274320" cy="274320"/>
          </a:xfrm>
          <a:prstGeom prst="rect">
            <a:avLst/>
          </a:prstGeom>
        </p:spPr>
      </p:pic>
      <p:sp>
        <p:nvSpPr>
          <p:cNvPr id="4" name="Text 1"/>
          <p:cNvSpPr/>
          <p:nvPr/>
        </p:nvSpPr>
        <p:spPr>
          <a:xfrm>
            <a:off x="1188720" y="365760"/>
            <a:ext cx="9601200" cy="457200"/>
          </a:xfrm>
          <a:prstGeom prst="rect">
            <a:avLst/>
          </a:prstGeom>
          <a:noFill/>
          <a:ln/>
        </p:spPr>
        <p:txBody>
          <a:bodyPr wrap="square" lIns="0" tIns="0" rIns="0" bIns="0" rtlCol="0" anchor="ctr"/>
          <a:lstStyle/>
          <a:p>
            <a:pPr marL="0" indent="0">
              <a:buNone/>
            </a:pPr>
            <a:r>
              <a:rPr lang="en-US" sz="2600" b="1" dirty="0">
                <a:solidFill>
                  <a:srgbClr val="231F44"/>
                </a:solidFill>
                <a:latin typeface="Lora" pitchFamily="34" charset="0"/>
                <a:ea typeface="Lora" pitchFamily="34" charset="-122"/>
                <a:cs typeface="Lora" pitchFamily="34" charset="-120"/>
              </a:rPr>
              <a:t>Submission Requirements</a:t>
            </a:r>
            <a:endParaRPr lang="en-US" sz="2600" dirty="0"/>
          </a:p>
        </p:txBody>
      </p:sp>
      <p:sp>
        <p:nvSpPr>
          <p:cNvPr id="5" name="Text 2"/>
          <p:cNvSpPr/>
          <p:nvPr/>
        </p:nvSpPr>
        <p:spPr>
          <a:xfrm>
            <a:off x="1188720" y="841248"/>
            <a:ext cx="9601200" cy="320040"/>
          </a:xfrm>
          <a:prstGeom prst="rect">
            <a:avLst/>
          </a:prstGeom>
          <a:noFill/>
          <a:ln/>
        </p:spPr>
        <p:txBody>
          <a:bodyPr wrap="square" lIns="0" tIns="0" rIns="0" bIns="0" rtlCol="0" anchor="ctr"/>
          <a:lstStyle/>
          <a:p>
            <a:pPr marL="0" indent="0">
              <a:buNone/>
            </a:pPr>
            <a:r>
              <a:rPr lang="en-US" sz="1300" dirty="0">
                <a:solidFill>
                  <a:srgbClr val="6D6B78"/>
                </a:solidFill>
                <a:latin typeface="Poppins" pitchFamily="34" charset="0"/>
                <a:ea typeface="Poppins" pitchFamily="34" charset="-122"/>
                <a:cs typeface="Poppins" pitchFamily="34" charset="-120"/>
              </a:rPr>
              <a:t>What students must submit</a:t>
            </a:r>
            <a:endParaRPr lang="en-US" sz="1300" dirty="0"/>
          </a:p>
        </p:txBody>
      </p:sp>
      <p:sp>
        <p:nvSpPr>
          <p:cNvPr id="6" name="Shape 3"/>
          <p:cNvSpPr/>
          <p:nvPr/>
        </p:nvSpPr>
        <p:spPr>
          <a:xfrm>
            <a:off x="457200" y="1508760"/>
            <a:ext cx="11274552" cy="960120"/>
          </a:xfrm>
          <a:prstGeom prst="roundRect">
            <a:avLst>
              <a:gd name="adj" fmla="val 9524"/>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7" name="Shape 4"/>
          <p:cNvSpPr/>
          <p:nvPr/>
        </p:nvSpPr>
        <p:spPr>
          <a:xfrm>
            <a:off x="777240" y="1755648"/>
            <a:ext cx="457200" cy="457200"/>
          </a:xfrm>
          <a:prstGeom prst="ellipse">
            <a:avLst/>
          </a:prstGeom>
          <a:solidFill>
            <a:srgbClr val="6C5CE7"/>
          </a:solidFill>
          <a:ln/>
        </p:spPr>
        <p:txBody>
          <a:bodyPr/>
          <a:lstStyle/>
          <a:p>
            <a:endParaRPr lang="en-US"/>
          </a:p>
        </p:txBody>
      </p:sp>
      <p:sp>
        <p:nvSpPr>
          <p:cNvPr id="8" name="Text 5"/>
          <p:cNvSpPr/>
          <p:nvPr/>
        </p:nvSpPr>
        <p:spPr>
          <a:xfrm>
            <a:off x="777240" y="1755648"/>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Lora" pitchFamily="34" charset="0"/>
                <a:ea typeface="Lora" pitchFamily="34" charset="-122"/>
                <a:cs typeface="Lora" pitchFamily="34" charset="-120"/>
              </a:rPr>
              <a:t>1</a:t>
            </a:r>
            <a:endParaRPr lang="en-US" sz="1700" dirty="0"/>
          </a:p>
        </p:txBody>
      </p:sp>
      <p:sp>
        <p:nvSpPr>
          <p:cNvPr id="9" name="Text 6"/>
          <p:cNvSpPr/>
          <p:nvPr/>
        </p:nvSpPr>
        <p:spPr>
          <a:xfrm>
            <a:off x="1463040" y="1627632"/>
            <a:ext cx="9994392" cy="320040"/>
          </a:xfrm>
          <a:prstGeom prst="rect">
            <a:avLst/>
          </a:prstGeom>
          <a:noFill/>
          <a:ln/>
        </p:spPr>
        <p:txBody>
          <a:bodyPr wrap="square" lIns="0" tIns="0" rIns="0" bIns="0" rtlCol="0" anchor="ctr"/>
          <a:lstStyle/>
          <a:p>
            <a:pPr marL="0" indent="0">
              <a:buNone/>
            </a:pPr>
            <a:r>
              <a:rPr lang="en-US" sz="1450" b="1" dirty="0">
                <a:solidFill>
                  <a:srgbClr val="231F44"/>
                </a:solidFill>
                <a:latin typeface="Poppins" pitchFamily="34" charset="0"/>
                <a:ea typeface="Poppins" pitchFamily="34" charset="-122"/>
                <a:cs typeface="Poppins" pitchFamily="34" charset="-120"/>
              </a:rPr>
              <a:t>Submit the complete Python project</a:t>
            </a:r>
            <a:endParaRPr lang="en-US" sz="1450" dirty="0"/>
          </a:p>
        </p:txBody>
      </p:sp>
      <p:sp>
        <p:nvSpPr>
          <p:cNvPr id="10" name="Text 7"/>
          <p:cNvSpPr/>
          <p:nvPr/>
        </p:nvSpPr>
        <p:spPr>
          <a:xfrm>
            <a:off x="1463040" y="1965960"/>
            <a:ext cx="9994392" cy="365760"/>
          </a:xfrm>
          <a:prstGeom prst="rect">
            <a:avLst/>
          </a:prstGeom>
          <a:noFill/>
          <a:ln/>
        </p:spPr>
        <p:txBody>
          <a:bodyPr wrap="square" lIns="0" tIns="0" rIns="0" bIns="0" rtlCol="0" anchor="ctr"/>
          <a:lstStyle/>
          <a:p>
            <a:pPr marL="0" indent="0">
              <a:buNone/>
            </a:pPr>
            <a:r>
              <a:rPr lang="en-US" sz="1100" dirty="0">
                <a:solidFill>
                  <a:srgbClr val="6D6B78"/>
                </a:solidFill>
                <a:latin typeface="Poppins" pitchFamily="34" charset="0"/>
                <a:ea typeface="Poppins" pitchFamily="34" charset="-122"/>
                <a:cs typeface="Poppins" pitchFamily="34" charset="-120"/>
              </a:rPr>
              <a:t>Include all source code, notebooks, and scripts used to build the spam detection system.</a:t>
            </a:r>
            <a:endParaRPr lang="en-US" sz="1100" dirty="0"/>
          </a:p>
        </p:txBody>
      </p:sp>
      <p:sp>
        <p:nvSpPr>
          <p:cNvPr id="11" name="Shape 8"/>
          <p:cNvSpPr/>
          <p:nvPr/>
        </p:nvSpPr>
        <p:spPr>
          <a:xfrm>
            <a:off x="457200" y="2670048"/>
            <a:ext cx="11274552" cy="960120"/>
          </a:xfrm>
          <a:prstGeom prst="roundRect">
            <a:avLst>
              <a:gd name="adj" fmla="val 9524"/>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2" name="Shape 9"/>
          <p:cNvSpPr/>
          <p:nvPr/>
        </p:nvSpPr>
        <p:spPr>
          <a:xfrm>
            <a:off x="777240" y="2916936"/>
            <a:ext cx="457200" cy="457200"/>
          </a:xfrm>
          <a:prstGeom prst="ellipse">
            <a:avLst/>
          </a:prstGeom>
          <a:solidFill>
            <a:srgbClr val="6C5CE7"/>
          </a:solidFill>
          <a:ln/>
        </p:spPr>
        <p:txBody>
          <a:bodyPr/>
          <a:lstStyle/>
          <a:p>
            <a:endParaRPr lang="en-US"/>
          </a:p>
        </p:txBody>
      </p:sp>
      <p:sp>
        <p:nvSpPr>
          <p:cNvPr id="13" name="Text 10"/>
          <p:cNvSpPr/>
          <p:nvPr/>
        </p:nvSpPr>
        <p:spPr>
          <a:xfrm>
            <a:off x="777240" y="2916936"/>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Lora" pitchFamily="34" charset="0"/>
                <a:ea typeface="Lora" pitchFamily="34" charset="-122"/>
                <a:cs typeface="Lora" pitchFamily="34" charset="-120"/>
              </a:rPr>
              <a:t>2</a:t>
            </a:r>
            <a:endParaRPr lang="en-US" sz="1700" dirty="0"/>
          </a:p>
        </p:txBody>
      </p:sp>
      <p:sp>
        <p:nvSpPr>
          <p:cNvPr id="14" name="Text 11"/>
          <p:cNvSpPr/>
          <p:nvPr/>
        </p:nvSpPr>
        <p:spPr>
          <a:xfrm>
            <a:off x="1463040" y="2788920"/>
            <a:ext cx="9994392" cy="320040"/>
          </a:xfrm>
          <a:prstGeom prst="rect">
            <a:avLst/>
          </a:prstGeom>
          <a:noFill/>
          <a:ln/>
        </p:spPr>
        <p:txBody>
          <a:bodyPr wrap="square" lIns="0" tIns="0" rIns="0" bIns="0" rtlCol="0" anchor="ctr"/>
          <a:lstStyle/>
          <a:p>
            <a:pPr marL="0" indent="0">
              <a:buNone/>
            </a:pPr>
            <a:r>
              <a:rPr lang="en-US" sz="1450" b="1" dirty="0">
                <a:solidFill>
                  <a:srgbClr val="231F44"/>
                </a:solidFill>
                <a:latin typeface="Poppins" pitchFamily="34" charset="0"/>
                <a:ea typeface="Poppins" pitchFamily="34" charset="-122"/>
                <a:cs typeface="Poppins" pitchFamily="34" charset="-120"/>
              </a:rPr>
              <a:t>Include the saved Machine Learning model</a:t>
            </a:r>
            <a:endParaRPr lang="en-US" sz="1450" dirty="0"/>
          </a:p>
        </p:txBody>
      </p:sp>
      <p:sp>
        <p:nvSpPr>
          <p:cNvPr id="15" name="Text 12"/>
          <p:cNvSpPr/>
          <p:nvPr/>
        </p:nvSpPr>
        <p:spPr>
          <a:xfrm>
            <a:off x="1463040" y="3127248"/>
            <a:ext cx="9994392" cy="365760"/>
          </a:xfrm>
          <a:prstGeom prst="rect">
            <a:avLst/>
          </a:prstGeom>
          <a:noFill/>
          <a:ln/>
        </p:spPr>
        <p:txBody>
          <a:bodyPr wrap="square" lIns="0" tIns="0" rIns="0" bIns="0" rtlCol="0" anchor="ctr"/>
          <a:lstStyle/>
          <a:p>
            <a:pPr marL="0" indent="0">
              <a:buNone/>
            </a:pPr>
            <a:r>
              <a:rPr lang="en-US" sz="1100" dirty="0">
                <a:solidFill>
                  <a:srgbClr val="6D6B78"/>
                </a:solidFill>
                <a:latin typeface="Poppins" pitchFamily="34" charset="0"/>
                <a:ea typeface="Poppins" pitchFamily="34" charset="-122"/>
                <a:cs typeface="Poppins" pitchFamily="34" charset="-120"/>
              </a:rPr>
              <a:t>Export the trained model file so it can be reloaded and evaluated later.</a:t>
            </a:r>
            <a:endParaRPr lang="en-US" sz="1100" dirty="0"/>
          </a:p>
        </p:txBody>
      </p:sp>
      <p:sp>
        <p:nvSpPr>
          <p:cNvPr id="16" name="Shape 13"/>
          <p:cNvSpPr/>
          <p:nvPr/>
        </p:nvSpPr>
        <p:spPr>
          <a:xfrm>
            <a:off x="457200" y="3831336"/>
            <a:ext cx="11274552" cy="960120"/>
          </a:xfrm>
          <a:prstGeom prst="roundRect">
            <a:avLst>
              <a:gd name="adj" fmla="val 9524"/>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17" name="Shape 14"/>
          <p:cNvSpPr/>
          <p:nvPr/>
        </p:nvSpPr>
        <p:spPr>
          <a:xfrm>
            <a:off x="777240" y="4078224"/>
            <a:ext cx="457200" cy="457200"/>
          </a:xfrm>
          <a:prstGeom prst="ellipse">
            <a:avLst/>
          </a:prstGeom>
          <a:solidFill>
            <a:srgbClr val="6C5CE7"/>
          </a:solidFill>
          <a:ln/>
        </p:spPr>
        <p:txBody>
          <a:bodyPr/>
          <a:lstStyle/>
          <a:p>
            <a:endParaRPr lang="en-US"/>
          </a:p>
        </p:txBody>
      </p:sp>
      <p:sp>
        <p:nvSpPr>
          <p:cNvPr id="18" name="Text 15"/>
          <p:cNvSpPr/>
          <p:nvPr/>
        </p:nvSpPr>
        <p:spPr>
          <a:xfrm>
            <a:off x="777240" y="4078224"/>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Lora" pitchFamily="34" charset="0"/>
                <a:ea typeface="Lora" pitchFamily="34" charset="-122"/>
                <a:cs typeface="Lora" pitchFamily="34" charset="-120"/>
              </a:rPr>
              <a:t>3</a:t>
            </a:r>
            <a:endParaRPr lang="en-US" sz="1700" dirty="0"/>
          </a:p>
        </p:txBody>
      </p:sp>
      <p:sp>
        <p:nvSpPr>
          <p:cNvPr id="19" name="Text 16"/>
          <p:cNvSpPr/>
          <p:nvPr/>
        </p:nvSpPr>
        <p:spPr>
          <a:xfrm>
            <a:off x="1463040" y="3950208"/>
            <a:ext cx="9994392" cy="320040"/>
          </a:xfrm>
          <a:prstGeom prst="rect">
            <a:avLst/>
          </a:prstGeom>
          <a:noFill/>
          <a:ln/>
        </p:spPr>
        <p:txBody>
          <a:bodyPr wrap="square" lIns="0" tIns="0" rIns="0" bIns="0" rtlCol="0" anchor="ctr"/>
          <a:lstStyle/>
          <a:p>
            <a:pPr marL="0" indent="0">
              <a:buNone/>
            </a:pPr>
            <a:r>
              <a:rPr lang="en-US" sz="1450" b="1" dirty="0">
                <a:solidFill>
                  <a:srgbClr val="231F44"/>
                </a:solidFill>
                <a:latin typeface="Poppins" pitchFamily="34" charset="0"/>
                <a:ea typeface="Poppins" pitchFamily="34" charset="-122"/>
                <a:cs typeface="Poppins" pitchFamily="34" charset="-120"/>
              </a:rPr>
              <a:t>Upload the project to GitHub</a:t>
            </a:r>
            <a:endParaRPr lang="en-US" sz="1450" dirty="0"/>
          </a:p>
        </p:txBody>
      </p:sp>
      <p:sp>
        <p:nvSpPr>
          <p:cNvPr id="20" name="Text 17"/>
          <p:cNvSpPr/>
          <p:nvPr/>
        </p:nvSpPr>
        <p:spPr>
          <a:xfrm>
            <a:off x="1463040" y="4288536"/>
            <a:ext cx="9994392" cy="365760"/>
          </a:xfrm>
          <a:prstGeom prst="rect">
            <a:avLst/>
          </a:prstGeom>
          <a:noFill/>
          <a:ln/>
        </p:spPr>
        <p:txBody>
          <a:bodyPr wrap="square" lIns="0" tIns="0" rIns="0" bIns="0" rtlCol="0" anchor="ctr"/>
          <a:lstStyle/>
          <a:p>
            <a:pPr marL="0" indent="0">
              <a:buNone/>
            </a:pPr>
            <a:r>
              <a:rPr lang="en-US" sz="1100" dirty="0">
                <a:solidFill>
                  <a:srgbClr val="6D6B78"/>
                </a:solidFill>
                <a:latin typeface="Poppins" pitchFamily="34" charset="0"/>
                <a:ea typeface="Poppins" pitchFamily="34" charset="-122"/>
                <a:cs typeface="Poppins" pitchFamily="34" charset="-120"/>
              </a:rPr>
              <a:t>Commit and push your completed project to a public or shared repository.</a:t>
            </a:r>
            <a:endParaRPr lang="en-US" sz="1100" dirty="0"/>
          </a:p>
        </p:txBody>
      </p:sp>
      <p:sp>
        <p:nvSpPr>
          <p:cNvPr id="21" name="Shape 18"/>
          <p:cNvSpPr/>
          <p:nvPr/>
        </p:nvSpPr>
        <p:spPr>
          <a:xfrm>
            <a:off x="457200" y="4992624"/>
            <a:ext cx="11274552" cy="960120"/>
          </a:xfrm>
          <a:prstGeom prst="roundRect">
            <a:avLst>
              <a:gd name="adj" fmla="val 9524"/>
            </a:avLst>
          </a:prstGeom>
          <a:solidFill>
            <a:srgbClr val="FFFFFF"/>
          </a:solidFill>
          <a:ln w="12700">
            <a:solidFill>
              <a:srgbClr val="E3E1EF"/>
            </a:solidFill>
            <a:prstDash val="solid"/>
          </a:ln>
          <a:effectLst>
            <a:outerShdw blurRad="101600" dist="25400" dir="5400000" algn="bl" rotWithShape="0">
              <a:srgbClr val="9B98B8">
                <a:alpha val="25000"/>
              </a:srgbClr>
            </a:outerShdw>
          </a:effectLst>
        </p:spPr>
        <p:txBody>
          <a:bodyPr/>
          <a:lstStyle/>
          <a:p>
            <a:endParaRPr lang="en-US"/>
          </a:p>
        </p:txBody>
      </p:sp>
      <p:sp>
        <p:nvSpPr>
          <p:cNvPr id="22" name="Shape 19"/>
          <p:cNvSpPr/>
          <p:nvPr/>
        </p:nvSpPr>
        <p:spPr>
          <a:xfrm>
            <a:off x="777240" y="5239512"/>
            <a:ext cx="457200" cy="457200"/>
          </a:xfrm>
          <a:prstGeom prst="ellipse">
            <a:avLst/>
          </a:prstGeom>
          <a:solidFill>
            <a:srgbClr val="6C5CE7"/>
          </a:solidFill>
          <a:ln/>
        </p:spPr>
        <p:txBody>
          <a:bodyPr/>
          <a:lstStyle/>
          <a:p>
            <a:endParaRPr lang="en-US"/>
          </a:p>
        </p:txBody>
      </p:sp>
      <p:sp>
        <p:nvSpPr>
          <p:cNvPr id="23" name="Text 20"/>
          <p:cNvSpPr/>
          <p:nvPr/>
        </p:nvSpPr>
        <p:spPr>
          <a:xfrm>
            <a:off x="777240" y="5239512"/>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Lora" pitchFamily="34" charset="0"/>
                <a:ea typeface="Lora" pitchFamily="34" charset="-122"/>
                <a:cs typeface="Lora" pitchFamily="34" charset="-120"/>
              </a:rPr>
              <a:t>4</a:t>
            </a:r>
            <a:endParaRPr lang="en-US" sz="1700" dirty="0"/>
          </a:p>
        </p:txBody>
      </p:sp>
      <p:sp>
        <p:nvSpPr>
          <p:cNvPr id="24" name="Text 21"/>
          <p:cNvSpPr/>
          <p:nvPr/>
        </p:nvSpPr>
        <p:spPr>
          <a:xfrm>
            <a:off x="1463040" y="5111496"/>
            <a:ext cx="9994392" cy="320040"/>
          </a:xfrm>
          <a:prstGeom prst="rect">
            <a:avLst/>
          </a:prstGeom>
          <a:noFill/>
          <a:ln/>
        </p:spPr>
        <p:txBody>
          <a:bodyPr wrap="square" lIns="0" tIns="0" rIns="0" bIns="0" rtlCol="0" anchor="ctr"/>
          <a:lstStyle/>
          <a:p>
            <a:pPr marL="0" indent="0">
              <a:buNone/>
            </a:pPr>
            <a:r>
              <a:rPr lang="en-US" sz="1450" b="1" dirty="0">
                <a:solidFill>
                  <a:srgbClr val="231F44"/>
                </a:solidFill>
                <a:latin typeface="Poppins" pitchFamily="34" charset="0"/>
                <a:ea typeface="Poppins" pitchFamily="34" charset="-122"/>
                <a:cs typeface="Poppins" pitchFamily="34" charset="-120"/>
              </a:rPr>
              <a:t>Add a README and screenshots</a:t>
            </a:r>
            <a:endParaRPr lang="en-US" sz="1450" dirty="0"/>
          </a:p>
        </p:txBody>
      </p:sp>
      <p:sp>
        <p:nvSpPr>
          <p:cNvPr id="25" name="Text 22"/>
          <p:cNvSpPr/>
          <p:nvPr/>
        </p:nvSpPr>
        <p:spPr>
          <a:xfrm>
            <a:off x="1463040" y="5449824"/>
            <a:ext cx="9994392" cy="365760"/>
          </a:xfrm>
          <a:prstGeom prst="rect">
            <a:avLst/>
          </a:prstGeom>
          <a:noFill/>
          <a:ln/>
        </p:spPr>
        <p:txBody>
          <a:bodyPr wrap="square" lIns="0" tIns="0" rIns="0" bIns="0" rtlCol="0" anchor="ctr"/>
          <a:lstStyle/>
          <a:p>
            <a:pPr marL="0" indent="0">
              <a:buNone/>
            </a:pPr>
            <a:r>
              <a:rPr lang="en-US" sz="1100" dirty="0">
                <a:solidFill>
                  <a:srgbClr val="6D6B78"/>
                </a:solidFill>
                <a:latin typeface="Poppins" pitchFamily="34" charset="0"/>
                <a:ea typeface="Poppins" pitchFamily="34" charset="-122"/>
                <a:cs typeface="Poppins" pitchFamily="34" charset="-120"/>
              </a:rPr>
              <a:t>Describe the goal, dataset, and approach, and attach screenshots of the app in action.</a:t>
            </a:r>
            <a:endParaRPr lang="en-US" sz="1100" dirty="0"/>
          </a:p>
        </p:txBody>
      </p:sp>
      <p:sp>
        <p:nvSpPr>
          <p:cNvPr id="26" name="Text 23"/>
          <p:cNvSpPr/>
          <p:nvPr/>
        </p:nvSpPr>
        <p:spPr>
          <a:xfrm>
            <a:off x="365760" y="6446520"/>
            <a:ext cx="5486400" cy="274320"/>
          </a:xfrm>
          <a:prstGeom prst="rect">
            <a:avLst/>
          </a:prstGeom>
          <a:noFill/>
          <a:ln/>
        </p:spPr>
        <p:txBody>
          <a:bodyPr wrap="square" lIns="0" tIns="0" rIns="0" bIns="0" rtlCol="0" anchor="ctr"/>
          <a:lstStyle/>
          <a:p>
            <a:pPr marL="0" indent="0">
              <a:buNone/>
            </a:pPr>
            <a:r>
              <a:rPr lang="en-US" sz="1000" dirty="0">
                <a:solidFill>
                  <a:srgbClr val="9B9AA6"/>
                </a:solidFill>
                <a:latin typeface="Poppins" pitchFamily="34" charset="0"/>
                <a:ea typeface="Poppins" pitchFamily="34" charset="-122"/>
                <a:cs typeface="Poppins" pitchFamily="34" charset="-120"/>
              </a:rPr>
              <a:t>TechMaster Academy  ·  Phase 03 / Project 03</a:t>
            </a:r>
            <a:endParaRPr lang="en-US" sz="1000" dirty="0"/>
          </a:p>
        </p:txBody>
      </p:sp>
      <p:sp>
        <p:nvSpPr>
          <p:cNvPr id="27" name="Text 24"/>
          <p:cNvSpPr/>
          <p:nvPr/>
        </p:nvSpPr>
        <p:spPr>
          <a:xfrm>
            <a:off x="11365992" y="6446520"/>
            <a:ext cx="457200" cy="274320"/>
          </a:xfrm>
          <a:prstGeom prst="rect">
            <a:avLst/>
          </a:prstGeom>
          <a:noFill/>
          <a:ln/>
        </p:spPr>
        <p:txBody>
          <a:bodyPr wrap="square" lIns="0" tIns="0" rIns="0" bIns="0" rtlCol="0" anchor="ctr"/>
          <a:lstStyle/>
          <a:p>
            <a:pPr marL="0" indent="0" algn="r">
              <a:buNone/>
            </a:pPr>
            <a:r>
              <a:rPr lang="en-US" sz="1000" dirty="0">
                <a:solidFill>
                  <a:srgbClr val="9B9AA6"/>
                </a:solidFill>
                <a:latin typeface="Poppins" pitchFamily="34" charset="0"/>
                <a:ea typeface="Poppins" pitchFamily="34" charset="-122"/>
                <a:cs typeface="Poppins"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31F44"/>
        </a:solidFill>
        <a:effectLst/>
      </p:bgPr>
    </p:bg>
    <p:spTree>
      <p:nvGrpSpPr>
        <p:cNvPr id="1" name=""/>
        <p:cNvGrpSpPr/>
        <p:nvPr/>
      </p:nvGrpSpPr>
      <p:grpSpPr>
        <a:xfrm>
          <a:off x="0" y="0"/>
          <a:ext cx="0" cy="0"/>
          <a:chOff x="0" y="0"/>
          <a:chExt cx="0" cy="0"/>
        </a:xfrm>
      </p:grpSpPr>
      <p:sp>
        <p:nvSpPr>
          <p:cNvPr id="2" name="Shape 0"/>
          <p:cNvSpPr/>
          <p:nvPr/>
        </p:nvSpPr>
        <p:spPr>
          <a:xfrm>
            <a:off x="5641848" y="1920240"/>
            <a:ext cx="914400" cy="914400"/>
          </a:xfrm>
          <a:prstGeom prst="roundRect">
            <a:avLst>
              <a:gd name="adj" fmla="val 22000"/>
            </a:avLst>
          </a:prstGeom>
          <a:solidFill>
            <a:srgbClr val="6C5CE7"/>
          </a:solidFill>
          <a:ln/>
        </p:spPr>
        <p:txBody>
          <a:bodyPr/>
          <a:lstStyle/>
          <a:p>
            <a:endParaRPr lang="en-US"/>
          </a:p>
        </p:txBody>
      </p:sp>
      <p:pic>
        <p:nvPicPr>
          <p:cNvPr id="3" name="Image 0" descr="/home/claude/work/icons/Rocket_white.png"/>
          <p:cNvPicPr>
            <a:picLocks noChangeAspect="1"/>
          </p:cNvPicPr>
          <p:nvPr/>
        </p:nvPicPr>
        <p:blipFill>
          <a:blip r:embed="rId3"/>
          <a:stretch>
            <a:fillRect/>
          </a:stretch>
        </p:blipFill>
        <p:spPr>
          <a:xfrm>
            <a:off x="5852160" y="2130552"/>
            <a:ext cx="493776" cy="493776"/>
          </a:xfrm>
          <a:prstGeom prst="rect">
            <a:avLst/>
          </a:prstGeom>
        </p:spPr>
      </p:pic>
      <p:sp>
        <p:nvSpPr>
          <p:cNvPr id="4" name="Text 1"/>
          <p:cNvSpPr/>
          <p:nvPr/>
        </p:nvSpPr>
        <p:spPr>
          <a:xfrm>
            <a:off x="914400" y="3108960"/>
            <a:ext cx="10360152" cy="731520"/>
          </a:xfrm>
          <a:prstGeom prst="rect">
            <a:avLst/>
          </a:prstGeom>
          <a:noFill/>
          <a:ln/>
        </p:spPr>
        <p:txBody>
          <a:bodyPr wrap="square" lIns="0" tIns="0" rIns="0" bIns="0" rtlCol="0" anchor="ctr"/>
          <a:lstStyle/>
          <a:p>
            <a:pPr marL="0" indent="0" algn="ctr">
              <a:buNone/>
            </a:pPr>
            <a:r>
              <a:rPr lang="en-US" sz="3200" b="1" dirty="0">
                <a:solidFill>
                  <a:srgbClr val="FFFFFF"/>
                </a:solidFill>
                <a:latin typeface="Lora" pitchFamily="34" charset="0"/>
                <a:ea typeface="Lora" pitchFamily="34" charset="-122"/>
                <a:cs typeface="Lora" pitchFamily="34" charset="-120"/>
              </a:rPr>
              <a:t>Good Luck &amp; Happy Learning</a:t>
            </a:r>
            <a:endParaRPr lang="en-US" sz="3200" dirty="0"/>
          </a:p>
        </p:txBody>
      </p:sp>
      <p:sp>
        <p:nvSpPr>
          <p:cNvPr id="5" name="Text 2"/>
          <p:cNvSpPr/>
          <p:nvPr/>
        </p:nvSpPr>
        <p:spPr>
          <a:xfrm>
            <a:off x="914400" y="3886200"/>
            <a:ext cx="10360152" cy="457200"/>
          </a:xfrm>
          <a:prstGeom prst="rect">
            <a:avLst/>
          </a:prstGeom>
          <a:noFill/>
          <a:ln/>
        </p:spPr>
        <p:txBody>
          <a:bodyPr wrap="square" lIns="0" tIns="0" rIns="0" bIns="0" rtlCol="0" anchor="ctr"/>
          <a:lstStyle/>
          <a:p>
            <a:pPr marL="0" indent="0" algn="ctr">
              <a:buNone/>
            </a:pPr>
            <a:r>
              <a:rPr lang="en-US" sz="1600" dirty="0">
                <a:solidFill>
                  <a:srgbClr val="C9C6E6"/>
                </a:solidFill>
                <a:latin typeface="Poppins" pitchFamily="34" charset="0"/>
                <a:ea typeface="Poppins" pitchFamily="34" charset="-122"/>
                <a:cs typeface="Poppins" pitchFamily="34" charset="-120"/>
              </a:rPr>
              <a:t>Train Smarter Models. Build Better AI.</a:t>
            </a:r>
            <a:endParaRPr lang="en-US" sz="1600" dirty="0"/>
          </a:p>
        </p:txBody>
      </p:sp>
      <p:sp>
        <p:nvSpPr>
          <p:cNvPr id="6" name="Text 3"/>
          <p:cNvSpPr/>
          <p:nvPr/>
        </p:nvSpPr>
        <p:spPr>
          <a:xfrm>
            <a:off x="914400" y="6263640"/>
            <a:ext cx="10360152" cy="320040"/>
          </a:xfrm>
          <a:prstGeom prst="rect">
            <a:avLst/>
          </a:prstGeom>
          <a:noFill/>
          <a:ln/>
        </p:spPr>
        <p:txBody>
          <a:bodyPr wrap="square" lIns="0" tIns="0" rIns="0" bIns="0" rtlCol="0" anchor="ctr"/>
          <a:lstStyle/>
          <a:p>
            <a:pPr marL="0" indent="0" algn="ctr">
              <a:buNone/>
            </a:pPr>
            <a:r>
              <a:rPr lang="en-US" sz="1050" dirty="0">
                <a:solidFill>
                  <a:srgbClr val="B9B6D6"/>
                </a:solidFill>
                <a:latin typeface="Poppins" pitchFamily="34" charset="0"/>
                <a:ea typeface="Poppins" pitchFamily="34" charset="-122"/>
                <a:cs typeface="Poppins" pitchFamily="34" charset="-120"/>
              </a:rPr>
              <a:t>TechMaster Academy  ·  Phase 03 / Project 03  ·  techmasterr.official@gmail.com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2679</Words>
  <Application>Microsoft Office PowerPoint</Application>
  <PresentationFormat>Widescreen</PresentationFormat>
  <Paragraphs>341</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Lora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MUC - Faculty of Engineering - Al-Hassan Mohamed Afify Abd Al-Hamid</cp:lastModifiedBy>
  <cp:revision>2</cp:revision>
  <dcterms:created xsi:type="dcterms:W3CDTF">2026-07-31T20:54:01Z</dcterms:created>
  <dcterms:modified xsi:type="dcterms:W3CDTF">2026-08-01T13:11:33Z</dcterms:modified>
</cp:coreProperties>
</file>